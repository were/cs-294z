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79" r:id="rId3"/>
    <p:sldId id="280" r:id="rId4"/>
    <p:sldId id="284" r:id="rId5"/>
    <p:sldId id="310" r:id="rId6"/>
    <p:sldId id="286" r:id="rId7"/>
    <p:sldId id="305" r:id="rId8"/>
    <p:sldId id="287" r:id="rId9"/>
    <p:sldId id="288" r:id="rId10"/>
    <p:sldId id="306" r:id="rId11"/>
    <p:sldId id="307" r:id="rId12"/>
    <p:sldId id="290" r:id="rId13"/>
    <p:sldId id="308" r:id="rId14"/>
    <p:sldId id="309" r:id="rId15"/>
    <p:sldId id="291" r:id="rId16"/>
    <p:sldId id="292" r:id="rId17"/>
    <p:sldId id="324" r:id="rId18"/>
    <p:sldId id="325" r:id="rId19"/>
    <p:sldId id="300" r:id="rId20"/>
    <p:sldId id="349" r:id="rId21"/>
    <p:sldId id="347" r:id="rId22"/>
    <p:sldId id="348" r:id="rId23"/>
    <p:sldId id="293" r:id="rId24"/>
    <p:sldId id="294" r:id="rId25"/>
    <p:sldId id="296" r:id="rId26"/>
    <p:sldId id="320" r:id="rId27"/>
    <p:sldId id="321" r:id="rId28"/>
    <p:sldId id="297" r:id="rId29"/>
    <p:sldId id="299" r:id="rId30"/>
    <p:sldId id="301" r:id="rId31"/>
    <p:sldId id="302" r:id="rId32"/>
    <p:sldId id="303" r:id="rId33"/>
    <p:sldId id="285" r:id="rId34"/>
    <p:sldId id="283" r:id="rId35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84384"/>
  </p:normalViewPr>
  <p:slideViewPr>
    <p:cSldViewPr snapToGrid="0">
      <p:cViewPr varScale="1">
        <p:scale>
          <a:sx n="106" d="100"/>
          <a:sy n="106" d="100"/>
        </p:scale>
        <p:origin x="19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健 翁" userId="bedff36119963aae" providerId="LiveId" clId="{27ED6732-6F8F-5AFA-AF64-6D088C0F8B0A}"/>
    <pc:docChg chg="undo custSel delSld modSld">
      <pc:chgData name="健 翁" userId="bedff36119963aae" providerId="LiveId" clId="{27ED6732-6F8F-5AFA-AF64-6D088C0F8B0A}" dt="2026-02-08T13:16:10.724" v="50" actId="2696"/>
      <pc:docMkLst>
        <pc:docMk/>
      </pc:docMkLst>
      <pc:sldChg chg="del">
        <pc:chgData name="健 翁" userId="bedff36119963aae" providerId="LiveId" clId="{27ED6732-6F8F-5AFA-AF64-6D088C0F8B0A}" dt="2026-02-08T13:16:10.724" v="50" actId="2696"/>
        <pc:sldMkLst>
          <pc:docMk/>
          <pc:sldMk cId="1789390656" sldId="281"/>
        </pc:sldMkLst>
      </pc:sldChg>
      <pc:sldChg chg="del">
        <pc:chgData name="健 翁" userId="bedff36119963aae" providerId="LiveId" clId="{27ED6732-6F8F-5AFA-AF64-6D088C0F8B0A}" dt="2026-02-08T13:16:10.456" v="49" actId="2696"/>
        <pc:sldMkLst>
          <pc:docMk/>
          <pc:sldMk cId="1065819061" sldId="298"/>
        </pc:sldMkLst>
      </pc:sldChg>
      <pc:sldChg chg="del">
        <pc:chgData name="健 翁" userId="bedff36119963aae" providerId="LiveId" clId="{27ED6732-6F8F-5AFA-AF64-6D088C0F8B0A}" dt="2026-02-08T13:16:07.034" v="38" actId="2696"/>
        <pc:sldMkLst>
          <pc:docMk/>
          <pc:sldMk cId="82117550" sldId="304"/>
        </pc:sldMkLst>
      </pc:sldChg>
      <pc:sldChg chg="del">
        <pc:chgData name="健 翁" userId="bedff36119963aae" providerId="LiveId" clId="{27ED6732-6F8F-5AFA-AF64-6D088C0F8B0A}" dt="2026-02-08T13:16:10.119" v="48" actId="2696"/>
        <pc:sldMkLst>
          <pc:docMk/>
          <pc:sldMk cId="3237599614" sldId="322"/>
        </pc:sldMkLst>
      </pc:sldChg>
      <pc:sldChg chg="del">
        <pc:chgData name="健 翁" userId="bedff36119963aae" providerId="LiveId" clId="{27ED6732-6F8F-5AFA-AF64-6D088C0F8B0A}" dt="2026-02-08T13:16:09.849" v="47" actId="2696"/>
        <pc:sldMkLst>
          <pc:docMk/>
          <pc:sldMk cId="2686262393" sldId="323"/>
        </pc:sldMkLst>
      </pc:sldChg>
      <pc:sldChg chg="del">
        <pc:chgData name="健 翁" userId="bedff36119963aae" providerId="LiveId" clId="{27ED6732-6F8F-5AFA-AF64-6D088C0F8B0A}" dt="2026-02-08T13:16:07.669" v="39" actId="2696"/>
        <pc:sldMkLst>
          <pc:docMk/>
          <pc:sldMk cId="1117928642" sldId="326"/>
        </pc:sldMkLst>
      </pc:sldChg>
      <pc:sldChg chg="del">
        <pc:chgData name="健 翁" userId="bedff36119963aae" providerId="LiveId" clId="{27ED6732-6F8F-5AFA-AF64-6D088C0F8B0A}" dt="2026-02-08T13:16:08.595" v="42" actId="2696"/>
        <pc:sldMkLst>
          <pc:docMk/>
          <pc:sldMk cId="2375442237" sldId="327"/>
        </pc:sldMkLst>
      </pc:sldChg>
      <pc:sldChg chg="del">
        <pc:chgData name="健 翁" userId="bedff36119963aae" providerId="LiveId" clId="{27ED6732-6F8F-5AFA-AF64-6D088C0F8B0A}" dt="2026-02-08T13:16:08.049" v="40" actId="2696"/>
        <pc:sldMkLst>
          <pc:docMk/>
          <pc:sldMk cId="2117885278" sldId="328"/>
        </pc:sldMkLst>
      </pc:sldChg>
      <pc:sldChg chg="del">
        <pc:chgData name="健 翁" userId="bedff36119963aae" providerId="LiveId" clId="{27ED6732-6F8F-5AFA-AF64-6D088C0F8B0A}" dt="2026-02-08T13:16:08.373" v="41" actId="2696"/>
        <pc:sldMkLst>
          <pc:docMk/>
          <pc:sldMk cId="1464546415" sldId="329"/>
        </pc:sldMkLst>
      </pc:sldChg>
      <pc:sldChg chg="del">
        <pc:chgData name="健 翁" userId="bedff36119963aae" providerId="LiveId" clId="{27ED6732-6F8F-5AFA-AF64-6D088C0F8B0A}" dt="2026-02-08T13:16:08.805" v="43" actId="2696"/>
        <pc:sldMkLst>
          <pc:docMk/>
          <pc:sldMk cId="879225925" sldId="330"/>
        </pc:sldMkLst>
      </pc:sldChg>
      <pc:sldChg chg="del">
        <pc:chgData name="健 翁" userId="bedff36119963aae" providerId="LiveId" clId="{27ED6732-6F8F-5AFA-AF64-6D088C0F8B0A}" dt="2026-02-08T13:16:09.008" v="44" actId="2696"/>
        <pc:sldMkLst>
          <pc:docMk/>
          <pc:sldMk cId="2432179574" sldId="344"/>
        </pc:sldMkLst>
      </pc:sldChg>
      <pc:sldChg chg="del">
        <pc:chgData name="健 翁" userId="bedff36119963aae" providerId="LiveId" clId="{27ED6732-6F8F-5AFA-AF64-6D088C0F8B0A}" dt="2026-02-08T13:16:09.274" v="45" actId="2696"/>
        <pc:sldMkLst>
          <pc:docMk/>
          <pc:sldMk cId="762389586" sldId="345"/>
        </pc:sldMkLst>
      </pc:sldChg>
      <pc:sldChg chg="del">
        <pc:chgData name="健 翁" userId="bedff36119963aae" providerId="LiveId" clId="{27ED6732-6F8F-5AFA-AF64-6D088C0F8B0A}" dt="2026-02-08T13:16:09.546" v="46" actId="2696"/>
        <pc:sldMkLst>
          <pc:docMk/>
          <pc:sldMk cId="1311195133" sldId="34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7F3D23-339C-D640-B5A8-EB8D97B58FB0}" type="datetimeFigureOut">
              <a:rPr lang="en-CN" smtClean="0"/>
              <a:t>2026/2/9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693A3-C0E7-7E4C-8380-0FEBFDB6F11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3300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93A3-C0E7-7E4C-8380-0FEBFDB6F117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00641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93A3-C0E7-7E4C-8380-0FEBFDB6F117}" type="slidenum">
              <a:rPr lang="en-CN" smtClean="0"/>
              <a:t>24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58517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55DDC-5D26-936E-C280-353C6F5B9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E206E-A33C-C039-A837-D26843000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82BF8-E14B-0437-7694-452D93D9C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   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216E8-E967-04B8-D769-E5F60E119E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93A3-C0E7-7E4C-8380-0FEBFDB6F117}" type="slidenum">
              <a:rPr lang="en-CN" smtClean="0"/>
              <a:t>25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91540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3493D-F485-B0B9-E37D-BDD2A36D8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DF2010-399D-5015-82D6-EB3EEF4378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6434F-F116-9B2E-D4E8-49AF0654B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647A9-046D-7B77-8A98-AC418447C9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93A3-C0E7-7E4C-8380-0FEBFDB6F117}" type="slidenum">
              <a:rPr lang="en-CN" smtClean="0"/>
              <a:t>28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10793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B0527-0AB1-6FD3-01C4-AEA70947AF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E0A8F8-16A9-E449-B9F5-C628896CD7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93241-F87B-5064-19E2-35F447D07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D48F7-649C-AB48-9AB8-1FDD9226631F}" type="datetime1">
              <a:rPr lang="en-US" smtClean="0"/>
              <a:t>2/9/26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8319F-2078-5048-A2B2-0E03DCFC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DABC3-2684-DE81-E1C9-6E361462A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88371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24359-285B-6A9B-9E6C-C53E771A9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7F8FE-8C12-A18E-E324-A1CC8E8DE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F8436-41F9-CC29-9621-C7C753E89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F3092-7FAC-834C-A8AA-5A3530E11949}" type="datetime1">
              <a:rPr lang="en-US" smtClean="0"/>
              <a:t>2/9/26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49B2D-B5C1-5FE5-4EE1-236831139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8B6F1-A8EE-6819-13A6-9CED11A07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09731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4CEAF-5E15-76E6-68A1-5259ED318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BEC56-86A6-44D3-F7E8-369C7A5AD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6BFF9-015A-9B86-6EC7-CB5ECB20D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CC433-F9FF-0345-8019-E4497C845352}" type="datetime1">
              <a:rPr lang="en-US" smtClean="0"/>
              <a:t>2/9/26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3BA4A-E94D-63F4-D69E-400E3A2A4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1CFBD-123C-058B-5693-E35CE4EEC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73447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1042-16A0-244C-46E9-0D59B78B8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936EC-3DF2-6E76-3309-DDA14AAA92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11567F-3C2C-6CBD-14AF-039E6FDC8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64D9A-F8B7-DBE8-36D8-F32B96DB6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5D366-FFFA-B147-9258-4861719053FB}" type="datetime1">
              <a:rPr lang="en-US" smtClean="0"/>
              <a:t>2/9/26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DFE50-03DE-C28D-0871-B701ED0EF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B2954-AB1D-3539-89CD-566EBCDEA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2561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C59FD-5D84-55F8-1B28-B9A51E581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EFA2F-ABC2-6409-81E3-BE0011453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6D76F2-089D-81FF-F167-BCFF181C2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3E177A-A63B-E588-2089-9026CEE0DB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E14E71-A4E0-7EA6-895E-F34E6F602A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C6A34C-BD95-2AE7-AC16-5531D37B1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ADE0D-5B8D-DB40-895D-E5FCE0886E8D}" type="datetime1">
              <a:rPr lang="en-US" smtClean="0"/>
              <a:t>2/9/26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9C0AC2-3FDD-F347-DE17-088D8AB3D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2313BC-2780-B485-E3F7-3FC9C7753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10728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D1D45-6CAE-85D9-DBFB-B409D31B5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F694D7-BFF1-5E96-35F4-376A4572D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B82DC-BD87-6B4A-98BA-A7971197314C}" type="datetime1">
              <a:rPr lang="en-US" smtClean="0"/>
              <a:t>2/9/26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B65F70-EE21-59BF-0AB8-94DC38D2C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6DE52-03CD-99BB-E72A-E835C7714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8753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BF44AC-51C6-E0D5-9BB9-A0F0D0F1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4C311-90C3-E449-8FEE-551400CE0A48}" type="datetime1">
              <a:rPr lang="en-US" smtClean="0"/>
              <a:t>2/9/26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A5B6B-3A65-2837-F2F6-D1AA9244A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1ED80-88E9-12CE-0DB4-84BA9BFD8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25635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6E50-45BF-CBBE-CD5A-26FDDEE8F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B060E-6818-95D5-4C9B-8C52F0E84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45480-7A4D-CF80-E859-8D1031184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77817-D4E9-6EB0-CAD0-0BF3203F3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6AB97-DC85-3744-9873-6A037013963D}" type="datetime1">
              <a:rPr lang="en-US" smtClean="0"/>
              <a:t>2/9/26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F38B7-884A-4842-289D-A6B5E1F68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A1E57-CB15-EE5A-12BD-F9EE02DD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09242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96872-C52B-4E6F-653D-17A66F32F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544078-A746-842E-509A-86B8C4C25A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BBBCA-1DBC-63CB-E6CD-2574FBDD6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B6C33-3978-6B5E-54B0-3C3CC52FE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A50D-0F51-7841-A4F4-9895D83F09C3}" type="datetime1">
              <a:rPr lang="en-US" smtClean="0"/>
              <a:t>2/9/26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77A50-0DC7-CF3E-A7AB-A31D99E5A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2BD88-5012-8D34-F9F2-A9F982FF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87013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03DD4-F860-8677-0AC8-A0D7DB1A9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62869A-5862-FF51-5312-1DC44F219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218FD-5790-7FFF-6076-70ADE47F9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6DB72-6217-2B48-8539-C13FF9AF95E7}" type="datetime1">
              <a:rPr lang="en-US" smtClean="0"/>
              <a:t>2/9/26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F19B-1F05-48C8-1952-7E17AD15D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AF63F-79B2-09AA-F4D8-884173127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84271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B96547-D96A-F7E9-85AE-77755F8094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55F6F5-4F5B-88CC-0CDF-3C2D2816A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A6939-758D-20FA-F705-6F74395DE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6DBAF-1040-F14A-9B4F-23289B8025D6}" type="datetime1">
              <a:rPr lang="en-US" smtClean="0"/>
              <a:t>2/9/26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77995-A8A6-FBE8-EC1A-5F9DB896E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B8961-45F4-8101-01A5-EA27142DF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33970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A9F077-570B-6C0E-07A4-B3C938E35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1BA811-2DB2-E042-DC88-F734662D8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B2EDD-FC0B-6EAF-2988-2C47B77446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17020A-B5E0-834B-AC42-C0E35E846C1C}" type="datetime1">
              <a:rPr lang="en-US" smtClean="0"/>
              <a:t>2/9/26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8DCFD-6C39-A8BA-B2D2-413B93994E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86495-3AC1-8D24-AF30-A7813EEC4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DAE40957-62BF-4542-96BE-69EFFC00C212}" type="slidenum">
              <a:rPr lang="en-CN" smtClean="0"/>
              <a:pPr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2001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LL_hel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F2347-E3F6-CFCC-5A12-7103783493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413" y="607884"/>
            <a:ext cx="10599174" cy="1792149"/>
          </a:xfrm>
        </p:spPr>
        <p:txBody>
          <a:bodyPr>
            <a:normAutofit/>
          </a:bodyPr>
          <a:lstStyle/>
          <a:p>
            <a:r>
              <a:rPr lang="en-CN" altLang="zh-CN" sz="6400" dirty="0"/>
              <a:t>A</a:t>
            </a:r>
            <a:r>
              <a:rPr lang="en-US" altLang="zh-CN" sz="6400" dirty="0"/>
              <a:t>n</a:t>
            </a:r>
            <a:r>
              <a:rPr lang="zh-CN" altLang="en-US" sz="6400" dirty="0"/>
              <a:t> </a:t>
            </a:r>
            <a:r>
              <a:rPr lang="en-US" altLang="zh-CN" sz="6400" dirty="0"/>
              <a:t>Intro</a:t>
            </a:r>
            <a:r>
              <a:rPr lang="zh-CN" altLang="en-US" sz="6400" dirty="0"/>
              <a:t> </a:t>
            </a:r>
            <a:r>
              <a:rPr lang="en-US" altLang="zh-CN" sz="6400" dirty="0"/>
              <a:t>to</a:t>
            </a:r>
            <a:r>
              <a:rPr lang="zh-CN" altLang="en-US" sz="6400" dirty="0"/>
              <a:t> </a:t>
            </a:r>
            <a:r>
              <a:rPr lang="en-US" altLang="zh-CN" sz="6400" dirty="0"/>
              <a:t>Computer</a:t>
            </a:r>
            <a:r>
              <a:rPr lang="zh-CN" altLang="en-US" sz="6400" dirty="0"/>
              <a:t> </a:t>
            </a:r>
            <a:r>
              <a:rPr lang="en-US" altLang="zh-CN" sz="6400" dirty="0"/>
              <a:t>System</a:t>
            </a:r>
            <a:endParaRPr lang="en-CN" sz="6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F74E28-D220-4064-CDD0-A71939DF4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215360"/>
            <a:ext cx="9144000" cy="1792149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Jian</a:t>
            </a:r>
            <a:r>
              <a:rPr lang="zh-CN" altLang="en-US" sz="3200" dirty="0"/>
              <a:t> </a:t>
            </a:r>
            <a:r>
              <a:rPr lang="en-US" altLang="zh-CN" sz="3200" dirty="0"/>
              <a:t>Weng</a:t>
            </a:r>
          </a:p>
          <a:p>
            <a:r>
              <a:rPr lang="en-US" altLang="zh-CN" sz="3200" dirty="0"/>
              <a:t>Computer</a:t>
            </a:r>
            <a:r>
              <a:rPr lang="zh-CN" altLang="en-US" sz="3200" dirty="0"/>
              <a:t> </a:t>
            </a:r>
            <a:r>
              <a:rPr lang="en-US" altLang="zh-CN" sz="3200" dirty="0"/>
              <a:t>Science</a:t>
            </a:r>
          </a:p>
          <a:p>
            <a:r>
              <a:rPr lang="en-US" altLang="zh-CN" sz="3200" dirty="0"/>
              <a:t>CEMSE,</a:t>
            </a:r>
            <a:r>
              <a:rPr lang="zh-CN" altLang="en-US" sz="3200" dirty="0"/>
              <a:t> </a:t>
            </a:r>
            <a:r>
              <a:rPr lang="en-US" altLang="zh-CN" sz="3200" dirty="0"/>
              <a:t>KAUST</a:t>
            </a:r>
            <a:endParaRPr lang="en-C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02F3AF-CF59-805E-7400-E939F549474B}"/>
              </a:ext>
            </a:extLst>
          </p:cNvPr>
          <p:cNvSpPr txBox="1"/>
          <p:nvPr/>
        </p:nvSpPr>
        <p:spPr>
          <a:xfrm>
            <a:off x="2769717" y="2522866"/>
            <a:ext cx="66525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/>
              <a:t>W3D1:</a:t>
            </a:r>
            <a:r>
              <a:rPr lang="zh-CN" altLang="en-US" sz="4800" dirty="0"/>
              <a:t> </a:t>
            </a:r>
            <a:r>
              <a:rPr lang="en-US" altLang="zh-CN" sz="4800" dirty="0"/>
              <a:t>A</a:t>
            </a:r>
            <a:r>
              <a:rPr lang="zh-CN" altLang="en-US" sz="4800" dirty="0"/>
              <a:t> </a:t>
            </a:r>
            <a:r>
              <a:rPr lang="en-US" altLang="zh-CN" sz="4800" dirty="0"/>
              <a:t>Deeper</a:t>
            </a:r>
            <a:r>
              <a:rPr lang="zh-CN" altLang="en-US" sz="4800" dirty="0"/>
              <a:t> </a:t>
            </a:r>
            <a:r>
              <a:rPr lang="en-US" altLang="zh-CN" sz="4800" dirty="0"/>
              <a:t>Tour</a:t>
            </a:r>
            <a:r>
              <a:rPr lang="zh-CN" altLang="en-US" sz="4800" dirty="0"/>
              <a:t> </a:t>
            </a:r>
            <a:r>
              <a:rPr lang="en-US" altLang="zh-CN" sz="4800" dirty="0"/>
              <a:t>to</a:t>
            </a:r>
            <a:r>
              <a:rPr lang="zh-CN" altLang="en-US" sz="4800" dirty="0"/>
              <a:t> </a:t>
            </a:r>
            <a:r>
              <a:rPr lang="en-US" altLang="zh-CN" sz="4800" dirty="0"/>
              <a:t>C/C++</a:t>
            </a:r>
            <a:r>
              <a:rPr lang="zh-CN" altLang="en-US" sz="4800" dirty="0"/>
              <a:t> </a:t>
            </a:r>
            <a:r>
              <a:rPr lang="en-US" altLang="zh-CN" sz="4800" dirty="0"/>
              <a:t>Language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85DF1-5BFA-EB71-5739-E85C96F38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83929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8EB4A-9080-8CDB-E718-0D36411E8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6000" dirty="0"/>
              <a:t>R</a:t>
            </a:r>
            <a:r>
              <a:rPr lang="en-US" altLang="zh-CN" sz="6000" dirty="0" err="1"/>
              <a:t>oadmap</a:t>
            </a:r>
            <a:endParaRPr lang="en-C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1C0F3-1951-E1DE-9132-76E7EC43A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b="1" dirty="0"/>
              <a:t>How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much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do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you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know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C?</a:t>
            </a:r>
          </a:p>
          <a:p>
            <a:pPr lvl="1"/>
            <a:r>
              <a:rPr lang="en-US" altLang="zh-CN" sz="3200" b="1" dirty="0"/>
              <a:t>Memory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layouts</a:t>
            </a:r>
          </a:p>
          <a:p>
            <a:pPr lvl="1"/>
            <a:r>
              <a:rPr lang="en-US" altLang="zh-CN" sz="3200" b="1" dirty="0"/>
              <a:t>Toolchains</a:t>
            </a:r>
          </a:p>
          <a:p>
            <a:pPr lvl="1"/>
            <a:r>
              <a:rPr lang="en-US" altLang="zh-CN" sz="3200" b="1" dirty="0"/>
              <a:t>How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do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you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work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with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others?</a:t>
            </a:r>
          </a:p>
          <a:p>
            <a:r>
              <a:rPr lang="en-US" altLang="zh-CN" sz="3600" b="1" dirty="0"/>
              <a:t>What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are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the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differences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b/t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C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&amp;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C++?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4E106-BBE7-F8C4-8A16-5284F4AB7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BEF31F-6E9A-63FA-4990-0255969B8656}"/>
              </a:ext>
            </a:extLst>
          </p:cNvPr>
          <p:cNvSpPr txBox="1"/>
          <p:nvPr/>
        </p:nvSpPr>
        <p:spPr>
          <a:xfrm>
            <a:off x="12681284" y="53420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03214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9CECF-C17F-FC66-22F9-DD3982B42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Where</a:t>
            </a:r>
            <a:r>
              <a:rPr lang="zh-CN" altLang="en-US" sz="5400" dirty="0"/>
              <a:t> </a:t>
            </a:r>
            <a:r>
              <a:rPr lang="en-US" altLang="zh-CN" sz="5400" dirty="0"/>
              <a:t>did</a:t>
            </a:r>
            <a:r>
              <a:rPr lang="zh-CN" altLang="en-US" sz="5400" dirty="0"/>
              <a:t> </a:t>
            </a:r>
            <a:r>
              <a:rPr lang="en-US" altLang="zh-CN" sz="5400" dirty="0"/>
              <a:t>you</a:t>
            </a:r>
            <a:r>
              <a:rPr lang="zh-CN" altLang="en-US" sz="5400" dirty="0"/>
              <a:t> </a:t>
            </a:r>
            <a:r>
              <a:rPr lang="en-US" altLang="zh-CN" sz="5400" dirty="0"/>
              <a:t>get</a:t>
            </a:r>
            <a:r>
              <a:rPr lang="zh-CN" altLang="en-US" sz="5400" dirty="0"/>
              <a:t> </a:t>
            </a:r>
            <a:r>
              <a:rPr lang="en-US" altLang="zh-CN" sz="5400" dirty="0"/>
              <a:t>the</a:t>
            </a:r>
            <a:r>
              <a:rPr lang="zh-CN" altLang="en-US" sz="5400" dirty="0"/>
              <a:t> </a:t>
            </a:r>
            <a:r>
              <a:rPr lang="en-US" altLang="zh-CN" sz="5400" dirty="0"/>
              <a:t>C</a:t>
            </a:r>
            <a:r>
              <a:rPr lang="zh-CN" altLang="en-US" sz="5400" dirty="0"/>
              <a:t> </a:t>
            </a:r>
            <a:r>
              <a:rPr lang="en-US" altLang="zh-CN" sz="5400" dirty="0"/>
              <a:t>compiler?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1BD0B-1725-BEA8-3008-A6145FBA9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4061608"/>
          </a:xfrm>
        </p:spPr>
        <p:txBody>
          <a:bodyPr>
            <a:normAutofit/>
          </a:bodyPr>
          <a:lstStyle/>
          <a:p>
            <a:r>
              <a:rPr lang="en-CN" sz="3600" dirty="0"/>
              <a:t>Q</a:t>
            </a:r>
            <a:r>
              <a:rPr lang="en-US" altLang="zh-CN" sz="3600" dirty="0" err="1"/>
              <a:t>uick</a:t>
            </a:r>
            <a:r>
              <a:rPr lang="zh-CN" altLang="en-US" sz="3600" dirty="0"/>
              <a:t> </a:t>
            </a:r>
            <a:r>
              <a:rPr lang="en-US" altLang="zh-CN" sz="3600" dirty="0"/>
              <a:t>question:</a:t>
            </a:r>
            <a:r>
              <a:rPr lang="zh-CN" altLang="en-US" sz="3600" dirty="0"/>
              <a:t> </a:t>
            </a:r>
            <a:r>
              <a:rPr lang="en-US" altLang="zh-CN" sz="3600" dirty="0"/>
              <a:t>Where</a:t>
            </a:r>
            <a:r>
              <a:rPr lang="zh-CN" altLang="en-US" sz="3600" dirty="0"/>
              <a:t> </a:t>
            </a:r>
            <a:r>
              <a:rPr lang="en-US" altLang="zh-CN" sz="3600" dirty="0"/>
              <a:t>did</a:t>
            </a:r>
            <a:r>
              <a:rPr lang="zh-CN" altLang="en-US" sz="3600" dirty="0"/>
              <a:t> </a:t>
            </a:r>
            <a:r>
              <a:rPr lang="en-US" altLang="zh-CN" sz="3600" dirty="0"/>
              <a:t>you</a:t>
            </a:r>
            <a:r>
              <a:rPr lang="zh-CN" altLang="en-US" sz="3600" dirty="0"/>
              <a:t> </a:t>
            </a:r>
            <a:r>
              <a:rPr lang="en-US" altLang="zh-CN" sz="3600" dirty="0"/>
              <a:t>get</a:t>
            </a:r>
            <a:r>
              <a:rPr lang="zh-CN" altLang="en-US" sz="3600" dirty="0"/>
              <a:t> </a:t>
            </a:r>
            <a:r>
              <a:rPr lang="en-US" altLang="zh-CN" sz="3600" dirty="0"/>
              <a:t>`</a:t>
            </a:r>
            <a:r>
              <a:rPr lang="en-US" altLang="zh-CN" sz="3600" dirty="0" err="1"/>
              <a:t>gcc</a:t>
            </a:r>
            <a:r>
              <a:rPr lang="en-US" altLang="zh-CN" sz="3600" dirty="0"/>
              <a:t>`,</a:t>
            </a:r>
            <a:r>
              <a:rPr lang="zh-CN" altLang="en-US" sz="3600" dirty="0"/>
              <a:t> </a:t>
            </a:r>
            <a:r>
              <a:rPr lang="en-US" altLang="zh-CN" sz="3600" dirty="0"/>
              <a:t>assuming</a:t>
            </a:r>
            <a:r>
              <a:rPr lang="zh-CN" altLang="en-US" sz="3600" dirty="0"/>
              <a:t> </a:t>
            </a:r>
            <a:r>
              <a:rPr lang="en-US" altLang="zh-CN" sz="3600" dirty="0"/>
              <a:t>you</a:t>
            </a:r>
            <a:r>
              <a:rPr lang="zh-CN" altLang="en-US" sz="3600" dirty="0"/>
              <a:t> </a:t>
            </a:r>
            <a:r>
              <a:rPr lang="en-US" altLang="zh-CN" sz="3600" dirty="0"/>
              <a:t>are</a:t>
            </a:r>
            <a:r>
              <a:rPr lang="zh-CN" altLang="en-US" sz="3600" dirty="0"/>
              <a:t> </a:t>
            </a:r>
            <a:r>
              <a:rPr lang="en-US" altLang="zh-CN" sz="3600" dirty="0"/>
              <a:t>using</a:t>
            </a:r>
            <a:r>
              <a:rPr lang="zh-CN" altLang="en-US" sz="3600" dirty="0"/>
              <a:t> </a:t>
            </a:r>
            <a:r>
              <a:rPr lang="en-US" altLang="zh-CN" sz="3600" dirty="0"/>
              <a:t>Ubuntu?</a:t>
            </a:r>
          </a:p>
          <a:p>
            <a:endParaRPr lang="en-US" sz="3600" dirty="0"/>
          </a:p>
          <a:p>
            <a:pPr marL="0" indent="0">
              <a:buNone/>
            </a:pPr>
            <a:endParaRPr lang="en-US" sz="3600" dirty="0"/>
          </a:p>
          <a:p>
            <a:r>
              <a:rPr lang="en-US" altLang="zh-CN" sz="3600" dirty="0"/>
              <a:t>OK.</a:t>
            </a:r>
            <a:r>
              <a:rPr lang="zh-CN" altLang="en-US" sz="3600" dirty="0"/>
              <a:t> </a:t>
            </a:r>
            <a:r>
              <a:rPr lang="en-US" altLang="zh-CN" sz="3600" dirty="0"/>
              <a:t>Now</a:t>
            </a:r>
            <a:r>
              <a:rPr lang="zh-CN" altLang="en-US" sz="3600" dirty="0"/>
              <a:t> </a:t>
            </a:r>
            <a:r>
              <a:rPr lang="en-US" altLang="zh-CN" sz="3600" dirty="0"/>
              <a:t>you</a:t>
            </a:r>
            <a:r>
              <a:rPr lang="zh-CN" altLang="en-US" sz="3600" dirty="0"/>
              <a:t> </a:t>
            </a:r>
            <a:r>
              <a:rPr lang="en-US" altLang="zh-CN" sz="3600" dirty="0"/>
              <a:t>have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compiler.</a:t>
            </a:r>
          </a:p>
          <a:p>
            <a:r>
              <a:rPr lang="en-US" altLang="zh-CN" sz="3600" dirty="0"/>
              <a:t>Let’s</a:t>
            </a:r>
            <a:r>
              <a:rPr lang="zh-CN" altLang="en-US" sz="3600" dirty="0"/>
              <a:t> </a:t>
            </a:r>
            <a:r>
              <a:rPr lang="en-US" altLang="zh-CN" sz="3600" dirty="0"/>
              <a:t>write</a:t>
            </a:r>
            <a:r>
              <a:rPr lang="zh-CN" altLang="en-US" sz="3600" dirty="0"/>
              <a:t> </a:t>
            </a:r>
            <a:r>
              <a:rPr lang="en-US" altLang="zh-CN" sz="3600" dirty="0"/>
              <a:t>some</a:t>
            </a:r>
            <a:r>
              <a:rPr lang="zh-CN" altLang="en-US" sz="3600" dirty="0"/>
              <a:t> </a:t>
            </a:r>
            <a:r>
              <a:rPr lang="en-US" altLang="zh-CN" sz="3600" dirty="0"/>
              <a:t>C</a:t>
            </a:r>
            <a:r>
              <a:rPr lang="zh-CN" altLang="en-US" sz="3600" dirty="0"/>
              <a:t> </a:t>
            </a:r>
            <a:r>
              <a:rPr lang="en-US" altLang="zh-CN" sz="3600" dirty="0"/>
              <a:t>code.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4318F-FADB-4A18-6857-73EC26BA5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3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85685D-A94D-951F-D417-C631E75E5FF5}"/>
              </a:ext>
            </a:extLst>
          </p:cNvPr>
          <p:cNvSpPr txBox="1"/>
          <p:nvPr/>
        </p:nvSpPr>
        <p:spPr>
          <a:xfrm>
            <a:off x="1672388" y="3014564"/>
            <a:ext cx="5615640" cy="10772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apt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</a:p>
          <a:p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apt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gcc</a:t>
            </a:r>
            <a:endParaRPr lang="en-US" altLang="zh-CN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27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8C5DB-5CF2-BC89-6B42-766CC5D5E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5400" dirty="0"/>
              <a:t>Arra</a:t>
            </a:r>
            <a:r>
              <a:rPr lang="en-US" altLang="zh-CN" sz="5400" dirty="0" err="1"/>
              <a:t>ys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B02DA-4159-2E3E-EE64-A492D24C5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are</a:t>
            </a:r>
            <a:r>
              <a:rPr lang="zh-CN" altLang="en-US" sz="3600" dirty="0"/>
              <a:t> </a:t>
            </a:r>
            <a:r>
              <a:rPr lang="en-US" altLang="zh-CN" sz="3600" dirty="0"/>
              <a:t>arrays?</a:t>
            </a:r>
          </a:p>
          <a:p>
            <a:endParaRPr lang="en-US" sz="3600" dirty="0"/>
          </a:p>
          <a:p>
            <a:endParaRPr lang="en-US" sz="3600" dirty="0"/>
          </a:p>
          <a:p>
            <a:r>
              <a:rPr lang="en-US" altLang="zh-CN" sz="3600" dirty="0"/>
              <a:t>Arrays</a:t>
            </a:r>
            <a:r>
              <a:rPr lang="zh-CN" altLang="en-US" sz="3600" dirty="0"/>
              <a:t> </a:t>
            </a:r>
            <a:r>
              <a:rPr lang="en-US" altLang="zh-CN" sz="3600" dirty="0"/>
              <a:t>are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range</a:t>
            </a:r>
            <a:r>
              <a:rPr lang="zh-CN" altLang="en-US" sz="3600" dirty="0"/>
              <a:t> </a:t>
            </a:r>
            <a:r>
              <a:rPr lang="en-US" altLang="zh-CN" sz="3600" dirty="0"/>
              <a:t>of</a:t>
            </a:r>
            <a:r>
              <a:rPr lang="zh-CN" altLang="en-US" sz="3600" dirty="0"/>
              <a:t> </a:t>
            </a:r>
            <a:r>
              <a:rPr lang="en-US" altLang="zh-CN" sz="3600" dirty="0"/>
              <a:t>continuous</a:t>
            </a:r>
            <a:r>
              <a:rPr lang="zh-CN" altLang="en-US" sz="3600" dirty="0"/>
              <a:t> </a:t>
            </a:r>
            <a:r>
              <a:rPr lang="en-US" altLang="zh-CN" sz="3600" dirty="0"/>
              <a:t>memory</a:t>
            </a:r>
            <a:r>
              <a:rPr lang="zh-CN" altLang="en-US" sz="3600" dirty="0"/>
              <a:t> </a:t>
            </a:r>
            <a:r>
              <a:rPr lang="en-US" altLang="zh-CN" sz="3600" dirty="0"/>
              <a:t>allocated</a:t>
            </a:r>
          </a:p>
          <a:p>
            <a:r>
              <a:rPr lang="en-US" altLang="zh-CN" sz="3600" dirty="0"/>
              <a:t>Dude,</a:t>
            </a:r>
            <a:r>
              <a:rPr lang="zh-CN" altLang="en-US" sz="3600" dirty="0"/>
              <a:t> </a:t>
            </a:r>
            <a:r>
              <a:rPr lang="en-US" altLang="zh-CN" sz="3600" dirty="0"/>
              <a:t>there</a:t>
            </a:r>
            <a:r>
              <a:rPr lang="zh-CN" altLang="en-US" sz="3600" dirty="0"/>
              <a:t> </a:t>
            </a:r>
            <a:r>
              <a:rPr lang="en-US" altLang="zh-CN" sz="3600" dirty="0"/>
              <a:t>are</a:t>
            </a:r>
            <a:r>
              <a:rPr lang="zh-CN" altLang="en-US" sz="3600" dirty="0"/>
              <a:t> </a:t>
            </a:r>
            <a:r>
              <a:rPr lang="en-US" altLang="zh-CN" sz="3600" dirty="0"/>
              <a:t>no</a:t>
            </a:r>
            <a:r>
              <a:rPr lang="zh-CN" altLang="en-US" sz="3600" dirty="0"/>
              <a:t> </a:t>
            </a:r>
            <a:r>
              <a:rPr lang="en-US" altLang="zh-CN" sz="3600" dirty="0"/>
              <a:t>higher-dimension</a:t>
            </a:r>
            <a:r>
              <a:rPr lang="zh-CN" altLang="en-US" sz="3600" dirty="0"/>
              <a:t> </a:t>
            </a:r>
            <a:r>
              <a:rPr lang="en-US" altLang="zh-CN" sz="3600" dirty="0"/>
              <a:t>arrays.</a:t>
            </a:r>
          </a:p>
          <a:p>
            <a:pPr lvl="1"/>
            <a:r>
              <a:rPr lang="en-US" altLang="zh-CN" sz="3200" dirty="0"/>
              <a:t>All</a:t>
            </a:r>
            <a:r>
              <a:rPr lang="zh-CN" altLang="en-US" sz="3200" dirty="0"/>
              <a:t> </a:t>
            </a: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/>
              <a:t>higher-dimension</a:t>
            </a:r>
            <a:r>
              <a:rPr lang="zh-CN" altLang="en-US" sz="3200" dirty="0"/>
              <a:t> </a:t>
            </a:r>
            <a:r>
              <a:rPr lang="en-US" altLang="zh-CN" sz="3200" dirty="0"/>
              <a:t>arrays</a:t>
            </a:r>
            <a:r>
              <a:rPr lang="zh-CN" altLang="en-US" sz="3200" dirty="0"/>
              <a:t> </a:t>
            </a:r>
            <a:r>
              <a:rPr lang="en-US" altLang="zh-CN" sz="3200" dirty="0"/>
              <a:t>are</a:t>
            </a:r>
            <a:r>
              <a:rPr lang="zh-CN" altLang="en-US" sz="3200" dirty="0"/>
              <a:t> </a:t>
            </a:r>
            <a:r>
              <a:rPr lang="en-US" altLang="zh-CN" sz="3200" dirty="0"/>
              <a:t>syntactical</a:t>
            </a:r>
            <a:r>
              <a:rPr lang="zh-CN" altLang="en-US" sz="3200" dirty="0"/>
              <a:t> </a:t>
            </a:r>
            <a:r>
              <a:rPr lang="en-US" altLang="zh-CN" sz="3200" dirty="0"/>
              <a:t>sugars</a:t>
            </a:r>
            <a:endParaRPr lang="en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1E145-45F2-95D7-4E53-94154B513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4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7A44E1-FCA8-94DA-93EB-ED4B931146EB}"/>
              </a:ext>
            </a:extLst>
          </p:cNvPr>
          <p:cNvSpPr txBox="1"/>
          <p:nvPr/>
        </p:nvSpPr>
        <p:spPr>
          <a:xfrm>
            <a:off x="1309511" y="2474893"/>
            <a:ext cx="6413935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a[100];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1d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endParaRPr lang="en-US" altLang="zh-CN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b[200][100];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2d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</a:p>
        </p:txBody>
      </p:sp>
    </p:spTree>
    <p:extLst>
      <p:ext uri="{BB962C8B-B14F-4D97-AF65-F5344CB8AC3E}">
        <p14:creationId xmlns:p14="http://schemas.microsoft.com/office/powerpoint/2010/main" val="627576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B0CF4-B062-5A2D-4B4A-09BBF629E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Alignment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CB836-8A83-B1F3-CAB5-FD556E220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Typically</a:t>
            </a:r>
            <a:r>
              <a:rPr lang="zh-CN" altLang="en-US" sz="3600" dirty="0"/>
              <a:t> </a:t>
            </a:r>
            <a:r>
              <a:rPr lang="en-US" altLang="zh-CN" sz="3600" dirty="0"/>
              <a:t>arrays</a:t>
            </a:r>
            <a:r>
              <a:rPr lang="zh-CN" altLang="en-US" sz="3600" dirty="0"/>
              <a:t> </a:t>
            </a:r>
            <a:r>
              <a:rPr lang="en-US" altLang="zh-CN" sz="3600" dirty="0"/>
              <a:t>are</a:t>
            </a:r>
            <a:r>
              <a:rPr lang="zh-CN" altLang="en-US" sz="3600" dirty="0"/>
              <a:t> </a:t>
            </a:r>
            <a:r>
              <a:rPr lang="en-US" altLang="zh-CN" sz="3600" dirty="0"/>
              <a:t>aligned</a:t>
            </a:r>
            <a:r>
              <a:rPr lang="zh-CN" altLang="en-US" sz="3600" dirty="0"/>
              <a:t> </a:t>
            </a:r>
            <a:r>
              <a:rPr lang="en-US" altLang="zh-CN" sz="3600" dirty="0"/>
              <a:t>by</a:t>
            </a:r>
            <a:r>
              <a:rPr lang="zh-CN" altLang="en-US" sz="3600" dirty="0"/>
              <a:t> </a:t>
            </a:r>
            <a:r>
              <a:rPr lang="en-US" altLang="zh-CN" sz="3600" dirty="0"/>
              <a:t>its</a:t>
            </a:r>
            <a:r>
              <a:rPr lang="zh-CN" altLang="en-US" sz="3600" dirty="0"/>
              <a:t> </a:t>
            </a:r>
            <a:r>
              <a:rPr lang="en-US" altLang="zh-CN" sz="3600" dirty="0"/>
              <a:t>scalar</a:t>
            </a:r>
            <a:r>
              <a:rPr lang="zh-CN" altLang="en-US" sz="3600" dirty="0"/>
              <a:t> </a:t>
            </a:r>
            <a:r>
              <a:rPr lang="en-US" altLang="zh-CN" sz="3600" dirty="0"/>
              <a:t>element</a:t>
            </a:r>
          </a:p>
          <a:p>
            <a:endParaRPr lang="en-CN" sz="3600" dirty="0"/>
          </a:p>
          <a:p>
            <a:endParaRPr lang="en-CN" sz="3600" dirty="0"/>
          </a:p>
          <a:p>
            <a:r>
              <a:rPr lang="en-US" altLang="zh-CN" sz="3600" dirty="0"/>
              <a:t>If</a:t>
            </a:r>
            <a:r>
              <a:rPr lang="zh-CN" altLang="en-US" sz="3600" dirty="0"/>
              <a:t> </a:t>
            </a:r>
            <a:r>
              <a:rPr lang="en-US" altLang="zh-CN" sz="3600" dirty="0"/>
              <a:t>unaligned,</a:t>
            </a:r>
            <a:r>
              <a:rPr lang="zh-CN" altLang="en-US" sz="3600" dirty="0"/>
              <a:t> </a:t>
            </a:r>
            <a:r>
              <a:rPr lang="en-US" altLang="zh-CN" sz="3600" dirty="0"/>
              <a:t>imaging</a:t>
            </a:r>
            <a:r>
              <a:rPr lang="zh-CN" altLang="en-US" sz="3600" dirty="0"/>
              <a:t> </a:t>
            </a:r>
            <a:r>
              <a:rPr lang="en-US" altLang="zh-CN" sz="3600" dirty="0"/>
              <a:t>each</a:t>
            </a:r>
            <a:r>
              <a:rPr lang="zh-CN" altLang="en-US" sz="3600" dirty="0"/>
              <a:t> </a:t>
            </a:r>
            <a:r>
              <a:rPr lang="en-US" altLang="zh-CN" sz="3600" dirty="0"/>
              <a:t>element</a:t>
            </a:r>
            <a:r>
              <a:rPr lang="zh-CN" altLang="en-US" sz="3600" dirty="0"/>
              <a:t> </a:t>
            </a:r>
            <a:r>
              <a:rPr lang="en-US" altLang="zh-CN" sz="3600" dirty="0"/>
              <a:t>may</a:t>
            </a:r>
            <a:r>
              <a:rPr lang="zh-CN" altLang="en-US" sz="3600" dirty="0"/>
              <a:t> </a:t>
            </a:r>
            <a:r>
              <a:rPr lang="en-US" altLang="zh-CN" sz="3600" dirty="0"/>
              <a:t>look</a:t>
            </a:r>
            <a:r>
              <a:rPr lang="zh-CN" altLang="en-US" sz="3600" dirty="0"/>
              <a:t> </a:t>
            </a:r>
            <a:r>
              <a:rPr lang="en-US" altLang="zh-CN" sz="3600" dirty="0"/>
              <a:t>like</a:t>
            </a:r>
            <a:r>
              <a:rPr lang="zh-CN" altLang="en-US" sz="3600" dirty="0"/>
              <a:t> </a:t>
            </a:r>
            <a:r>
              <a:rPr lang="en-US" altLang="zh-CN" sz="3600" dirty="0"/>
              <a:t>this:</a:t>
            </a:r>
            <a:r>
              <a:rPr lang="zh-CN" altLang="en-US" sz="3600" dirty="0"/>
              <a:t> </a:t>
            </a:r>
            <a:endParaRPr lang="en-US" altLang="zh-CN" sz="3600" dirty="0"/>
          </a:p>
          <a:p>
            <a:r>
              <a:rPr lang="en-US" altLang="zh-CN" sz="3600" dirty="0"/>
              <a:t>How</a:t>
            </a:r>
            <a:r>
              <a:rPr lang="zh-CN" altLang="en-US" sz="3600" dirty="0"/>
              <a:t> </a:t>
            </a:r>
            <a:r>
              <a:rPr lang="en-US" altLang="zh-CN" sz="3600" dirty="0"/>
              <a:t>can</a:t>
            </a:r>
            <a:r>
              <a:rPr lang="zh-CN" altLang="en-US" sz="3600" dirty="0"/>
              <a:t> </a:t>
            </a:r>
            <a:r>
              <a:rPr lang="en-US" altLang="zh-CN" sz="3600" dirty="0"/>
              <a:t>we</a:t>
            </a:r>
            <a:r>
              <a:rPr lang="zh-CN" altLang="en-US" sz="3600" dirty="0"/>
              <a:t> </a:t>
            </a:r>
            <a:r>
              <a:rPr lang="en-US" altLang="zh-CN" sz="3600" dirty="0"/>
              <a:t>write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program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altLang="zh-CN" sz="3600" dirty="0"/>
              <a:t>verify</a:t>
            </a:r>
            <a:r>
              <a:rPr lang="zh-CN" altLang="en-US" sz="3600" dirty="0"/>
              <a:t> </a:t>
            </a:r>
            <a:r>
              <a:rPr lang="en-US" altLang="zh-CN" sz="3600" dirty="0"/>
              <a:t>this?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0E608-6E4C-0F08-4C21-FF63BDF1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5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532DAA-43DF-5299-FFCC-368D23BC9754}"/>
              </a:ext>
            </a:extLst>
          </p:cNvPr>
          <p:cNvSpPr txBox="1"/>
          <p:nvPr/>
        </p:nvSpPr>
        <p:spPr>
          <a:xfrm>
            <a:off x="1492817" y="2474893"/>
            <a:ext cx="9206366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uint8_t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c[101];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101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bytes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[7]</a:t>
            </a:r>
          </a:p>
          <a:p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uint64_t</a:t>
            </a:r>
            <a:r>
              <a:rPr lang="zh-CN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d[5];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but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still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aligned!</a:t>
            </a:r>
            <a:endParaRPr lang="en-US" altLang="zh-CN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2E9C003-1715-5F78-3EC5-3F8FF5ABA6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716733"/>
              </p:ext>
            </p:extLst>
          </p:nvPr>
        </p:nvGraphicFramePr>
        <p:xfrm>
          <a:off x="2218532" y="4264304"/>
          <a:ext cx="28593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414">
                  <a:extLst>
                    <a:ext uri="{9D8B030D-6E8A-4147-A177-3AD203B41FA5}">
                      <a16:colId xmlns:a16="http://schemas.microsoft.com/office/drawing/2014/main" val="2899561337"/>
                    </a:ext>
                  </a:extLst>
                </a:gridCol>
                <a:gridCol w="357414">
                  <a:extLst>
                    <a:ext uri="{9D8B030D-6E8A-4147-A177-3AD203B41FA5}">
                      <a16:colId xmlns:a16="http://schemas.microsoft.com/office/drawing/2014/main" val="1441993858"/>
                    </a:ext>
                  </a:extLst>
                </a:gridCol>
                <a:gridCol w="357414">
                  <a:extLst>
                    <a:ext uri="{9D8B030D-6E8A-4147-A177-3AD203B41FA5}">
                      <a16:colId xmlns:a16="http://schemas.microsoft.com/office/drawing/2014/main" val="3895865707"/>
                    </a:ext>
                  </a:extLst>
                </a:gridCol>
                <a:gridCol w="357414">
                  <a:extLst>
                    <a:ext uri="{9D8B030D-6E8A-4147-A177-3AD203B41FA5}">
                      <a16:colId xmlns:a16="http://schemas.microsoft.com/office/drawing/2014/main" val="683961226"/>
                    </a:ext>
                  </a:extLst>
                </a:gridCol>
                <a:gridCol w="357414">
                  <a:extLst>
                    <a:ext uri="{9D8B030D-6E8A-4147-A177-3AD203B41FA5}">
                      <a16:colId xmlns:a16="http://schemas.microsoft.com/office/drawing/2014/main" val="3312999010"/>
                    </a:ext>
                  </a:extLst>
                </a:gridCol>
                <a:gridCol w="357414">
                  <a:extLst>
                    <a:ext uri="{9D8B030D-6E8A-4147-A177-3AD203B41FA5}">
                      <a16:colId xmlns:a16="http://schemas.microsoft.com/office/drawing/2014/main" val="2709975992"/>
                    </a:ext>
                  </a:extLst>
                </a:gridCol>
                <a:gridCol w="357414">
                  <a:extLst>
                    <a:ext uri="{9D8B030D-6E8A-4147-A177-3AD203B41FA5}">
                      <a16:colId xmlns:a16="http://schemas.microsoft.com/office/drawing/2014/main" val="686362429"/>
                    </a:ext>
                  </a:extLst>
                </a:gridCol>
                <a:gridCol w="357414">
                  <a:extLst>
                    <a:ext uri="{9D8B030D-6E8A-4147-A177-3AD203B41FA5}">
                      <a16:colId xmlns:a16="http://schemas.microsoft.com/office/drawing/2014/main" val="35088634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305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2875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6F9C-2FF7-2F14-DF8C-DE1EEA219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Flatten</a:t>
            </a:r>
            <a:r>
              <a:rPr lang="zh-CN" altLang="en-US" sz="5400" dirty="0"/>
              <a:t> </a:t>
            </a:r>
            <a:r>
              <a:rPr lang="en-US" altLang="zh-CN" sz="5400" dirty="0"/>
              <a:t>Arrays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AE016-0A95-635F-8C58-FEE01BD0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Dude,</a:t>
            </a:r>
            <a:r>
              <a:rPr lang="zh-CN" altLang="en-US" sz="3600" dirty="0"/>
              <a:t> </a:t>
            </a:r>
            <a:r>
              <a:rPr lang="en-US" altLang="zh-CN" sz="3600" dirty="0"/>
              <a:t>there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no</a:t>
            </a:r>
            <a:r>
              <a:rPr lang="zh-CN" altLang="en-US" sz="3600" dirty="0"/>
              <a:t> </a:t>
            </a:r>
            <a:r>
              <a:rPr lang="en-US" altLang="zh-CN" sz="3600" dirty="0"/>
              <a:t>high-dimensional</a:t>
            </a:r>
            <a:r>
              <a:rPr lang="zh-CN" altLang="en-US" sz="3600" dirty="0"/>
              <a:t> </a:t>
            </a:r>
            <a:r>
              <a:rPr lang="en-US" altLang="zh-CN" sz="3600" dirty="0"/>
              <a:t>arrays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AE334-3857-8ECE-5C09-4EC8AB39D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6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92B45E-62BC-8628-EFE2-CE3C630DF5F8}"/>
              </a:ext>
            </a:extLst>
          </p:cNvPr>
          <p:cNvSpPr txBox="1"/>
          <p:nvPr/>
        </p:nvSpPr>
        <p:spPr>
          <a:xfrm>
            <a:off x="2996433" y="2964766"/>
            <a:ext cx="6199133" cy="22467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b[200][100];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2d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</a:p>
          <a:p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</a:p>
          <a:p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b[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][j]</a:t>
            </a:r>
          </a:p>
          <a:p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flattened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</a:p>
          <a:p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)b)[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100+j];</a:t>
            </a:r>
          </a:p>
        </p:txBody>
      </p:sp>
    </p:spTree>
    <p:extLst>
      <p:ext uri="{BB962C8B-B14F-4D97-AF65-F5344CB8AC3E}">
        <p14:creationId xmlns:p14="http://schemas.microsoft.com/office/powerpoint/2010/main" val="2496937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D9059-E4B2-30BD-3015-1A039AEFD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Global</a:t>
            </a:r>
            <a:r>
              <a:rPr lang="zh-CN" altLang="en-US" sz="5400" dirty="0"/>
              <a:t> </a:t>
            </a:r>
            <a:r>
              <a:rPr lang="en-US" altLang="zh-CN" sz="5400" dirty="0" err="1"/>
              <a:t>v.s</a:t>
            </a:r>
            <a:r>
              <a:rPr lang="en-US" altLang="zh-CN" sz="5400" dirty="0"/>
              <a:t>.</a:t>
            </a:r>
            <a:r>
              <a:rPr lang="zh-CN" altLang="en-US" sz="5400" dirty="0"/>
              <a:t> </a:t>
            </a:r>
            <a:r>
              <a:rPr lang="en-US" altLang="zh-CN" sz="5400" dirty="0"/>
              <a:t>Local</a:t>
            </a:r>
            <a:r>
              <a:rPr lang="zh-CN" altLang="en-US" sz="5400" dirty="0"/>
              <a:t> </a:t>
            </a:r>
            <a:r>
              <a:rPr lang="en-US" altLang="zh-CN" sz="5400" dirty="0"/>
              <a:t>Arrays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7E5A2-337E-9ECA-256A-4290B0541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658"/>
            <a:ext cx="3956824" cy="4191606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Global</a:t>
            </a:r>
            <a:r>
              <a:rPr lang="zh-CN" altLang="en-US" sz="3600" dirty="0"/>
              <a:t> </a:t>
            </a:r>
            <a:r>
              <a:rPr lang="en-US" altLang="zh-CN" sz="3600" dirty="0"/>
              <a:t>Arrays</a:t>
            </a:r>
          </a:p>
          <a:p>
            <a:r>
              <a:rPr lang="en-US" altLang="zh-CN" sz="3600" dirty="0"/>
              <a:t>Local</a:t>
            </a:r>
            <a:r>
              <a:rPr lang="zh-CN" altLang="en-US" sz="3600" dirty="0"/>
              <a:t> </a:t>
            </a:r>
            <a:r>
              <a:rPr lang="en-US" altLang="zh-CN" sz="3600" dirty="0"/>
              <a:t>Arrays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4F02E-1814-AFD6-217E-1C2220BFC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7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50E936-8197-753B-B306-A18C0C22C847}"/>
              </a:ext>
            </a:extLst>
          </p:cNvPr>
          <p:cNvSpPr txBox="1"/>
          <p:nvPr/>
        </p:nvSpPr>
        <p:spPr>
          <a:xfrm>
            <a:off x="5153691" y="1840391"/>
            <a:ext cx="6356227" cy="40318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has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be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constant</a:t>
            </a:r>
          </a:p>
          <a:p>
            <a:r>
              <a:rPr lang="en-US" altLang="zh-CN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a[N];</a:t>
            </a:r>
          </a:p>
          <a:p>
            <a:r>
              <a:rPr lang="en-US" altLang="zh-CN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zh-CN" alt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foo()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rand();</a:t>
            </a:r>
          </a:p>
          <a:p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allowed,</a:t>
            </a:r>
          </a:p>
          <a:p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but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recommended.</a:t>
            </a:r>
          </a:p>
          <a:p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a[b];</a:t>
            </a:r>
            <a:b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267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4EB36-331E-0197-A9FF-9314A117D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59790" cy="1325563"/>
          </a:xfrm>
        </p:spPr>
        <p:txBody>
          <a:bodyPr>
            <a:normAutofit/>
          </a:bodyPr>
          <a:lstStyle/>
          <a:p>
            <a:r>
              <a:rPr lang="en-US" altLang="zh-CN" sz="5400" strike="sngStrike" dirty="0"/>
              <a:t>Flatten</a:t>
            </a:r>
            <a:r>
              <a:rPr lang="zh-CN" altLang="en-US" sz="5400" strike="sngStrike" dirty="0"/>
              <a:t> </a:t>
            </a:r>
            <a:r>
              <a:rPr lang="en-US" altLang="zh-CN" sz="5400" strike="sngStrike" dirty="0"/>
              <a:t>Arrays?</a:t>
            </a:r>
            <a:r>
              <a:rPr lang="zh-CN" altLang="en-US" sz="5400" strike="sngStrike" dirty="0"/>
              <a:t> </a:t>
            </a:r>
            <a:r>
              <a:rPr lang="en-US" altLang="zh-CN" sz="5400" dirty="0"/>
              <a:t>Hint</a:t>
            </a:r>
            <a:r>
              <a:rPr lang="zh-CN" altLang="en-US" sz="5400" dirty="0"/>
              <a:t> </a:t>
            </a:r>
            <a:r>
              <a:rPr lang="en-US" altLang="zh-CN" sz="5400" dirty="0"/>
              <a:t>to</a:t>
            </a:r>
            <a:r>
              <a:rPr lang="zh-CN" altLang="en-US" sz="5400" dirty="0"/>
              <a:t> </a:t>
            </a:r>
            <a:r>
              <a:rPr lang="en-US" altLang="zh-CN" sz="5400" dirty="0"/>
              <a:t>pointer</a:t>
            </a:r>
            <a:r>
              <a:rPr lang="zh-CN" altLang="en-US" sz="5400" dirty="0"/>
              <a:t> </a:t>
            </a:r>
            <a:r>
              <a:rPr lang="en-US" altLang="zh-CN" sz="5400" dirty="0"/>
              <a:t>access!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88F81-B256-E3E2-3AE6-762DDA4F3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In</a:t>
            </a:r>
            <a:r>
              <a:rPr lang="zh-CN" altLang="en-US" sz="3600" dirty="0"/>
              <a:t> </a:t>
            </a:r>
            <a:r>
              <a:rPr lang="en-US" altLang="zh-CN" sz="3600" dirty="0"/>
              <a:t>C,</a:t>
            </a:r>
            <a:r>
              <a:rPr lang="zh-CN" altLang="en-US" sz="3600" dirty="0"/>
              <a:t> </a:t>
            </a:r>
            <a:r>
              <a:rPr lang="en-US" altLang="zh-CN" sz="3600" dirty="0"/>
              <a:t>if</a:t>
            </a:r>
            <a:r>
              <a:rPr lang="zh-CN" altLang="en-US" sz="3600" dirty="0"/>
              <a:t> </a:t>
            </a:r>
            <a:r>
              <a:rPr lang="en-US" altLang="zh-CN" sz="3600" dirty="0"/>
              <a:t>you</a:t>
            </a:r>
            <a:r>
              <a:rPr lang="zh-CN" altLang="en-US" sz="3600" dirty="0"/>
              <a:t> </a:t>
            </a:r>
            <a:r>
              <a:rPr lang="en-US" altLang="zh-CN" sz="3600" dirty="0"/>
              <a:t>do</a:t>
            </a:r>
            <a:r>
              <a:rPr lang="zh-CN" altLang="en-US" sz="3600" dirty="0"/>
              <a:t> </a:t>
            </a:r>
            <a:r>
              <a:rPr lang="en-US" altLang="zh-CN" sz="3600" dirty="0"/>
              <a:t>this</a:t>
            </a:r>
            <a:r>
              <a:rPr lang="zh-CN" altLang="en-US" sz="3600" dirty="0"/>
              <a:t> </a:t>
            </a:r>
            <a:r>
              <a:rPr lang="en-US" altLang="zh-CN" sz="3600" dirty="0"/>
              <a:t>three.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function</a:t>
            </a:r>
            <a:r>
              <a:rPr lang="zh-CN" altLang="en-US" sz="3600" dirty="0"/>
              <a:t> </a:t>
            </a:r>
            <a:r>
              <a:rPr lang="en-US" altLang="zh-CN" sz="3600" dirty="0"/>
              <a:t>signature</a:t>
            </a:r>
            <a:r>
              <a:rPr lang="zh-CN" altLang="en-US" sz="3600" dirty="0"/>
              <a:t> </a:t>
            </a:r>
            <a:r>
              <a:rPr lang="en-US" altLang="zh-CN" sz="3600" dirty="0"/>
              <a:t>should</a:t>
            </a:r>
            <a:r>
              <a:rPr lang="zh-CN" altLang="en-US" sz="3600" dirty="0"/>
              <a:t> </a:t>
            </a:r>
            <a:r>
              <a:rPr lang="en-US" altLang="zh-CN" sz="3600" dirty="0"/>
              <a:t>be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same.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r>
              <a:rPr lang="en-US" altLang="zh-CN" sz="3600" dirty="0"/>
              <a:t>Wait,</a:t>
            </a:r>
            <a:r>
              <a:rPr lang="zh-CN" altLang="en-US" sz="3600" dirty="0"/>
              <a:t> </a:t>
            </a:r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function</a:t>
            </a:r>
            <a:r>
              <a:rPr lang="zh-CN" altLang="en-US" sz="3600" dirty="0"/>
              <a:t> </a:t>
            </a:r>
            <a:r>
              <a:rPr lang="en-US" altLang="zh-CN" sz="3600" dirty="0"/>
              <a:t>signature?</a:t>
            </a:r>
          </a:p>
          <a:p>
            <a:pPr lvl="1"/>
            <a:r>
              <a:rPr lang="en-US" altLang="zh-CN" sz="3200" dirty="0"/>
              <a:t>Let</a:t>
            </a:r>
            <a:r>
              <a:rPr lang="zh-CN" altLang="en-US" sz="3200" dirty="0"/>
              <a:t> </a:t>
            </a:r>
            <a:r>
              <a:rPr lang="en-US" altLang="zh-CN" sz="3200" dirty="0"/>
              <a:t>me</a:t>
            </a:r>
            <a:r>
              <a:rPr lang="zh-CN" altLang="en-US" sz="3200" dirty="0"/>
              <a:t> </a:t>
            </a:r>
            <a:r>
              <a:rPr lang="en-US" altLang="zh-CN" sz="3200" dirty="0"/>
              <a:t>explain</a:t>
            </a:r>
            <a:r>
              <a:rPr lang="zh-CN" altLang="en-US" sz="3200" dirty="0"/>
              <a:t> </a:t>
            </a:r>
            <a:r>
              <a:rPr lang="en-US" altLang="zh-CN" sz="3200" dirty="0"/>
              <a:t>it</a:t>
            </a:r>
            <a:r>
              <a:rPr lang="zh-CN" altLang="en-US" sz="3200" dirty="0"/>
              <a:t> </a:t>
            </a:r>
            <a:r>
              <a:rPr lang="en-US" altLang="zh-CN" sz="3200" dirty="0"/>
              <a:t>later</a:t>
            </a:r>
            <a:endParaRPr lang="en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EC053-387A-84E2-96E6-BD5558C55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8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06BDDB-795A-C359-F860-5B68937C44BC}"/>
              </a:ext>
            </a:extLst>
          </p:cNvPr>
          <p:cNvSpPr txBox="1"/>
          <p:nvPr/>
        </p:nvSpPr>
        <p:spPr>
          <a:xfrm>
            <a:off x="1873956" y="3222977"/>
            <a:ext cx="5339922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a)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7A858D-4E47-8734-7CF6-191C3BD9D1F5}"/>
              </a:ext>
            </a:extLst>
          </p:cNvPr>
          <p:cNvSpPr txBox="1"/>
          <p:nvPr/>
        </p:nvSpPr>
        <p:spPr>
          <a:xfrm>
            <a:off x="1873955" y="3993796"/>
            <a:ext cx="5339923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a[])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BBA338-E1B0-660F-0DDF-CD6B6DDF87A4}"/>
              </a:ext>
            </a:extLst>
          </p:cNvPr>
          <p:cNvSpPr txBox="1"/>
          <p:nvPr/>
        </p:nvSpPr>
        <p:spPr>
          <a:xfrm>
            <a:off x="1873956" y="4806596"/>
            <a:ext cx="5339923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a[100])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95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AF4D2-8172-1F99-4853-596599D1E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4404F-EB2B-DDEF-3E7A-C498F6463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Hint</a:t>
            </a:r>
            <a:r>
              <a:rPr lang="zh-CN" altLang="en-US" sz="5400" dirty="0"/>
              <a:t> </a:t>
            </a:r>
            <a:r>
              <a:rPr lang="en-US" altLang="zh-CN" sz="5400" dirty="0"/>
              <a:t>to</a:t>
            </a:r>
            <a:r>
              <a:rPr lang="zh-CN" altLang="en-US" sz="5400" dirty="0"/>
              <a:t> </a:t>
            </a:r>
            <a:r>
              <a:rPr lang="en-US" altLang="zh-CN" sz="5400" dirty="0"/>
              <a:t>pointer</a:t>
            </a:r>
            <a:r>
              <a:rPr lang="zh-CN" altLang="en-US" sz="5400" dirty="0"/>
              <a:t> </a:t>
            </a:r>
            <a:r>
              <a:rPr lang="en-US" altLang="zh-CN" sz="5400" dirty="0"/>
              <a:t>access</a:t>
            </a:r>
            <a:r>
              <a:rPr lang="zh-CN" altLang="en-US" sz="5400" dirty="0"/>
              <a:t> </a:t>
            </a:r>
            <a:r>
              <a:rPr lang="en-US" altLang="zh-CN" sz="5400" dirty="0"/>
              <a:t>(CONT’D)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2E278-761B-5275-0B37-188D8F5D1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Actually,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compiler</a:t>
            </a:r>
            <a:r>
              <a:rPr lang="zh-CN" altLang="en-US" sz="3600" dirty="0"/>
              <a:t> </a:t>
            </a:r>
            <a:r>
              <a:rPr lang="en-US" altLang="zh-CN" sz="3600" dirty="0"/>
              <a:t>does</a:t>
            </a:r>
            <a:r>
              <a:rPr lang="zh-CN" altLang="en-US" sz="3600" dirty="0"/>
              <a:t> </a:t>
            </a:r>
            <a:r>
              <a:rPr lang="en-US" altLang="zh-CN" sz="3600" dirty="0"/>
              <a:t>not</a:t>
            </a:r>
            <a:r>
              <a:rPr lang="zh-CN" altLang="en-US" sz="3600" dirty="0"/>
              <a:t> </a:t>
            </a:r>
            <a:r>
              <a:rPr lang="en-US" altLang="zh-CN" sz="3600" dirty="0"/>
              <a:t>care</a:t>
            </a:r>
            <a:r>
              <a:rPr lang="zh-CN" altLang="en-US" sz="3600" dirty="0"/>
              <a:t> </a:t>
            </a:r>
            <a:r>
              <a:rPr lang="en-US" altLang="zh-CN" sz="3600" dirty="0"/>
              <a:t>about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1st</a:t>
            </a:r>
            <a:r>
              <a:rPr lang="zh-CN" altLang="en-US" sz="3600" dirty="0"/>
              <a:t> </a:t>
            </a:r>
            <a:r>
              <a:rPr lang="en-US" altLang="zh-CN" sz="3600" dirty="0"/>
              <a:t>dimension.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53BB2-C111-FB24-6DEC-FA09E278D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9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7F7A4D-84D2-9EB3-E1B6-ACF1CC0191D1}"/>
              </a:ext>
            </a:extLst>
          </p:cNvPr>
          <p:cNvSpPr txBox="1"/>
          <p:nvPr/>
        </p:nvSpPr>
        <p:spPr>
          <a:xfrm>
            <a:off x="1873955" y="3222977"/>
            <a:ext cx="8805334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a[][100])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GOOD!</a:t>
            </a:r>
            <a:endParaRPr lang="en-CN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10A55F-F4CF-E2BD-3E2D-327E46AEADC7}"/>
              </a:ext>
            </a:extLst>
          </p:cNvPr>
          <p:cNvSpPr txBox="1"/>
          <p:nvPr/>
        </p:nvSpPr>
        <p:spPr>
          <a:xfrm>
            <a:off x="1873955" y="4014786"/>
            <a:ext cx="8805334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a[10000][100])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GOOD!</a:t>
            </a:r>
            <a:endParaRPr lang="en-CN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E99189-632F-DE42-3808-15798EE81F79}"/>
              </a:ext>
            </a:extLst>
          </p:cNvPr>
          <p:cNvSpPr txBox="1"/>
          <p:nvPr/>
        </p:nvSpPr>
        <p:spPr>
          <a:xfrm>
            <a:off x="1873955" y="4881939"/>
            <a:ext cx="8805334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a[10000][])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BAD!</a:t>
            </a:r>
            <a:endParaRPr lang="en-CN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404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73256-C955-3678-6EBD-19014FEE7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Even</a:t>
            </a:r>
            <a:r>
              <a:rPr lang="zh-CN" altLang="en-US" sz="5400" dirty="0"/>
              <a:t> </a:t>
            </a:r>
            <a:r>
              <a:rPr lang="en-US" altLang="zh-CN" sz="5400" dirty="0"/>
              <a:t>more</a:t>
            </a:r>
            <a:r>
              <a:rPr lang="zh-CN" altLang="en-US" sz="5400" dirty="0"/>
              <a:t> </a:t>
            </a:r>
            <a:r>
              <a:rPr lang="en-US" altLang="zh-CN" sz="5400" dirty="0"/>
              <a:t>hints</a:t>
            </a:r>
            <a:r>
              <a:rPr lang="zh-CN" altLang="en-US" sz="5400" dirty="0"/>
              <a:t> </a:t>
            </a:r>
            <a:r>
              <a:rPr lang="en-US" altLang="zh-CN" sz="5400" dirty="0"/>
              <a:t>to</a:t>
            </a:r>
            <a:r>
              <a:rPr lang="zh-CN" altLang="en-US" sz="5400" dirty="0"/>
              <a:t> </a:t>
            </a:r>
            <a:r>
              <a:rPr lang="en-US" altLang="zh-CN" sz="5400" dirty="0"/>
              <a:t>array</a:t>
            </a:r>
            <a:r>
              <a:rPr lang="zh-CN" altLang="en-US" sz="5400" dirty="0"/>
              <a:t> </a:t>
            </a:r>
            <a:r>
              <a:rPr lang="en-US" altLang="zh-CN" sz="5400" dirty="0"/>
              <a:t>access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DE67E-2199-F7AF-1844-179FF4ED0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55648"/>
            <a:ext cx="7673195" cy="823328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generated</a:t>
            </a:r>
            <a:r>
              <a:rPr lang="zh-CN" altLang="en-US" sz="3600" dirty="0"/>
              <a:t> </a:t>
            </a:r>
            <a:r>
              <a:rPr lang="en-US" altLang="zh-CN" sz="3600" dirty="0"/>
              <a:t>code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mess,</a:t>
            </a:r>
            <a:r>
              <a:rPr lang="zh-CN" altLang="en-US" sz="3600" dirty="0"/>
              <a:t> </a:t>
            </a:r>
            <a:r>
              <a:rPr lang="en-US" altLang="zh-CN" sz="3600" dirty="0"/>
              <a:t>why?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0E9E2-AF0B-8067-E92A-98B92221F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10</a:t>
            </a:fld>
            <a:endParaRPr lang="en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C4ABFF-CE08-BC81-9004-AF4616E40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214" y="2527300"/>
            <a:ext cx="6057900" cy="1803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AAE026-BB2B-70ED-ED60-05DFADE943DD}"/>
              </a:ext>
            </a:extLst>
          </p:cNvPr>
          <p:cNvSpPr txBox="1"/>
          <p:nvPr/>
        </p:nvSpPr>
        <p:spPr>
          <a:xfrm>
            <a:off x="1238250" y="1738615"/>
            <a:ext cx="7273145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clang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array4.c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–S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–emit-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llvm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–O3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CN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372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118F2-7667-738A-702D-BC8F36EC2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9C39A-4DB4-255D-3F4B-2C6CCAD54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Even</a:t>
            </a:r>
            <a:r>
              <a:rPr lang="zh-CN" altLang="en-US" sz="5400" dirty="0"/>
              <a:t> </a:t>
            </a:r>
            <a:r>
              <a:rPr lang="en-US" altLang="zh-CN" sz="5400" dirty="0"/>
              <a:t>more</a:t>
            </a:r>
            <a:r>
              <a:rPr lang="zh-CN" altLang="en-US" sz="5400" dirty="0"/>
              <a:t> </a:t>
            </a:r>
            <a:r>
              <a:rPr lang="en-US" altLang="zh-CN" sz="5400" dirty="0"/>
              <a:t>hints</a:t>
            </a:r>
            <a:r>
              <a:rPr lang="zh-CN" altLang="en-US" sz="5400" dirty="0"/>
              <a:t> </a:t>
            </a:r>
            <a:r>
              <a:rPr lang="en-US" altLang="zh-CN" sz="5400" dirty="0"/>
              <a:t>to</a:t>
            </a:r>
            <a:r>
              <a:rPr lang="zh-CN" altLang="en-US" sz="5400" dirty="0"/>
              <a:t> </a:t>
            </a:r>
            <a:r>
              <a:rPr lang="en-US" altLang="zh-CN" sz="5400" dirty="0"/>
              <a:t>array</a:t>
            </a:r>
            <a:r>
              <a:rPr lang="zh-CN" altLang="en-US" sz="5400" dirty="0"/>
              <a:t> </a:t>
            </a:r>
            <a:r>
              <a:rPr lang="en-US" altLang="zh-CN" sz="5400" dirty="0"/>
              <a:t>access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D10D3-82D8-EB4B-4D2E-9CB5345CE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251" y="5309843"/>
            <a:ext cx="4448872" cy="823328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Why</a:t>
            </a:r>
            <a:r>
              <a:rPr lang="zh-CN" altLang="en-US" sz="3600" dirty="0"/>
              <a:t> </a:t>
            </a:r>
            <a:r>
              <a:rPr lang="en-US" altLang="zh-CN" sz="3600" dirty="0"/>
              <a:t>does</a:t>
            </a:r>
            <a:r>
              <a:rPr lang="zh-CN" altLang="en-US" sz="3600" dirty="0"/>
              <a:t> </a:t>
            </a:r>
            <a:r>
              <a:rPr lang="en-US" altLang="zh-CN" sz="3600" dirty="0"/>
              <a:t>it</a:t>
            </a:r>
            <a:r>
              <a:rPr lang="zh-CN" altLang="en-US" sz="3600" dirty="0"/>
              <a:t> </a:t>
            </a:r>
            <a:r>
              <a:rPr lang="en-US" altLang="zh-CN" sz="3600" dirty="0"/>
              <a:t>help?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0C94F-212E-194F-8D74-474CFA253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11</a:t>
            </a:fld>
            <a:endParaRPr lang="en-C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130FB9-41EA-80A0-1687-8563601F8DD2}"/>
              </a:ext>
            </a:extLst>
          </p:cNvPr>
          <p:cNvSpPr txBox="1"/>
          <p:nvPr/>
        </p:nvSpPr>
        <p:spPr>
          <a:xfrm>
            <a:off x="1238250" y="1738615"/>
            <a:ext cx="7273145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clang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array4.c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–S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–emit-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llvm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–O3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CN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0D0BBA-5A2C-7387-6E47-8B86EB45B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558" y="2541239"/>
            <a:ext cx="5194300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772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524CC-CF94-40C0-FCFD-5BB4526F7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5400" dirty="0"/>
              <a:t>S</a:t>
            </a:r>
            <a:r>
              <a:rPr lang="en-US" altLang="zh-CN" sz="5400" dirty="0" err="1"/>
              <a:t>ummary</a:t>
            </a:r>
            <a:r>
              <a:rPr lang="en-US" altLang="zh-CN" sz="5400" dirty="0"/>
              <a:t>:</a:t>
            </a:r>
            <a:r>
              <a:rPr lang="zh-CN" altLang="en-US" sz="5400" dirty="0"/>
              <a:t> </a:t>
            </a:r>
            <a:r>
              <a:rPr lang="en-US" altLang="zh-CN" sz="5400" dirty="0"/>
              <a:t>Arrays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BB3C0-8808-63F0-47EC-EE98EF1A4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34064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Arrays</a:t>
            </a:r>
            <a:r>
              <a:rPr lang="zh-CN" altLang="en-US" sz="4000" dirty="0"/>
              <a:t> </a:t>
            </a:r>
            <a:r>
              <a:rPr lang="en-US" altLang="zh-CN" sz="4000" dirty="0"/>
              <a:t>are</a:t>
            </a:r>
            <a:r>
              <a:rPr lang="zh-CN" altLang="en-US" sz="4000" dirty="0"/>
              <a:t> </a:t>
            </a:r>
            <a:r>
              <a:rPr lang="en-US" altLang="zh-CN" sz="4000" dirty="0"/>
              <a:t>continuous</a:t>
            </a:r>
            <a:r>
              <a:rPr lang="zh-CN" altLang="en-US" sz="4000" dirty="0"/>
              <a:t> </a:t>
            </a:r>
            <a:r>
              <a:rPr lang="en-US" altLang="zh-CN" sz="4000" dirty="0"/>
              <a:t>memory</a:t>
            </a:r>
            <a:r>
              <a:rPr lang="zh-CN" altLang="en-US" sz="4000" dirty="0"/>
              <a:t> </a:t>
            </a:r>
            <a:r>
              <a:rPr lang="en-US" altLang="zh-CN" sz="4000" dirty="0"/>
              <a:t>allocated</a:t>
            </a:r>
          </a:p>
          <a:p>
            <a:pPr lvl="1"/>
            <a:r>
              <a:rPr lang="en-US" altLang="zh-CN" sz="3600" dirty="0"/>
              <a:t>All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arrays</a:t>
            </a:r>
            <a:r>
              <a:rPr lang="zh-CN" altLang="en-US" sz="3600" dirty="0"/>
              <a:t> </a:t>
            </a:r>
            <a:r>
              <a:rPr lang="en-US" altLang="zh-CN" sz="3600" dirty="0"/>
              <a:t>are</a:t>
            </a:r>
            <a:r>
              <a:rPr lang="zh-CN" altLang="en-US" sz="3600" dirty="0"/>
              <a:t> </a:t>
            </a:r>
            <a:r>
              <a:rPr lang="en-US" altLang="zh-CN" sz="3600" dirty="0"/>
              <a:t>essentially</a:t>
            </a:r>
            <a:r>
              <a:rPr lang="zh-CN" altLang="en-US" sz="3600" dirty="0"/>
              <a:t> </a:t>
            </a:r>
            <a:r>
              <a:rPr lang="en-US" altLang="zh-CN" sz="3600" dirty="0"/>
              <a:t>1-d</a:t>
            </a:r>
          </a:p>
          <a:p>
            <a:pPr lvl="2"/>
            <a:r>
              <a:rPr lang="en-US" altLang="zh-CN" sz="3200" dirty="0"/>
              <a:t>pointer=(∑(</a:t>
            </a:r>
            <a:r>
              <a:rPr lang="en-US" altLang="zh-CN" sz="3200" dirty="0" err="1"/>
              <a:t>idx</a:t>
            </a:r>
            <a:r>
              <a:rPr lang="zh-CN" altLang="en-US" sz="3200" dirty="0"/>
              <a:t>*</a:t>
            </a:r>
            <a:r>
              <a:rPr lang="en-US" altLang="zh-CN" sz="3200" dirty="0"/>
              <a:t>stride))</a:t>
            </a:r>
            <a:r>
              <a:rPr lang="zh-CN" altLang="en-US" sz="3200" dirty="0"/>
              <a:t>*</a:t>
            </a:r>
            <a:r>
              <a:rPr lang="en-US" altLang="zh-CN" sz="3200" dirty="0" err="1"/>
              <a:t>sizeof</a:t>
            </a:r>
            <a:r>
              <a:rPr lang="en-US" altLang="zh-CN" sz="3200" dirty="0"/>
              <a:t>(</a:t>
            </a:r>
            <a:r>
              <a:rPr lang="en-US" altLang="zh-CN" sz="3200" dirty="0" err="1"/>
              <a:t>elem</a:t>
            </a:r>
            <a:r>
              <a:rPr lang="en-US" altLang="zh-CN" sz="3200" dirty="0"/>
              <a:t>)</a:t>
            </a:r>
          </a:p>
          <a:p>
            <a:pPr lvl="1"/>
            <a:r>
              <a:rPr lang="en-US" altLang="zh-CN" sz="3600" dirty="0"/>
              <a:t>In</a:t>
            </a:r>
            <a:r>
              <a:rPr lang="zh-CN" altLang="en-US" sz="3600" dirty="0"/>
              <a:t> </a:t>
            </a:r>
            <a:r>
              <a:rPr lang="en-US" altLang="zh-CN" sz="3600" dirty="0"/>
              <a:t>C,</a:t>
            </a:r>
            <a:r>
              <a:rPr lang="zh-CN" altLang="en-US" sz="3600" dirty="0"/>
              <a:t> </a:t>
            </a:r>
            <a:r>
              <a:rPr lang="en-US" altLang="zh-CN" sz="3600" dirty="0"/>
              <a:t>all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array</a:t>
            </a:r>
            <a:r>
              <a:rPr lang="zh-CN" altLang="en-US" sz="3600" dirty="0"/>
              <a:t> </a:t>
            </a:r>
            <a:r>
              <a:rPr lang="en-US" altLang="zh-CN" sz="3600" dirty="0"/>
              <a:t>passing</a:t>
            </a:r>
            <a:r>
              <a:rPr lang="zh-CN" altLang="en-US" sz="3600" dirty="0"/>
              <a:t> </a:t>
            </a:r>
            <a:r>
              <a:rPr lang="en-US" altLang="zh-CN" sz="3600" dirty="0"/>
              <a:t>are</a:t>
            </a:r>
            <a:r>
              <a:rPr lang="zh-CN" altLang="en-US" sz="3600" dirty="0"/>
              <a:t> </a:t>
            </a:r>
            <a:r>
              <a:rPr lang="en-US" altLang="zh-CN" sz="3600" dirty="0"/>
              <a:t>pointer</a:t>
            </a:r>
            <a:r>
              <a:rPr lang="zh-CN" altLang="en-US" sz="3600" dirty="0"/>
              <a:t> </a:t>
            </a:r>
            <a:r>
              <a:rPr lang="en-US" altLang="zh-CN" sz="3600" dirty="0"/>
              <a:t>passing</a:t>
            </a:r>
          </a:p>
          <a:p>
            <a:pPr lvl="1"/>
            <a:r>
              <a:rPr lang="en-US" altLang="zh-CN" sz="3600" dirty="0"/>
              <a:t>Question:</a:t>
            </a:r>
            <a:r>
              <a:rPr lang="zh-CN" altLang="en-US" sz="3600" dirty="0"/>
              <a:t> </a:t>
            </a:r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if</a:t>
            </a:r>
            <a:r>
              <a:rPr lang="zh-CN" altLang="en-US" sz="3600" dirty="0"/>
              <a:t> </a:t>
            </a:r>
            <a:r>
              <a:rPr lang="en-US" altLang="zh-CN" sz="3600" dirty="0"/>
              <a:t>you</a:t>
            </a:r>
            <a:r>
              <a:rPr lang="zh-CN" altLang="en-US" sz="3600" dirty="0"/>
              <a:t> </a:t>
            </a:r>
            <a:r>
              <a:rPr lang="en-US" altLang="zh-CN" sz="3600" dirty="0"/>
              <a:t>want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altLang="zh-CN" sz="3600" dirty="0"/>
              <a:t>pass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array</a:t>
            </a:r>
            <a:r>
              <a:rPr lang="zh-CN" altLang="en-US" sz="3600" dirty="0"/>
              <a:t> </a:t>
            </a:r>
            <a:r>
              <a:rPr lang="en-US" altLang="zh-CN" sz="3600" dirty="0"/>
              <a:t>by</a:t>
            </a:r>
            <a:r>
              <a:rPr lang="zh-CN" altLang="en-US" sz="3600" dirty="0"/>
              <a:t> </a:t>
            </a:r>
            <a:r>
              <a:rPr lang="en-US" altLang="zh-CN" sz="3600" dirty="0"/>
              <a:t>copying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array?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5D6A4-CCEA-674D-D4F8-E7701A342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65917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6C934-B2AA-EDC2-67F0-40DFD2990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40973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Struct</a:t>
            </a:r>
            <a:r>
              <a:rPr lang="zh-CN" altLang="en-US" sz="5400" dirty="0"/>
              <a:t> </a:t>
            </a:r>
            <a:r>
              <a:rPr lang="en-US" altLang="zh-CN" sz="5400" dirty="0"/>
              <a:t>of</a:t>
            </a:r>
            <a:r>
              <a:rPr lang="zh-CN" altLang="en-US" sz="5400" dirty="0"/>
              <a:t> </a:t>
            </a:r>
            <a:r>
              <a:rPr lang="en-US" altLang="zh-CN" sz="5400" dirty="0"/>
              <a:t>Array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E3C7E-0996-7FE3-33DA-12CEC4CB5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754352"/>
            <a:ext cx="5791200" cy="2765502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Any</a:t>
            </a:r>
            <a:r>
              <a:rPr lang="zh-CN" altLang="en-US" sz="3600" dirty="0"/>
              <a:t> </a:t>
            </a:r>
            <a:r>
              <a:rPr lang="en-US" altLang="zh-CN" sz="3600" dirty="0"/>
              <a:t>argument</a:t>
            </a:r>
            <a:r>
              <a:rPr lang="zh-CN" altLang="en-US" sz="3600" dirty="0"/>
              <a:t> </a:t>
            </a:r>
            <a:r>
              <a:rPr lang="en-US" altLang="zh-CN" sz="3600" dirty="0"/>
              <a:t>passed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altLang="zh-CN" sz="3600" dirty="0"/>
              <a:t>this</a:t>
            </a:r>
            <a:r>
              <a:rPr lang="zh-CN" altLang="en-US" sz="3600" dirty="0"/>
              <a:t> </a:t>
            </a:r>
            <a:r>
              <a:rPr lang="en-US" altLang="zh-CN" sz="3600" dirty="0"/>
              <a:t>function</a:t>
            </a:r>
            <a:r>
              <a:rPr lang="zh-CN" altLang="en-US" sz="3600" dirty="0"/>
              <a:t> </a:t>
            </a:r>
            <a:r>
              <a:rPr lang="en-US" altLang="zh-CN" sz="3600" dirty="0"/>
              <a:t>will</a:t>
            </a:r>
            <a:r>
              <a:rPr lang="zh-CN" altLang="en-US" sz="3600" dirty="0"/>
              <a:t> </a:t>
            </a:r>
            <a:r>
              <a:rPr lang="en-US" altLang="zh-CN" sz="3600" dirty="0"/>
              <a:t>be</a:t>
            </a:r>
            <a:r>
              <a:rPr lang="zh-CN" altLang="en-US" sz="3600" dirty="0"/>
              <a:t> </a:t>
            </a:r>
            <a:r>
              <a:rPr lang="en-US" altLang="zh-CN" sz="3600" dirty="0"/>
              <a:t>copied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target</a:t>
            </a:r>
            <a:r>
              <a:rPr lang="zh-CN" altLang="en-US" sz="3600" dirty="0"/>
              <a:t> </a:t>
            </a:r>
            <a:r>
              <a:rPr lang="en-US" altLang="zh-CN" sz="3600" dirty="0"/>
              <a:t>function</a:t>
            </a:r>
          </a:p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are</a:t>
            </a:r>
            <a:r>
              <a:rPr lang="zh-CN" altLang="en-US" sz="3600" dirty="0"/>
              <a:t> </a:t>
            </a:r>
            <a:r>
              <a:rPr lang="en-US" altLang="zh-CN" sz="3600" dirty="0"/>
              <a:t>structs?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29431-EA21-5FC6-F4CE-D1677DA29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13</a:t>
            </a:fld>
            <a:endParaRPr lang="en-C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05EE57-A36A-6F01-F427-8F276F095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229" y="2416000"/>
            <a:ext cx="5791200" cy="35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29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E5815-CB3F-3561-EBBA-FD85F18F0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62" y="67468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Ad:</a:t>
            </a:r>
            <a:r>
              <a:rPr lang="zh-CN" altLang="en-US" sz="5400" dirty="0"/>
              <a:t> </a:t>
            </a:r>
            <a:r>
              <a:rPr lang="en-US" altLang="zh-CN" sz="5400" dirty="0"/>
              <a:t>Rust</a:t>
            </a:r>
            <a:r>
              <a:rPr lang="zh-CN" altLang="en-US" sz="5400" dirty="0"/>
              <a:t> </a:t>
            </a:r>
            <a:r>
              <a:rPr lang="en-US" altLang="zh-CN" sz="5400" dirty="0"/>
              <a:t>is</a:t>
            </a:r>
            <a:r>
              <a:rPr lang="zh-CN" altLang="en-US" sz="5400" dirty="0"/>
              <a:t> </a:t>
            </a:r>
            <a:r>
              <a:rPr lang="en-US" altLang="zh-CN" sz="5400" dirty="0"/>
              <a:t>a</a:t>
            </a:r>
            <a:r>
              <a:rPr lang="zh-CN" altLang="en-US" sz="5400" dirty="0"/>
              <a:t> </a:t>
            </a:r>
            <a:r>
              <a:rPr lang="en-US" altLang="zh-CN" sz="5400" dirty="0"/>
              <a:t>user-enforced</a:t>
            </a:r>
            <a:r>
              <a:rPr lang="zh-CN" altLang="en-US" sz="5400" dirty="0"/>
              <a:t> </a:t>
            </a:r>
            <a:r>
              <a:rPr lang="en-US" altLang="zh-CN" sz="5400" dirty="0"/>
              <a:t>C++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732D7-8815-F64F-0574-219BBDE95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962" y="1393031"/>
            <a:ext cx="5169562" cy="1802717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Rust</a:t>
            </a:r>
            <a:r>
              <a:rPr lang="zh-CN" altLang="en-US" sz="3600" dirty="0"/>
              <a:t> </a:t>
            </a:r>
            <a:r>
              <a:rPr lang="en-US" altLang="zh-CN" sz="3600" dirty="0"/>
              <a:t>uses</a:t>
            </a:r>
            <a:r>
              <a:rPr lang="zh-CN" altLang="en-US" sz="3600" dirty="0"/>
              <a:t> </a:t>
            </a:r>
            <a:r>
              <a:rPr lang="en-US" altLang="zh-CN" sz="3600" dirty="0"/>
              <a:t>its</a:t>
            </a:r>
            <a:r>
              <a:rPr lang="zh-CN" altLang="en-US" sz="3600" dirty="0"/>
              <a:t> </a:t>
            </a:r>
            <a:r>
              <a:rPr lang="en-US" altLang="zh-CN" sz="3600" dirty="0"/>
              <a:t>syntax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altLang="zh-CN" sz="3600" dirty="0"/>
              <a:t>enforce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mistakes</a:t>
            </a:r>
            <a:r>
              <a:rPr lang="zh-CN" altLang="en-US" sz="3600" dirty="0"/>
              <a:t> </a:t>
            </a:r>
            <a:r>
              <a:rPr lang="en-US" altLang="zh-CN" sz="3600" dirty="0"/>
              <a:t>you</a:t>
            </a:r>
            <a:r>
              <a:rPr lang="zh-CN" altLang="en-US" sz="3600" dirty="0"/>
              <a:t> </a:t>
            </a:r>
            <a:r>
              <a:rPr lang="en-US" altLang="zh-CN" sz="3600" dirty="0"/>
              <a:t>may</a:t>
            </a:r>
            <a:r>
              <a:rPr lang="zh-CN" altLang="en-US" sz="3600" dirty="0"/>
              <a:t> </a:t>
            </a:r>
            <a:r>
              <a:rPr lang="en-US" altLang="zh-CN" sz="3600" dirty="0"/>
              <a:t>make</a:t>
            </a:r>
            <a:r>
              <a:rPr lang="zh-CN" altLang="en-US" sz="3600" dirty="0"/>
              <a:t> </a:t>
            </a:r>
            <a:r>
              <a:rPr lang="en-US" altLang="zh-CN" sz="3600" dirty="0"/>
              <a:t>in</a:t>
            </a:r>
            <a:r>
              <a:rPr lang="zh-CN" altLang="en-US" sz="3600" dirty="0"/>
              <a:t> </a:t>
            </a:r>
            <a:r>
              <a:rPr lang="en-US" altLang="zh-CN" sz="3600" dirty="0"/>
              <a:t>C++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C5954-C4C8-49A3-BE70-8F4F991E9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14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7AFA16-1AF3-D1FC-96E4-52112A6282AC}"/>
              </a:ext>
            </a:extLst>
          </p:cNvPr>
          <p:cNvSpPr txBox="1"/>
          <p:nvPr/>
        </p:nvSpPr>
        <p:spPr>
          <a:xfrm>
            <a:off x="1026688" y="3195748"/>
            <a:ext cx="4055919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b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Bad!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foo(A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a);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Good!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goo(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&amp;a);</a:t>
            </a:r>
            <a:endParaRPr lang="en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558832-FECA-E95F-4F2B-0CA349D4762E}"/>
              </a:ext>
            </a:extLst>
          </p:cNvPr>
          <p:cNvSpPr txBox="1"/>
          <p:nvPr/>
        </p:nvSpPr>
        <p:spPr>
          <a:xfrm>
            <a:off x="6007762" y="1349089"/>
            <a:ext cx="5715026" cy="5262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b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foo(a: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A);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goo(a: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&amp;A);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</a:t>
            </a:r>
            <a:r>
              <a:rPr lang="zh-CN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foo(a);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Error!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a’s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lifetime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ends.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goo(&amp;a);</a:t>
            </a:r>
          </a:p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470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C6081-8CD5-4C8B-7520-C66B24B88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Struct:</a:t>
            </a:r>
            <a:r>
              <a:rPr lang="zh-CN" altLang="en-US" sz="5400" dirty="0"/>
              <a:t> </a:t>
            </a:r>
            <a:r>
              <a:rPr lang="en-US" altLang="zh-CN" sz="5400" dirty="0"/>
              <a:t>What</a:t>
            </a:r>
            <a:r>
              <a:rPr lang="zh-CN" altLang="en-US" sz="5400" dirty="0"/>
              <a:t> </a:t>
            </a:r>
            <a:r>
              <a:rPr lang="en-US" altLang="zh-CN" sz="5400" dirty="0"/>
              <a:t>is</a:t>
            </a:r>
            <a:r>
              <a:rPr lang="zh-CN" altLang="en-US" sz="5400" dirty="0"/>
              <a:t> </a:t>
            </a:r>
            <a:r>
              <a:rPr lang="en-US" altLang="zh-CN" sz="5400" dirty="0"/>
              <a:t>a</a:t>
            </a:r>
            <a:r>
              <a:rPr lang="zh-CN" altLang="en-US" sz="5400" dirty="0"/>
              <a:t> </a:t>
            </a:r>
            <a:r>
              <a:rPr lang="en-US" altLang="zh-CN" sz="5400" dirty="0"/>
              <a:t>struct?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F7FFB-7A13-FE23-7596-483D49C76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985883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Struct: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bundle</a:t>
            </a:r>
            <a:r>
              <a:rPr lang="zh-CN" altLang="en-US" sz="3600" dirty="0"/>
              <a:t> </a:t>
            </a:r>
            <a:r>
              <a:rPr lang="en-US" altLang="zh-CN" sz="3600" dirty="0"/>
              <a:t>of</a:t>
            </a:r>
            <a:r>
              <a:rPr lang="zh-CN" altLang="en-US" sz="3600" dirty="0"/>
              <a:t> </a:t>
            </a:r>
            <a:r>
              <a:rPr lang="en-US" altLang="zh-CN" sz="3600" dirty="0"/>
              <a:t>attributes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CN" sz="3600" dirty="0"/>
          </a:p>
          <a:p>
            <a:r>
              <a:rPr lang="en-US" altLang="zh-CN" sz="3600" dirty="0"/>
              <a:t>Question:</a:t>
            </a:r>
            <a:r>
              <a:rPr lang="zh-CN" altLang="en-US" sz="3600" dirty="0"/>
              <a:t> </a:t>
            </a:r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offset</a:t>
            </a:r>
            <a:r>
              <a:rPr lang="zh-CN" altLang="en-US" sz="3600" dirty="0"/>
              <a:t> </a:t>
            </a:r>
            <a:r>
              <a:rPr lang="en-US" altLang="zh-CN" sz="3600" dirty="0"/>
              <a:t>of</a:t>
            </a:r>
            <a:r>
              <a:rPr lang="zh-CN" altLang="en-US" sz="3600" dirty="0"/>
              <a:t> </a:t>
            </a:r>
            <a:r>
              <a:rPr lang="en-US" altLang="zh-CN" sz="3600" dirty="0"/>
              <a:t>each</a:t>
            </a:r>
            <a:r>
              <a:rPr lang="zh-CN" altLang="en-US" sz="3600" dirty="0"/>
              <a:t> </a:t>
            </a:r>
            <a:r>
              <a:rPr lang="en-US" altLang="zh-CN" sz="3600" dirty="0"/>
              <a:t>attribute?</a:t>
            </a:r>
          </a:p>
          <a:p>
            <a:r>
              <a:rPr lang="en-US" altLang="zh-CN" sz="3600" dirty="0"/>
              <a:t>Hint:</a:t>
            </a:r>
            <a:r>
              <a:rPr lang="zh-CN" altLang="en-US" sz="3600" dirty="0"/>
              <a:t> </a:t>
            </a:r>
            <a:r>
              <a:rPr lang="en-US" altLang="zh-CN" sz="3600" dirty="0"/>
              <a:t>Alignment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F2103-478F-056C-8665-4E32714B9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15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2AC643-C112-C70C-7E20-39AD782EBFF0}"/>
              </a:ext>
            </a:extLst>
          </p:cNvPr>
          <p:cNvSpPr txBox="1"/>
          <p:nvPr/>
        </p:nvSpPr>
        <p:spPr>
          <a:xfrm>
            <a:off x="1125913" y="2736502"/>
            <a:ext cx="3108543" cy="22467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stdint.h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int32_t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i32;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int8_t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i8;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int8_t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another;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int64_t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i64;</a:t>
            </a:r>
            <a:b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005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34AB2-0605-1F95-B3BE-F6B5C675F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91BF-5DCD-F539-1A61-89839D9F0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Struct</a:t>
            </a:r>
            <a:r>
              <a:rPr lang="zh-CN" altLang="en-US" sz="5400" dirty="0"/>
              <a:t> </a:t>
            </a:r>
            <a:r>
              <a:rPr lang="en-US" altLang="zh-CN" sz="5400" dirty="0"/>
              <a:t>(CONT’D)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4AF08-F9CD-2EB8-5A3E-27AFA6A8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struct</a:t>
            </a:r>
            <a:r>
              <a:rPr lang="zh-CN" altLang="en-US" sz="3600" dirty="0"/>
              <a:t> </a:t>
            </a:r>
            <a:r>
              <a:rPr lang="en-US" altLang="zh-CN" sz="3600" dirty="0"/>
              <a:t>should</a:t>
            </a:r>
            <a:r>
              <a:rPr lang="zh-CN" altLang="en-US" sz="3600" dirty="0"/>
              <a:t> </a:t>
            </a:r>
            <a:r>
              <a:rPr lang="en-US" altLang="zh-CN" sz="3600" dirty="0"/>
              <a:t>be</a:t>
            </a:r>
            <a:r>
              <a:rPr lang="zh-CN" altLang="en-US" sz="3600" dirty="0"/>
              <a:t> </a:t>
            </a:r>
            <a:r>
              <a:rPr lang="en-US" altLang="zh-CN" sz="3600" dirty="0"/>
              <a:t>biggest</a:t>
            </a:r>
            <a:r>
              <a:rPr lang="zh-CN" altLang="en-US" sz="3600" dirty="0"/>
              <a:t> </a:t>
            </a:r>
            <a:r>
              <a:rPr lang="en-US" altLang="zh-CN" sz="3600" dirty="0"/>
              <a:t>attribute</a:t>
            </a:r>
            <a:r>
              <a:rPr lang="zh-CN" altLang="en-US" sz="3600" dirty="0"/>
              <a:t> </a:t>
            </a:r>
            <a:r>
              <a:rPr lang="en-US" altLang="zh-CN" sz="3600" dirty="0"/>
              <a:t>aligned.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CN" sz="3600" dirty="0"/>
          </a:p>
          <a:p>
            <a:r>
              <a:rPr lang="en-US" altLang="zh-CN" sz="3600" dirty="0"/>
              <a:t>(+8)</a:t>
            </a:r>
            <a:r>
              <a:rPr lang="zh-CN" altLang="en-US" sz="3600" dirty="0"/>
              <a:t> </a:t>
            </a:r>
            <a:r>
              <a:rPr lang="en-US" altLang="zh-CN" sz="3600" dirty="0"/>
              <a:t>–</a:t>
            </a:r>
            <a:r>
              <a:rPr lang="zh-CN" altLang="en-US" sz="3600" dirty="0"/>
              <a:t> </a:t>
            </a:r>
            <a:r>
              <a:rPr lang="en-US" altLang="zh-CN" sz="3600" dirty="0"/>
              <a:t>(+5)</a:t>
            </a:r>
            <a:r>
              <a:rPr lang="zh-CN" altLang="en-US" sz="3600" dirty="0"/>
              <a:t> </a:t>
            </a:r>
            <a:r>
              <a:rPr lang="en-US" altLang="zh-CN" sz="3600" dirty="0"/>
              <a:t>=</a:t>
            </a:r>
            <a:r>
              <a:rPr lang="zh-CN" altLang="en-US" sz="3600" dirty="0"/>
              <a:t> </a:t>
            </a:r>
            <a:r>
              <a:rPr lang="en-US" altLang="zh-CN" sz="3600" dirty="0"/>
              <a:t>3,</a:t>
            </a:r>
            <a:r>
              <a:rPr lang="zh-CN" altLang="en-US" sz="3600" dirty="0"/>
              <a:t> </a:t>
            </a:r>
            <a:r>
              <a:rPr lang="en-US" altLang="zh-CN" sz="3600" dirty="0"/>
              <a:t>3</a:t>
            </a:r>
            <a:r>
              <a:rPr lang="zh-CN" altLang="en-US" sz="3600" dirty="0"/>
              <a:t> </a:t>
            </a:r>
            <a:r>
              <a:rPr lang="en-US" altLang="zh-CN" sz="3600" dirty="0"/>
              <a:t>bytes</a:t>
            </a:r>
            <a:r>
              <a:rPr lang="zh-CN" altLang="en-US" sz="3600" dirty="0"/>
              <a:t> </a:t>
            </a:r>
            <a:r>
              <a:rPr lang="en-US" altLang="zh-CN" sz="3600" dirty="0"/>
              <a:t>wasted</a:t>
            </a:r>
            <a:r>
              <a:rPr lang="zh-CN" altLang="en-US" sz="3600" dirty="0"/>
              <a:t> </a:t>
            </a:r>
            <a:r>
              <a:rPr lang="en-US" altLang="zh-CN" sz="3600" dirty="0"/>
              <a:t>by</a:t>
            </a:r>
            <a:r>
              <a:rPr lang="zh-CN" altLang="en-US" sz="3600" dirty="0"/>
              <a:t> </a:t>
            </a:r>
            <a:r>
              <a:rPr lang="en-US" altLang="zh-CN" sz="3600" dirty="0"/>
              <a:t>padding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15652-D392-ABC1-9AE2-0424BA58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16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51141F-3E1A-50C8-2F0C-CCD20F5A404C}"/>
              </a:ext>
            </a:extLst>
          </p:cNvPr>
          <p:cNvSpPr txBox="1"/>
          <p:nvPr/>
        </p:nvSpPr>
        <p:spPr>
          <a:xfrm>
            <a:off x="1125913" y="2736502"/>
            <a:ext cx="3750887" cy="22467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stdint.h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int32_t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i32;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+0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int8_t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i8;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+4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int8_t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another;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+5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int64_t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i64;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+8</a:t>
            </a:r>
            <a:b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02534A-940F-D7B1-7604-E04A6A519EA3}"/>
              </a:ext>
            </a:extLst>
          </p:cNvPr>
          <p:cNvSpPr txBox="1"/>
          <p:nvPr/>
        </p:nvSpPr>
        <p:spPr>
          <a:xfrm>
            <a:off x="5051351" y="3167388"/>
            <a:ext cx="670869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Alignment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CPU</a:t>
            </a:r>
            <a:r>
              <a:rPr lang="zh-CN" altLang="en-US" sz="2800" dirty="0"/>
              <a:t> </a:t>
            </a:r>
            <a:r>
              <a:rPr lang="en-US" altLang="zh-CN" sz="2800" dirty="0"/>
              <a:t>is</a:t>
            </a:r>
            <a:r>
              <a:rPr lang="zh-CN" altLang="en-US" sz="2800" dirty="0"/>
              <a:t> </a:t>
            </a:r>
            <a:r>
              <a:rPr lang="en-US" altLang="zh-CN" sz="2800" dirty="0"/>
              <a:t>byte-addressable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Each</a:t>
            </a:r>
            <a:r>
              <a:rPr lang="zh-CN" altLang="en-US" sz="2800" dirty="0"/>
              <a:t> </a:t>
            </a:r>
            <a:r>
              <a:rPr lang="en-US" altLang="zh-CN" sz="2800" dirty="0"/>
              <a:t>k-byte</a:t>
            </a:r>
            <a:r>
              <a:rPr lang="zh-CN" altLang="en-US" sz="2800" dirty="0"/>
              <a:t> </a:t>
            </a:r>
            <a:r>
              <a:rPr lang="en-US" altLang="zh-CN" sz="2800" dirty="0"/>
              <a:t>element</a:t>
            </a:r>
            <a:r>
              <a:rPr lang="zh-CN" altLang="en-US" sz="2800" dirty="0"/>
              <a:t> </a:t>
            </a:r>
            <a:r>
              <a:rPr lang="en-US" altLang="zh-CN" sz="2800" dirty="0"/>
              <a:t>should</a:t>
            </a:r>
            <a:r>
              <a:rPr lang="zh-CN" altLang="en-US" sz="2800" dirty="0"/>
              <a:t> </a:t>
            </a:r>
            <a:r>
              <a:rPr lang="en-US" altLang="zh-CN" sz="2800" dirty="0"/>
              <a:t>have</a:t>
            </a:r>
            <a:r>
              <a:rPr lang="zh-CN" altLang="en-US" sz="2800" dirty="0"/>
              <a:t> </a:t>
            </a:r>
            <a:r>
              <a:rPr lang="en-US" altLang="zh-CN" sz="2800" dirty="0"/>
              <a:t>%k==0</a:t>
            </a:r>
            <a:endParaRPr lang="en-CN" sz="2800" dirty="0"/>
          </a:p>
        </p:txBody>
      </p:sp>
    </p:spTree>
    <p:extLst>
      <p:ext uri="{BB962C8B-B14F-4D97-AF65-F5344CB8AC3E}">
        <p14:creationId xmlns:p14="http://schemas.microsoft.com/office/powerpoint/2010/main" val="3893743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9B6E7-FB23-5B84-EBCD-580333CA1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Union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58C1F-E32F-6E69-EC37-3C9748B1C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union?</a:t>
            </a:r>
          </a:p>
          <a:p>
            <a:r>
              <a:rPr lang="en-US" altLang="zh-CN" sz="3600" dirty="0"/>
              <a:t>How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union</a:t>
            </a:r>
            <a:r>
              <a:rPr lang="zh-CN" altLang="en-US" sz="3600" dirty="0"/>
              <a:t> </a:t>
            </a:r>
            <a:r>
              <a:rPr lang="en-US" altLang="zh-CN" sz="3600" dirty="0"/>
              <a:t>below</a:t>
            </a:r>
            <a:r>
              <a:rPr lang="zh-CN" altLang="en-US" sz="3600" dirty="0"/>
              <a:t> </a:t>
            </a:r>
            <a:r>
              <a:rPr lang="en-US" altLang="zh-CN" sz="3600" dirty="0"/>
              <a:t>aligned?</a:t>
            </a:r>
          </a:p>
          <a:p>
            <a:pPr lvl="1"/>
            <a:r>
              <a:rPr lang="en-US" altLang="zh-CN" sz="3200" dirty="0"/>
              <a:t>Assuming</a:t>
            </a:r>
            <a:r>
              <a:rPr lang="zh-CN" altLang="en-US" sz="3200" dirty="0"/>
              <a:t> </a:t>
            </a:r>
            <a:r>
              <a:rPr lang="en-US" altLang="zh-CN" sz="3200" dirty="0"/>
              <a:t>we</a:t>
            </a:r>
            <a:r>
              <a:rPr lang="zh-CN" altLang="en-US" sz="3200" dirty="0"/>
              <a:t> </a:t>
            </a:r>
            <a:r>
              <a:rPr lang="en-US" altLang="zh-CN" sz="3200" dirty="0"/>
              <a:t>have</a:t>
            </a:r>
            <a:r>
              <a:rPr lang="zh-CN" altLang="en-US" sz="3200" dirty="0"/>
              <a:t> </a:t>
            </a:r>
            <a:r>
              <a:rPr lang="en-US" altLang="zh-CN" sz="3200" dirty="0"/>
              <a:t>a</a:t>
            </a:r>
            <a:r>
              <a:rPr lang="zh-CN" altLang="en-US" sz="3200" dirty="0"/>
              <a:t> </a:t>
            </a:r>
            <a:r>
              <a:rPr lang="en-US" altLang="zh-CN" sz="3200" dirty="0"/>
              <a:t>64-bit</a:t>
            </a:r>
            <a:r>
              <a:rPr lang="zh-CN" altLang="en-US" sz="3200" dirty="0"/>
              <a:t> </a:t>
            </a:r>
            <a:r>
              <a:rPr lang="en-US" altLang="zh-CN" sz="3200" dirty="0"/>
              <a:t>machine</a:t>
            </a:r>
            <a:endParaRPr lang="en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4FE3B-D1B8-3297-17FF-9030729B3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17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FBA018-A3C9-16A9-99F4-9EFA395FF0BA}"/>
              </a:ext>
            </a:extLst>
          </p:cNvPr>
          <p:cNvSpPr txBox="1"/>
          <p:nvPr/>
        </p:nvSpPr>
        <p:spPr>
          <a:xfrm>
            <a:off x="1450766" y="3888095"/>
            <a:ext cx="3750887" cy="1631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stdint.h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union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047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FA3CF-A0E8-7D0A-AC90-8196A8D4D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49BA7-A275-85B0-CED9-59F5591DF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Union</a:t>
            </a:r>
            <a:r>
              <a:rPr lang="zh-CN" altLang="en-US" sz="5400" dirty="0"/>
              <a:t> </a:t>
            </a:r>
            <a:r>
              <a:rPr lang="en-US" altLang="zh-CN" sz="5400" dirty="0"/>
              <a:t>(Advanced</a:t>
            </a:r>
            <a:r>
              <a:rPr lang="zh-CN" altLang="en-US" sz="5400" dirty="0"/>
              <a:t> </a:t>
            </a:r>
            <a:r>
              <a:rPr lang="en-US" altLang="zh-CN" sz="5400" dirty="0"/>
              <a:t>Usage)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4EBED-CE6D-E9A6-225E-D79569D4D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union?</a:t>
            </a:r>
          </a:p>
          <a:p>
            <a:r>
              <a:rPr lang="en-US" altLang="zh-CN" sz="3600" dirty="0"/>
              <a:t>How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altLang="zh-CN" sz="3600" dirty="0"/>
              <a:t>understand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union</a:t>
            </a:r>
            <a:r>
              <a:rPr lang="zh-CN" altLang="en-US" sz="3600" dirty="0"/>
              <a:t> </a:t>
            </a:r>
            <a:r>
              <a:rPr lang="en-US" altLang="zh-CN" sz="3600" dirty="0" err="1"/>
              <a:t>below’s</a:t>
            </a:r>
            <a:r>
              <a:rPr lang="zh-CN" altLang="en-US" sz="3600" dirty="0"/>
              <a:t> </a:t>
            </a:r>
            <a:r>
              <a:rPr lang="en-US" altLang="zh-CN" sz="3600" dirty="0"/>
              <a:t>usage?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836DC-A09B-B1BE-FED2-3FD38647E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18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5AD3D2-A73C-213E-3631-245B4851FF03}"/>
              </a:ext>
            </a:extLst>
          </p:cNvPr>
          <p:cNvSpPr txBox="1"/>
          <p:nvPr/>
        </p:nvSpPr>
        <p:spPr>
          <a:xfrm>
            <a:off x="1005598" y="3197562"/>
            <a:ext cx="4011571" cy="34778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stdint.h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union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f,</a:t>
            </a:r>
          </a:p>
          <a:p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union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a;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a.f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1.0;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("%0x%x\n",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a.i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09EEE7-A9D3-32F3-178D-E5961FABC78B}"/>
              </a:ext>
            </a:extLst>
          </p:cNvPr>
          <p:cNvSpPr txBox="1"/>
          <p:nvPr/>
        </p:nvSpPr>
        <p:spPr>
          <a:xfrm>
            <a:off x="5705935" y="3197562"/>
            <a:ext cx="4881854" cy="1631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f;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)(&amp;f));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("0x%x\n",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8C5C9E-C6B9-A86C-52BA-2DFB19B78985}"/>
              </a:ext>
            </a:extLst>
          </p:cNvPr>
          <p:cNvSpPr txBox="1"/>
          <p:nvPr/>
        </p:nvSpPr>
        <p:spPr>
          <a:xfrm>
            <a:off x="5696869" y="5044221"/>
            <a:ext cx="4890920" cy="1631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f;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("0x%x\n",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reinterpret_cast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&lt;int&gt;(f));</a:t>
            </a:r>
          </a:p>
          <a:p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708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19522-E6F8-FB60-F7C2-907C79F1F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AC0BA-34C9-2FAE-3538-D8DE8A339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" y="387033"/>
            <a:ext cx="11948160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Quiz:</a:t>
            </a:r>
            <a:r>
              <a:rPr lang="zh-CN" altLang="en-US" sz="5400" dirty="0"/>
              <a:t> </a:t>
            </a:r>
            <a:r>
              <a:rPr lang="en-US" altLang="zh-CN" sz="5400" dirty="0"/>
              <a:t>How</a:t>
            </a:r>
            <a:r>
              <a:rPr lang="zh-CN" altLang="en-US" sz="5400" dirty="0"/>
              <a:t> </a:t>
            </a:r>
            <a:r>
              <a:rPr lang="en-US" altLang="zh-CN" sz="5400" dirty="0"/>
              <a:t>to</a:t>
            </a:r>
            <a:r>
              <a:rPr lang="zh-CN" altLang="en-US" sz="5400" dirty="0"/>
              <a:t> </a:t>
            </a:r>
            <a:r>
              <a:rPr lang="en-US" altLang="zh-CN" sz="5400" dirty="0"/>
              <a:t>optimize</a:t>
            </a:r>
            <a:r>
              <a:rPr lang="zh-CN" altLang="en-US" sz="5400" dirty="0"/>
              <a:t> </a:t>
            </a:r>
            <a:r>
              <a:rPr lang="en-US" altLang="zh-CN" sz="5400" dirty="0"/>
              <a:t>the</a:t>
            </a:r>
            <a:r>
              <a:rPr lang="zh-CN" altLang="en-US" sz="5400" dirty="0"/>
              <a:t> </a:t>
            </a:r>
            <a:r>
              <a:rPr lang="en-US" altLang="zh-CN" sz="5400" dirty="0"/>
              <a:t>memory</a:t>
            </a:r>
            <a:r>
              <a:rPr lang="zh-CN" altLang="en-US" sz="5400" dirty="0"/>
              <a:t> </a:t>
            </a:r>
            <a:r>
              <a:rPr lang="en-US" altLang="zh-CN" sz="5400" dirty="0"/>
              <a:t>layout?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E1477-9433-67CB-E595-3CBC22776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8610600" cy="4351338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Reorder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attributes</a:t>
            </a:r>
            <a:r>
              <a:rPr lang="zh-CN" altLang="en-US" sz="3600" dirty="0"/>
              <a:t> </a:t>
            </a:r>
            <a:r>
              <a:rPr lang="en-US" altLang="zh-CN" sz="3600" dirty="0"/>
              <a:t>below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altLang="zh-CN" sz="3600" dirty="0"/>
              <a:t>minimize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memory</a:t>
            </a:r>
            <a:r>
              <a:rPr lang="zh-CN" altLang="en-US" sz="3600" dirty="0"/>
              <a:t> </a:t>
            </a:r>
            <a:r>
              <a:rPr lang="en-US" altLang="zh-CN" sz="3600" dirty="0"/>
              <a:t>occupancy.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076D9-7B81-EE16-4EBE-B6DC943C5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19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AD2DF7-5B7F-1640-6F8F-1B16E0AE75F5}"/>
              </a:ext>
            </a:extLst>
          </p:cNvPr>
          <p:cNvSpPr txBox="1"/>
          <p:nvPr/>
        </p:nvSpPr>
        <p:spPr>
          <a:xfrm>
            <a:off x="1125913" y="2736502"/>
            <a:ext cx="3750887" cy="22467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stdint.h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int32_t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i32;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+0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int8_t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i8;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+4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int8_t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another;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+5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int64_t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i64;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+8</a:t>
            </a:r>
            <a:b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0924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BB6DA-2550-1A6C-5B3C-AC51B439A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A182D-96F7-0A98-EF56-D9376652C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42" y="387033"/>
            <a:ext cx="11467298" cy="1325563"/>
          </a:xfrm>
        </p:spPr>
        <p:txBody>
          <a:bodyPr>
            <a:normAutofit/>
          </a:bodyPr>
          <a:lstStyle/>
          <a:p>
            <a:r>
              <a:rPr lang="en-CN" sz="5400" dirty="0"/>
              <a:t>S</a:t>
            </a:r>
            <a:r>
              <a:rPr lang="en-US" altLang="zh-CN" sz="5400" dirty="0" err="1"/>
              <a:t>ummary</a:t>
            </a:r>
            <a:r>
              <a:rPr lang="en-US" altLang="zh-CN" sz="5400" dirty="0"/>
              <a:t>:</a:t>
            </a:r>
            <a:r>
              <a:rPr lang="zh-CN" altLang="en-US" sz="5400" dirty="0"/>
              <a:t> </a:t>
            </a:r>
            <a:r>
              <a:rPr lang="en-US" altLang="zh-CN" sz="5400" dirty="0"/>
              <a:t>Arrays,</a:t>
            </a:r>
            <a:r>
              <a:rPr lang="zh-CN" altLang="en-US" sz="5400" dirty="0"/>
              <a:t> </a:t>
            </a:r>
            <a:r>
              <a:rPr lang="en-US" altLang="zh-CN" sz="5400" dirty="0"/>
              <a:t>and</a:t>
            </a:r>
            <a:r>
              <a:rPr lang="zh-CN" altLang="en-US" sz="5400" dirty="0"/>
              <a:t> </a:t>
            </a:r>
            <a:r>
              <a:rPr lang="en-US" altLang="zh-CN" sz="5400" dirty="0"/>
              <a:t>Structs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06784-E48A-E340-6396-20F923FD1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1254740" cy="4351338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Both</a:t>
            </a:r>
            <a:r>
              <a:rPr lang="zh-CN" altLang="en-US" sz="3600" dirty="0"/>
              <a:t> </a:t>
            </a:r>
            <a:r>
              <a:rPr lang="en-US" altLang="zh-CN" sz="3600" dirty="0"/>
              <a:t>arrays</a:t>
            </a:r>
            <a:r>
              <a:rPr lang="zh-CN" altLang="en-US" sz="3600" dirty="0"/>
              <a:t> </a:t>
            </a:r>
            <a:r>
              <a:rPr lang="en-US" altLang="zh-CN" sz="3600" dirty="0"/>
              <a:t>and</a:t>
            </a:r>
            <a:r>
              <a:rPr lang="zh-CN" altLang="en-US" sz="3600" dirty="0"/>
              <a:t> </a:t>
            </a:r>
            <a:r>
              <a:rPr lang="en-US" altLang="zh-CN" sz="3600" dirty="0"/>
              <a:t>structs</a:t>
            </a:r>
            <a:r>
              <a:rPr lang="zh-CN" altLang="en-US" sz="3600" dirty="0"/>
              <a:t> </a:t>
            </a:r>
            <a:r>
              <a:rPr lang="en-US" altLang="zh-CN" sz="3600" dirty="0"/>
              <a:t>are</a:t>
            </a:r>
            <a:r>
              <a:rPr lang="zh-CN" altLang="en-US" sz="3600" dirty="0"/>
              <a:t> </a:t>
            </a:r>
            <a:r>
              <a:rPr lang="en-US" altLang="zh-CN" sz="3600" dirty="0"/>
              <a:t>essentially</a:t>
            </a:r>
            <a:r>
              <a:rPr lang="zh-CN" altLang="en-US" sz="3600" dirty="0"/>
              <a:t> </a:t>
            </a:r>
            <a:r>
              <a:rPr lang="en-US" altLang="zh-CN" sz="3600" dirty="0"/>
              <a:t>“pointer</a:t>
            </a:r>
            <a:r>
              <a:rPr lang="zh-CN" altLang="en-US" sz="3600" dirty="0"/>
              <a:t> </a:t>
            </a:r>
            <a:r>
              <a:rPr lang="en-US" altLang="zh-CN" sz="3600" dirty="0"/>
              <a:t>offsets”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9B4EB-9E11-056B-ED1C-7E9DBC5E6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20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9B98CB-28C4-B790-7669-E4C96FC711D1}"/>
              </a:ext>
            </a:extLst>
          </p:cNvPr>
          <p:cNvSpPr txBox="1"/>
          <p:nvPr/>
        </p:nvSpPr>
        <p:spPr>
          <a:xfrm>
            <a:off x="1198104" y="2411650"/>
            <a:ext cx="6044908" cy="37856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int32_t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i32;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+0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int8_t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i8;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+4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int8_t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another;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+5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int64_t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i64;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+8</a:t>
            </a:r>
            <a:b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a;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a.i64;</a:t>
            </a:r>
          </a:p>
          <a:p>
            <a:r>
              <a:rPr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int64_t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)(((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uint8_t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)&amp;a)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8);</a:t>
            </a:r>
          </a:p>
          <a:p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915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49285-F57B-3DCF-B199-3349A67CB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124"/>
            <a:ext cx="11353800" cy="1325563"/>
          </a:xfrm>
        </p:spPr>
        <p:txBody>
          <a:bodyPr>
            <a:normAutofit/>
          </a:bodyPr>
          <a:lstStyle/>
          <a:p>
            <a:r>
              <a:rPr lang="en-CN" sz="5400" dirty="0"/>
              <a:t>S</a:t>
            </a:r>
            <a:r>
              <a:rPr lang="en-US" altLang="zh-CN" sz="5400" dirty="0" err="1"/>
              <a:t>ummary</a:t>
            </a:r>
            <a:r>
              <a:rPr lang="en-US" altLang="zh-CN" sz="5400" dirty="0"/>
              <a:t>:</a:t>
            </a:r>
            <a:r>
              <a:rPr lang="zh-CN" altLang="en-US" sz="5400" dirty="0"/>
              <a:t> </a:t>
            </a:r>
            <a:r>
              <a:rPr lang="en-US" altLang="zh-CN" sz="5400" dirty="0"/>
              <a:t>Arrays,</a:t>
            </a:r>
            <a:r>
              <a:rPr lang="zh-CN" altLang="en-US" sz="5400" dirty="0"/>
              <a:t> </a:t>
            </a:r>
            <a:r>
              <a:rPr lang="en-US" altLang="zh-CN" sz="5400" dirty="0"/>
              <a:t>and</a:t>
            </a:r>
            <a:r>
              <a:rPr lang="zh-CN" altLang="en-US" sz="5400" dirty="0"/>
              <a:t> </a:t>
            </a:r>
            <a:r>
              <a:rPr lang="en-US" altLang="zh-CN" sz="5400" dirty="0"/>
              <a:t>Structs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57016-33B9-8F65-2782-79DB1A362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631" y="1916112"/>
            <a:ext cx="11353799" cy="4761414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Both</a:t>
            </a:r>
            <a:r>
              <a:rPr lang="zh-CN" altLang="en-US" sz="3600" dirty="0"/>
              <a:t> </a:t>
            </a:r>
            <a:r>
              <a:rPr lang="en-US" altLang="zh-CN" sz="3600" dirty="0"/>
              <a:t>arrays</a:t>
            </a:r>
            <a:r>
              <a:rPr lang="zh-CN" altLang="en-US" sz="3600" dirty="0"/>
              <a:t> </a:t>
            </a:r>
            <a:r>
              <a:rPr lang="en-US" altLang="zh-CN" sz="3600" dirty="0"/>
              <a:t>and</a:t>
            </a:r>
            <a:r>
              <a:rPr lang="zh-CN" altLang="en-US" sz="3600" dirty="0"/>
              <a:t> </a:t>
            </a:r>
            <a:r>
              <a:rPr lang="en-US" altLang="zh-CN" sz="3600" dirty="0"/>
              <a:t>structs</a:t>
            </a:r>
            <a:r>
              <a:rPr lang="zh-CN" altLang="en-US" sz="3600" dirty="0"/>
              <a:t> </a:t>
            </a:r>
            <a:r>
              <a:rPr lang="en-US" altLang="zh-CN" sz="3600" dirty="0"/>
              <a:t>are</a:t>
            </a:r>
            <a:r>
              <a:rPr lang="zh-CN" altLang="en-US" sz="3600" dirty="0"/>
              <a:t> </a:t>
            </a:r>
            <a:r>
              <a:rPr lang="en-US" altLang="zh-CN" sz="3600" dirty="0"/>
              <a:t>essentially</a:t>
            </a:r>
            <a:r>
              <a:rPr lang="zh-CN" altLang="en-US" sz="3600" dirty="0"/>
              <a:t> </a:t>
            </a:r>
            <a:r>
              <a:rPr lang="en-US" altLang="zh-CN" sz="3600" dirty="0"/>
              <a:t>“pointer</a:t>
            </a:r>
            <a:r>
              <a:rPr lang="zh-CN" altLang="en-US" sz="3600" dirty="0"/>
              <a:t> </a:t>
            </a:r>
            <a:r>
              <a:rPr lang="en-US" altLang="zh-CN" sz="3600" dirty="0"/>
              <a:t>offsets”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CN" sz="3200" dirty="0"/>
          </a:p>
          <a:p>
            <a:r>
              <a:rPr lang="en-US" altLang="zh-CN" sz="3200" dirty="0"/>
              <a:t>To</a:t>
            </a:r>
            <a:r>
              <a:rPr lang="zh-CN" altLang="en-US" sz="3200" dirty="0"/>
              <a:t> </a:t>
            </a:r>
            <a:r>
              <a:rPr lang="en-US" altLang="zh-CN" sz="3200" dirty="0"/>
              <a:t>conclude,</a:t>
            </a:r>
            <a:r>
              <a:rPr lang="zh-CN" altLang="en-US" sz="3200" dirty="0"/>
              <a:t> </a:t>
            </a:r>
            <a:r>
              <a:rPr lang="en-US" altLang="zh-CN" sz="3200" dirty="0"/>
              <a:t>I</a:t>
            </a:r>
            <a:r>
              <a:rPr lang="zh-CN" altLang="en-US" sz="3200" dirty="0"/>
              <a:t> </a:t>
            </a:r>
            <a:r>
              <a:rPr lang="en-US" altLang="zh-CN" sz="3200" dirty="0"/>
              <a:t>would</a:t>
            </a:r>
            <a:r>
              <a:rPr lang="zh-CN" altLang="en-US" sz="3200" dirty="0"/>
              <a:t> </a:t>
            </a:r>
            <a:r>
              <a:rPr lang="en-US" altLang="zh-CN" sz="3200" dirty="0"/>
              <a:t>rather</a:t>
            </a:r>
            <a:r>
              <a:rPr lang="zh-CN" altLang="en-US" sz="3200" dirty="0"/>
              <a:t> </a:t>
            </a:r>
            <a:r>
              <a:rPr lang="en-US" altLang="zh-CN" sz="3200" dirty="0"/>
              <a:t>call</a:t>
            </a:r>
            <a:r>
              <a:rPr lang="zh-CN" altLang="en-US" sz="3200" dirty="0"/>
              <a:t> </a:t>
            </a:r>
            <a:r>
              <a:rPr lang="en-US" altLang="zh-CN" sz="3200" dirty="0"/>
              <a:t>struct</a:t>
            </a:r>
            <a:r>
              <a:rPr lang="zh-CN" altLang="en-US" sz="3200" dirty="0"/>
              <a:t> </a:t>
            </a:r>
            <a:r>
              <a:rPr lang="en-US" altLang="zh-CN" sz="3200" dirty="0"/>
              <a:t>a</a:t>
            </a:r>
            <a:r>
              <a:rPr lang="zh-CN" altLang="en-US" sz="3200" dirty="0"/>
              <a:t> </a:t>
            </a:r>
            <a:r>
              <a:rPr lang="en-US" altLang="zh-CN" sz="3200" dirty="0"/>
              <a:t>“heterogeneous</a:t>
            </a:r>
            <a:r>
              <a:rPr lang="zh-CN" altLang="en-US" sz="3200" dirty="0"/>
              <a:t> </a:t>
            </a:r>
            <a:r>
              <a:rPr lang="en-US" altLang="zh-CN" sz="3200"/>
              <a:t>array”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6F142-7096-4611-B440-87AE3A589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21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984D11-FECE-F478-053F-A9A6C35FBFD6}"/>
              </a:ext>
            </a:extLst>
          </p:cNvPr>
          <p:cNvSpPr txBox="1"/>
          <p:nvPr/>
        </p:nvSpPr>
        <p:spPr>
          <a:xfrm>
            <a:off x="2455343" y="2644669"/>
            <a:ext cx="6580372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uint32_t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a[100];</a:t>
            </a:r>
          </a:p>
          <a:p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Normally</a:t>
            </a:r>
          </a:p>
          <a:p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a[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it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down!</a:t>
            </a:r>
          </a:p>
          <a:p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(((</a:t>
            </a:r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int8_t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)a)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4)</a:t>
            </a:r>
          </a:p>
          <a:p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</p:txBody>
      </p:sp>
    </p:spTree>
    <p:extLst>
      <p:ext uri="{BB962C8B-B14F-4D97-AF65-F5344CB8AC3E}">
        <p14:creationId xmlns:p14="http://schemas.microsoft.com/office/powerpoint/2010/main" val="16199456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93BFE-ADA2-F3F5-0658-1E168DE0F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F619E-6579-0C28-9A99-5995C2768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124"/>
            <a:ext cx="11353800" cy="1325563"/>
          </a:xfrm>
        </p:spPr>
        <p:txBody>
          <a:bodyPr>
            <a:normAutofit/>
          </a:bodyPr>
          <a:lstStyle/>
          <a:p>
            <a:r>
              <a:rPr lang="en-CN" sz="5400" dirty="0"/>
              <a:t>S</a:t>
            </a:r>
            <a:r>
              <a:rPr lang="en-US" altLang="zh-CN" sz="5400" dirty="0" err="1"/>
              <a:t>ummary</a:t>
            </a:r>
            <a:r>
              <a:rPr lang="en-US" altLang="zh-CN" sz="5400" dirty="0"/>
              <a:t>:</a:t>
            </a:r>
            <a:r>
              <a:rPr lang="zh-CN" altLang="en-US" sz="5400" dirty="0"/>
              <a:t> </a:t>
            </a:r>
            <a:r>
              <a:rPr lang="en-US" altLang="zh-CN" sz="5400" dirty="0"/>
              <a:t>Arrays,</a:t>
            </a:r>
            <a:r>
              <a:rPr lang="zh-CN" altLang="en-US" sz="5400" dirty="0"/>
              <a:t> </a:t>
            </a:r>
            <a:r>
              <a:rPr lang="en-US" altLang="zh-CN" sz="5400" dirty="0"/>
              <a:t>and</a:t>
            </a:r>
            <a:r>
              <a:rPr lang="zh-CN" altLang="en-US" sz="5400" dirty="0"/>
              <a:t> </a:t>
            </a:r>
            <a:r>
              <a:rPr lang="en-US" altLang="zh-CN" sz="5400" dirty="0"/>
              <a:t>Structs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ECE21-32CF-07ED-EFF4-584AA9D4E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632" y="1916112"/>
            <a:ext cx="11151268" cy="4351338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are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differences</a:t>
            </a:r>
            <a:r>
              <a:rPr lang="zh-CN" altLang="en-US" sz="3600" dirty="0"/>
              <a:t> </a:t>
            </a:r>
            <a:r>
              <a:rPr lang="en-US" altLang="zh-CN" sz="3600" dirty="0"/>
              <a:t>between</a:t>
            </a:r>
            <a:r>
              <a:rPr lang="zh-CN" altLang="en-US" sz="3600" dirty="0"/>
              <a:t> </a:t>
            </a:r>
            <a:r>
              <a:rPr lang="en-US" altLang="zh-CN" sz="3600" dirty="0"/>
              <a:t>these</a:t>
            </a:r>
            <a:r>
              <a:rPr lang="zh-CN" altLang="en-US" sz="3600" dirty="0"/>
              <a:t> </a:t>
            </a:r>
            <a:r>
              <a:rPr lang="en-US" altLang="zh-CN" sz="3600" dirty="0"/>
              <a:t>two?</a:t>
            </a:r>
          </a:p>
          <a:p>
            <a:endParaRPr lang="en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B4691-7318-F5EA-981D-A08715E89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22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5ADB5E-55C8-1188-2514-2AEC7B55F69E}"/>
              </a:ext>
            </a:extLst>
          </p:cNvPr>
          <p:cNvSpPr txBox="1"/>
          <p:nvPr/>
        </p:nvSpPr>
        <p:spPr>
          <a:xfrm>
            <a:off x="2322996" y="2752953"/>
            <a:ext cx="6580372" cy="22467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uint32_t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a[100];</a:t>
            </a:r>
          </a:p>
          <a:p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Be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careful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about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left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</a:p>
          <a:p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right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</a:p>
          <a:p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a[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2;</a:t>
            </a:r>
          </a:p>
          <a:p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a[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d;</a:t>
            </a:r>
          </a:p>
        </p:txBody>
      </p:sp>
    </p:spTree>
    <p:extLst>
      <p:ext uri="{BB962C8B-B14F-4D97-AF65-F5344CB8AC3E}">
        <p14:creationId xmlns:p14="http://schemas.microsoft.com/office/powerpoint/2010/main" val="2899359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75729-828C-D377-6066-4990B6D49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Function</a:t>
            </a:r>
            <a:r>
              <a:rPr lang="zh-CN" altLang="en-US" sz="5400" dirty="0"/>
              <a:t> </a:t>
            </a:r>
            <a:r>
              <a:rPr lang="en-US" altLang="zh-CN" sz="5400" dirty="0"/>
              <a:t>Signature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1EEB6-022B-DFBC-62AB-D0F375567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05444" cy="4351338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An</a:t>
            </a:r>
            <a:r>
              <a:rPr lang="zh-CN" altLang="en-US" sz="3200" dirty="0"/>
              <a:t> </a:t>
            </a:r>
            <a:r>
              <a:rPr lang="en-US" altLang="zh-CN" sz="3200" dirty="0"/>
              <a:t>"Identifier"</a:t>
            </a:r>
            <a:r>
              <a:rPr lang="zh-CN" altLang="en-US" sz="3200" dirty="0"/>
              <a:t> </a:t>
            </a:r>
            <a:r>
              <a:rPr lang="en-US" altLang="zh-CN" sz="3200" dirty="0"/>
              <a:t>to</a:t>
            </a:r>
            <a:r>
              <a:rPr lang="zh-CN" altLang="en-US" sz="3200" dirty="0"/>
              <a:t> </a:t>
            </a: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/>
              <a:t>function</a:t>
            </a:r>
          </a:p>
          <a:p>
            <a:endParaRPr lang="en-US" altLang="zh-CN" sz="3200" dirty="0"/>
          </a:p>
          <a:p>
            <a:endParaRPr lang="en-US" altLang="zh-CN" sz="3200" dirty="0"/>
          </a:p>
          <a:p>
            <a:r>
              <a:rPr lang="en-US" altLang="zh-CN" sz="3200" dirty="0"/>
              <a:t>In</a:t>
            </a:r>
            <a:r>
              <a:rPr lang="zh-CN" altLang="en-US" sz="3200" dirty="0"/>
              <a:t> </a:t>
            </a:r>
            <a:r>
              <a:rPr lang="en-US" altLang="zh-CN" sz="3200" dirty="0"/>
              <a:t>C,</a:t>
            </a:r>
            <a:r>
              <a:rPr lang="zh-CN" altLang="en-US" sz="3200" dirty="0"/>
              <a:t> </a:t>
            </a:r>
            <a:r>
              <a:rPr lang="en-US" altLang="zh-CN" sz="3200" dirty="0"/>
              <a:t>this</a:t>
            </a:r>
            <a:r>
              <a:rPr lang="zh-CN" altLang="en-US" sz="3200" dirty="0"/>
              <a:t> </a:t>
            </a:r>
            <a:r>
              <a:rPr lang="en-US" altLang="zh-CN" sz="3200" dirty="0"/>
              <a:t>identifier</a:t>
            </a:r>
            <a:r>
              <a:rPr lang="zh-CN" altLang="en-US" sz="3200" dirty="0"/>
              <a:t> </a:t>
            </a:r>
            <a:r>
              <a:rPr lang="en-US" altLang="zh-CN" sz="3200" dirty="0"/>
              <a:t>is</a:t>
            </a:r>
            <a:r>
              <a:rPr lang="zh-CN" altLang="en-US" sz="3200" dirty="0"/>
              <a:t> </a:t>
            </a:r>
            <a:r>
              <a:rPr lang="en-US" altLang="zh-CN" sz="3200" dirty="0"/>
              <a:t>not</a:t>
            </a:r>
            <a:r>
              <a:rPr lang="zh-CN" altLang="en-US" sz="3200" dirty="0"/>
              <a:t> </a:t>
            </a:r>
            <a:r>
              <a:rPr lang="en-US" altLang="zh-CN" sz="3200" dirty="0"/>
              <a:t>ambiguous</a:t>
            </a:r>
            <a:endParaRPr lang="en-US" altLang="zh-CN" dirty="0"/>
          </a:p>
          <a:p>
            <a:pPr lvl="1"/>
            <a:r>
              <a:rPr lang="en-US" altLang="zh-CN" sz="2800" dirty="0"/>
              <a:t>The</a:t>
            </a:r>
            <a:r>
              <a:rPr lang="zh-CN" altLang="en-US" sz="2800" dirty="0"/>
              <a:t> </a:t>
            </a:r>
            <a:r>
              <a:rPr lang="en-US" altLang="zh-CN" sz="2800" dirty="0"/>
              <a:t>parsed</a:t>
            </a:r>
            <a:r>
              <a:rPr lang="zh-CN" altLang="en-US" sz="2800" dirty="0"/>
              <a:t> </a:t>
            </a:r>
            <a:r>
              <a:rPr lang="en-US" altLang="zh-CN" sz="2800" dirty="0"/>
              <a:t>identifier</a:t>
            </a:r>
            <a:r>
              <a:rPr lang="zh-CN" altLang="en-US" sz="2800" dirty="0"/>
              <a:t> </a:t>
            </a:r>
            <a:r>
              <a:rPr lang="en-US" altLang="zh-CN" sz="2800" dirty="0"/>
              <a:t>token</a:t>
            </a:r>
            <a:r>
              <a:rPr lang="zh-CN" altLang="en-US" sz="2800" dirty="0"/>
              <a:t> </a:t>
            </a:r>
            <a:r>
              <a:rPr lang="en-US" altLang="zh-CN" sz="2800" dirty="0"/>
              <a:t>is</a:t>
            </a:r>
            <a:r>
              <a:rPr lang="zh-CN" altLang="en-US" sz="2800" dirty="0"/>
              <a:t> </a:t>
            </a:r>
            <a:r>
              <a:rPr lang="en-US" altLang="zh-CN" sz="2800" dirty="0"/>
              <a:t>also</a:t>
            </a:r>
            <a:r>
              <a:rPr lang="zh-CN" altLang="en-US" sz="2800" dirty="0"/>
              <a:t> </a:t>
            </a:r>
            <a:r>
              <a:rPr lang="en-US" altLang="zh-CN" sz="2800" dirty="0"/>
              <a:t>the</a:t>
            </a:r>
            <a:r>
              <a:rPr lang="zh-CN" altLang="en-US" sz="2800" dirty="0"/>
              <a:t> </a:t>
            </a:r>
            <a:r>
              <a:rPr lang="en-US" altLang="zh-CN" sz="2800" dirty="0"/>
              <a:t>only</a:t>
            </a:r>
            <a:r>
              <a:rPr lang="zh-CN" altLang="en-US" sz="2800" dirty="0"/>
              <a:t> </a:t>
            </a:r>
            <a:r>
              <a:rPr lang="en-US" altLang="zh-CN" sz="2800" dirty="0"/>
              <a:t>identifier</a:t>
            </a:r>
            <a:r>
              <a:rPr lang="zh-CN" altLang="en-US" sz="2800" dirty="0"/>
              <a:t> </a:t>
            </a:r>
            <a:r>
              <a:rPr lang="en-US" altLang="zh-CN" sz="2800" dirty="0"/>
              <a:t>to</a:t>
            </a:r>
            <a:r>
              <a:rPr lang="zh-CN" altLang="en-US" sz="2800" dirty="0"/>
              <a:t> </a:t>
            </a:r>
            <a:r>
              <a:rPr lang="en-US" altLang="zh-CN" sz="2800" dirty="0"/>
              <a:t>the</a:t>
            </a:r>
            <a:r>
              <a:rPr lang="zh-CN" altLang="en-US" sz="2800" dirty="0"/>
              <a:t> </a:t>
            </a:r>
            <a:r>
              <a:rPr lang="en-US" altLang="zh-CN" sz="2800" dirty="0"/>
              <a:t>function</a:t>
            </a:r>
          </a:p>
          <a:p>
            <a:r>
              <a:rPr lang="en-US" altLang="zh-CN" sz="3200" dirty="0"/>
              <a:t>But…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6F3D9-B7F3-4845-87CC-F30B206A4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23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966EC2-9E30-3074-DB38-E89D43FFB8D0}"/>
              </a:ext>
            </a:extLst>
          </p:cNvPr>
          <p:cNvSpPr txBox="1"/>
          <p:nvPr/>
        </p:nvSpPr>
        <p:spPr>
          <a:xfrm>
            <a:off x="1095021" y="2668059"/>
            <a:ext cx="2332690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foo();</a:t>
            </a:r>
            <a:endParaRPr lang="en-CN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4345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53CA2-AB1C-6819-2083-FC5EF0AD1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Function</a:t>
            </a:r>
            <a:r>
              <a:rPr lang="zh-CN" altLang="en-US" sz="5400" dirty="0"/>
              <a:t> </a:t>
            </a:r>
            <a:r>
              <a:rPr lang="en-US" altLang="zh-CN" sz="5400" dirty="0"/>
              <a:t>Signature</a:t>
            </a:r>
            <a:r>
              <a:rPr lang="zh-CN" altLang="en-US" sz="5400" dirty="0"/>
              <a:t> </a:t>
            </a:r>
            <a:r>
              <a:rPr lang="en-US" altLang="zh-CN" sz="5400" dirty="0"/>
              <a:t>(CONT’D)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57AA5-B1BF-F871-9D07-40AE68E10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I</a:t>
            </a:r>
            <a:r>
              <a:rPr lang="zh-CN" altLang="en-US" sz="3200" dirty="0"/>
              <a:t> </a:t>
            </a:r>
            <a:r>
              <a:rPr lang="en-US" altLang="zh-CN" sz="3200" dirty="0"/>
              <a:t>did</a:t>
            </a:r>
            <a:r>
              <a:rPr lang="zh-CN" altLang="en-US" sz="3200" dirty="0"/>
              <a:t> </a:t>
            </a:r>
            <a:r>
              <a:rPr lang="en-US" altLang="zh-CN" sz="3200" dirty="0"/>
              <a:t>not</a:t>
            </a:r>
            <a:r>
              <a:rPr lang="zh-CN" altLang="en-US" sz="3200" dirty="0"/>
              <a:t> </a:t>
            </a:r>
            <a:r>
              <a:rPr lang="en-US" altLang="zh-CN" sz="3200" dirty="0"/>
              <a:t>talk</a:t>
            </a:r>
            <a:r>
              <a:rPr lang="zh-CN" altLang="en-US" sz="3200" dirty="0"/>
              <a:t> </a:t>
            </a:r>
            <a:r>
              <a:rPr lang="en-US" altLang="zh-CN" sz="3200" dirty="0"/>
              <a:t>about</a:t>
            </a:r>
            <a:r>
              <a:rPr lang="zh-CN" altLang="en-US" sz="3200" dirty="0"/>
              <a:t> </a:t>
            </a:r>
            <a:r>
              <a:rPr lang="en-US" altLang="zh-CN" sz="3200" dirty="0"/>
              <a:t>this</a:t>
            </a:r>
            <a:r>
              <a:rPr lang="zh-CN" altLang="en-US" sz="3200" dirty="0"/>
              <a:t> </a:t>
            </a:r>
            <a:r>
              <a:rPr lang="en-US" altLang="zh-CN" sz="3200" dirty="0"/>
              <a:t>syntactical</a:t>
            </a:r>
            <a:r>
              <a:rPr lang="zh-CN" altLang="en-US" sz="3200" dirty="0"/>
              <a:t> </a:t>
            </a:r>
            <a:r>
              <a:rPr lang="en-US" altLang="zh-CN" sz="3200" dirty="0"/>
              <a:t>sugar</a:t>
            </a:r>
            <a:r>
              <a:rPr lang="zh-CN" altLang="en-US" sz="3200" dirty="0"/>
              <a:t> </a:t>
            </a:r>
            <a:r>
              <a:rPr lang="en-US" altLang="zh-CN" sz="3200" dirty="0"/>
              <a:t>in</a:t>
            </a:r>
            <a:r>
              <a:rPr lang="zh-CN" altLang="en-US" sz="3200" dirty="0"/>
              <a:t> </a:t>
            </a:r>
            <a:r>
              <a:rPr lang="en-US" altLang="zh-CN" sz="3200" dirty="0"/>
              <a:t>last</a:t>
            </a:r>
            <a:r>
              <a:rPr lang="zh-CN" altLang="en-US" sz="3200" dirty="0"/>
              <a:t> </a:t>
            </a:r>
            <a:r>
              <a:rPr lang="en-US" altLang="zh-CN" sz="3200" dirty="0"/>
              <a:t>class</a:t>
            </a:r>
          </a:p>
          <a:p>
            <a:pPr lvl="1"/>
            <a:r>
              <a:rPr lang="en-US" altLang="zh-CN" sz="2800" dirty="0"/>
              <a:t>Because</a:t>
            </a:r>
            <a:r>
              <a:rPr lang="zh-CN" altLang="en-US" sz="2800" dirty="0"/>
              <a:t> </a:t>
            </a:r>
            <a:r>
              <a:rPr lang="en-US" altLang="zh-CN" sz="2800" dirty="0"/>
              <a:t>I</a:t>
            </a:r>
            <a:r>
              <a:rPr lang="zh-CN" altLang="en-US" sz="2800" dirty="0"/>
              <a:t> </a:t>
            </a:r>
            <a:r>
              <a:rPr lang="en-US" altLang="zh-CN" sz="2800" dirty="0"/>
              <a:t>think</a:t>
            </a:r>
            <a:r>
              <a:rPr lang="zh-CN" altLang="en-US" sz="2800" dirty="0"/>
              <a:t> </a:t>
            </a:r>
            <a:r>
              <a:rPr lang="en-US" altLang="zh-CN" sz="2800" dirty="0"/>
              <a:t>it</a:t>
            </a:r>
            <a:r>
              <a:rPr lang="zh-CN" altLang="en-US" sz="2800" dirty="0"/>
              <a:t> </a:t>
            </a:r>
            <a:r>
              <a:rPr lang="en-US" altLang="zh-CN" sz="2800" dirty="0"/>
              <a:t>is</a:t>
            </a:r>
            <a:r>
              <a:rPr lang="zh-CN" altLang="en-US" sz="2800" dirty="0"/>
              <a:t> </a:t>
            </a:r>
            <a:r>
              <a:rPr lang="en-US" altLang="zh-CN" sz="2800" dirty="0"/>
              <a:t>evil</a:t>
            </a:r>
            <a:r>
              <a:rPr lang="zh-CN" altLang="en-US" sz="2800" dirty="0"/>
              <a:t> </a:t>
            </a:r>
            <a:r>
              <a:rPr lang="en-US" altLang="zh-CN" sz="2800" dirty="0"/>
              <a:t>🤦🏻‍♀️</a:t>
            </a:r>
            <a:r>
              <a:rPr lang="zh-CN" altLang="en-US" sz="2800" dirty="0"/>
              <a:t> </a:t>
            </a:r>
            <a:endParaRPr lang="en-US" altLang="zh-CN" sz="2800" dirty="0"/>
          </a:p>
          <a:p>
            <a:pPr lvl="1"/>
            <a:r>
              <a:rPr lang="en-CN" sz="2800" dirty="0"/>
              <a:t>T</a:t>
            </a:r>
            <a:r>
              <a:rPr lang="en-US" altLang="zh-CN" sz="2800" dirty="0"/>
              <a:t>his</a:t>
            </a:r>
            <a:r>
              <a:rPr lang="zh-CN" altLang="en-US" sz="2800" dirty="0"/>
              <a:t> </a:t>
            </a:r>
            <a:r>
              <a:rPr lang="en-US" altLang="zh-CN" sz="2800" dirty="0"/>
              <a:t>implicit</a:t>
            </a:r>
            <a:r>
              <a:rPr lang="zh-CN" altLang="en-US" sz="2800" dirty="0"/>
              <a:t> </a:t>
            </a:r>
            <a:r>
              <a:rPr lang="en-US" altLang="zh-CN" sz="2800" dirty="0"/>
              <a:t>signature</a:t>
            </a:r>
            <a:r>
              <a:rPr lang="zh-CN" altLang="en-US" sz="2800" dirty="0"/>
              <a:t> </a:t>
            </a:r>
            <a:r>
              <a:rPr lang="en-US" altLang="zh-CN" sz="2800" dirty="0"/>
              <a:t>style</a:t>
            </a:r>
            <a:r>
              <a:rPr lang="zh-CN" altLang="en-US" sz="2800" dirty="0"/>
              <a:t> </a:t>
            </a:r>
            <a:r>
              <a:rPr lang="en-US" altLang="zh-CN" sz="2800" dirty="0"/>
              <a:t>is</a:t>
            </a:r>
            <a:r>
              <a:rPr lang="zh-CN" altLang="en-US" sz="2800" dirty="0"/>
              <a:t> </a:t>
            </a:r>
            <a:r>
              <a:rPr lang="en-US" altLang="zh-CN" sz="2800" dirty="0"/>
              <a:t>explicitly</a:t>
            </a:r>
            <a:r>
              <a:rPr lang="zh-CN" altLang="en-US" sz="2800" dirty="0"/>
              <a:t> </a:t>
            </a:r>
            <a:r>
              <a:rPr lang="en-US" altLang="zh-CN" sz="2800" dirty="0"/>
              <a:t>disabled</a:t>
            </a:r>
            <a:r>
              <a:rPr lang="zh-CN" altLang="en-US" sz="2800" dirty="0"/>
              <a:t> </a:t>
            </a:r>
            <a:r>
              <a:rPr lang="en-US" altLang="zh-CN" sz="2800" dirty="0"/>
              <a:t>in</a:t>
            </a:r>
            <a:r>
              <a:rPr lang="zh-CN" altLang="en-US" sz="2800" dirty="0"/>
              <a:t> </a:t>
            </a:r>
            <a:r>
              <a:rPr lang="en-US" altLang="zh-CN" sz="2800" dirty="0"/>
              <a:t>modern</a:t>
            </a:r>
            <a:r>
              <a:rPr lang="zh-CN" altLang="en-US" sz="2800" dirty="0"/>
              <a:t> </a:t>
            </a:r>
            <a:r>
              <a:rPr lang="en-US" altLang="zh-CN" sz="2800" dirty="0"/>
              <a:t>languages</a:t>
            </a:r>
            <a:r>
              <a:rPr lang="zh-CN" altLang="en-US" sz="2800" dirty="0"/>
              <a:t> </a:t>
            </a:r>
            <a:r>
              <a:rPr lang="en-US" altLang="zh-CN" sz="2800" dirty="0"/>
              <a:t>because</a:t>
            </a:r>
            <a:r>
              <a:rPr lang="zh-CN" altLang="en-US" sz="2800" dirty="0"/>
              <a:t> </a:t>
            </a:r>
            <a:r>
              <a:rPr lang="en-US" altLang="zh-CN" sz="2800" dirty="0"/>
              <a:t>error-prone</a:t>
            </a:r>
            <a:endParaRPr lang="en-CN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77103-57F3-BAE6-03ED-EE72E7EB0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24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2A5525-35E5-0FB0-28A4-CDD38F0FF590}"/>
              </a:ext>
            </a:extLst>
          </p:cNvPr>
          <p:cNvSpPr txBox="1"/>
          <p:nvPr/>
        </p:nvSpPr>
        <p:spPr>
          <a:xfrm>
            <a:off x="1507066" y="4450152"/>
            <a:ext cx="3318537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foo();</a:t>
            </a:r>
          </a:p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foo(int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x);</a:t>
            </a:r>
          </a:p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foo(float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x);</a:t>
            </a:r>
            <a:endParaRPr lang="en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F2278E-C560-9776-EE2D-B0089FEF8D6D}"/>
              </a:ext>
            </a:extLst>
          </p:cNvPr>
          <p:cNvSpPr txBox="1"/>
          <p:nvPr/>
        </p:nvSpPr>
        <p:spPr>
          <a:xfrm>
            <a:off x="1507066" y="3770461"/>
            <a:ext cx="553068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clang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main.c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–S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–emit-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llvm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-c</a:t>
            </a:r>
            <a:endParaRPr lang="en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09DFA8-0D96-B138-A948-EE80AFF49F29}"/>
              </a:ext>
            </a:extLst>
          </p:cNvPr>
          <p:cNvSpPr txBox="1"/>
          <p:nvPr/>
        </p:nvSpPr>
        <p:spPr>
          <a:xfrm>
            <a:off x="5494469" y="4450151"/>
            <a:ext cx="1475084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_Z3foov</a:t>
            </a:r>
          </a:p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_Z3fooi</a:t>
            </a:r>
          </a:p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_Z3foof</a:t>
            </a:r>
            <a:endParaRPr lang="en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827414-84DB-579B-E546-1FFD82542F24}"/>
              </a:ext>
            </a:extLst>
          </p:cNvPr>
          <p:cNvSpPr/>
          <p:nvPr/>
        </p:nvSpPr>
        <p:spPr>
          <a:xfrm>
            <a:off x="5542843" y="4526844"/>
            <a:ext cx="389467" cy="1078089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58F2C5-A0CA-16BD-4BF9-F7F53F929B62}"/>
              </a:ext>
            </a:extLst>
          </p:cNvPr>
          <p:cNvSpPr/>
          <p:nvPr/>
        </p:nvSpPr>
        <p:spPr>
          <a:xfrm>
            <a:off x="5966574" y="4526844"/>
            <a:ext cx="693869" cy="1078089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A15DBC-AADF-F7EA-F7B9-15E5C63D026A}"/>
              </a:ext>
            </a:extLst>
          </p:cNvPr>
          <p:cNvSpPr/>
          <p:nvPr/>
        </p:nvSpPr>
        <p:spPr>
          <a:xfrm>
            <a:off x="6694707" y="4526844"/>
            <a:ext cx="197160" cy="1078089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2EAD92-D49A-EC89-895A-1458C45835A8}"/>
              </a:ext>
            </a:extLst>
          </p:cNvPr>
          <p:cNvSpPr txBox="1"/>
          <p:nvPr/>
        </p:nvSpPr>
        <p:spPr>
          <a:xfrm>
            <a:off x="3532294" y="5868505"/>
            <a:ext cx="2400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C++</a:t>
            </a:r>
            <a:r>
              <a:rPr lang="zh-CN" altLang="en-US" dirty="0"/>
              <a:t> </a:t>
            </a:r>
            <a:r>
              <a:rPr lang="en-US" altLang="zh-CN" dirty="0"/>
              <a:t>mangling</a:t>
            </a:r>
            <a:r>
              <a:rPr lang="zh-CN" altLang="en-US" dirty="0"/>
              <a:t> </a:t>
            </a:r>
            <a:r>
              <a:rPr lang="en-US" altLang="zh-CN" dirty="0"/>
              <a:t>padding</a:t>
            </a:r>
            <a:endParaRPr lang="en-C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445316C-5B76-6DE1-B7CB-D03BED42983A}"/>
              </a:ext>
            </a:extLst>
          </p:cNvPr>
          <p:cNvCxnSpPr>
            <a:endCxn id="11" idx="0"/>
          </p:cNvCxnSpPr>
          <p:nvPr/>
        </p:nvCxnSpPr>
        <p:spPr>
          <a:xfrm flipH="1">
            <a:off x="4732302" y="5604933"/>
            <a:ext cx="1005274" cy="2635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0C350B3-B2FE-856D-1B57-738DDD927B88}"/>
              </a:ext>
            </a:extLst>
          </p:cNvPr>
          <p:cNvSpPr txBox="1"/>
          <p:nvPr/>
        </p:nvSpPr>
        <p:spPr>
          <a:xfrm>
            <a:off x="5966574" y="5868505"/>
            <a:ext cx="3653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identifier</a:t>
            </a:r>
            <a:r>
              <a:rPr lang="zh-CN" altLang="en-US" dirty="0"/>
              <a:t> </a:t>
            </a:r>
            <a:r>
              <a:rPr lang="en-US" altLang="zh-CN" dirty="0"/>
              <a:t>string</a:t>
            </a:r>
            <a:r>
              <a:rPr lang="zh-CN" altLang="en-US" dirty="0"/>
              <a:t> </a:t>
            </a:r>
            <a:r>
              <a:rPr lang="en-US" altLang="zh-CN" dirty="0"/>
              <a:t>length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endParaRPr lang="en-CN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22BD852-EA22-C161-3464-211CEC0CC58F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6313508" y="5604933"/>
            <a:ext cx="1479848" cy="2635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9A10606-21AF-2E66-0214-13B4926EC75B}"/>
              </a:ext>
            </a:extLst>
          </p:cNvPr>
          <p:cNvSpPr txBox="1"/>
          <p:nvPr/>
        </p:nvSpPr>
        <p:spPr>
          <a:xfrm>
            <a:off x="7211992" y="4733863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argument</a:t>
            </a:r>
            <a:r>
              <a:rPr lang="zh-CN" altLang="en-US" dirty="0"/>
              <a:t> </a:t>
            </a:r>
            <a:r>
              <a:rPr lang="en-US" altLang="zh-CN" dirty="0"/>
              <a:t>list</a:t>
            </a:r>
            <a:endParaRPr lang="en-CN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11559C-D9F2-51C1-8DB9-70D5E9B1F3D3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6891867" y="4918529"/>
            <a:ext cx="320125" cy="1473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73805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F2C7B-0D03-151B-47EA-2F63045CE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6ADBA-8357-B6A4-0A05-D47D72719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Function</a:t>
            </a:r>
            <a:r>
              <a:rPr lang="zh-CN" altLang="en-US" sz="5400" dirty="0"/>
              <a:t> </a:t>
            </a:r>
            <a:r>
              <a:rPr lang="en-US" altLang="zh-CN" sz="5400" dirty="0"/>
              <a:t>Signature</a:t>
            </a:r>
            <a:r>
              <a:rPr lang="zh-CN" altLang="en-US" sz="5400" dirty="0"/>
              <a:t> </a:t>
            </a:r>
            <a:r>
              <a:rPr lang="en-US" altLang="zh-CN" sz="5400" dirty="0"/>
              <a:t>(CONT’D)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C0758-1C4F-6715-94AC-4A407D5AA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Any</a:t>
            </a:r>
            <a:r>
              <a:rPr lang="zh-CN" altLang="en-US" sz="3200" dirty="0"/>
              <a:t> </a:t>
            </a:r>
            <a:r>
              <a:rPr lang="en-US" altLang="zh-CN" sz="3200" dirty="0"/>
              <a:t>problem</a:t>
            </a:r>
            <a:r>
              <a:rPr lang="zh-CN" altLang="en-US" sz="3200" dirty="0"/>
              <a:t> </a:t>
            </a:r>
            <a:r>
              <a:rPr lang="en-US" altLang="zh-CN" sz="3200" dirty="0"/>
              <a:t>in</a:t>
            </a:r>
            <a:r>
              <a:rPr lang="zh-CN" altLang="en-US" sz="3200" dirty="0"/>
              <a:t> </a:t>
            </a:r>
            <a:r>
              <a:rPr lang="en-US" altLang="zh-CN" sz="3200" dirty="0"/>
              <a:t>computer</a:t>
            </a:r>
            <a:r>
              <a:rPr lang="zh-CN" altLang="en-US" sz="3200" dirty="0"/>
              <a:t> </a:t>
            </a:r>
            <a:r>
              <a:rPr lang="en-US" altLang="zh-CN" sz="3200" dirty="0"/>
              <a:t>system</a:t>
            </a:r>
            <a:r>
              <a:rPr lang="zh-CN" altLang="en-US" sz="3200" dirty="0"/>
              <a:t> </a:t>
            </a:r>
            <a:r>
              <a:rPr lang="en-US" altLang="zh-CN" sz="3200" dirty="0"/>
              <a:t>can</a:t>
            </a:r>
            <a:r>
              <a:rPr lang="zh-CN" altLang="en-US" sz="3200" dirty="0"/>
              <a:t> </a:t>
            </a:r>
            <a:r>
              <a:rPr lang="en-US" altLang="zh-CN" sz="3200" dirty="0"/>
              <a:t>be</a:t>
            </a:r>
            <a:r>
              <a:rPr lang="zh-CN" altLang="en-US" sz="3200" dirty="0"/>
              <a:t> </a:t>
            </a:r>
            <a:r>
              <a:rPr lang="en-US" altLang="zh-CN" sz="3200" dirty="0"/>
              <a:t>solve</a:t>
            </a:r>
            <a:r>
              <a:rPr lang="zh-CN" altLang="en-US" sz="3200" dirty="0"/>
              <a:t> </a:t>
            </a:r>
            <a:r>
              <a:rPr lang="en-US" altLang="zh-CN" sz="3200" dirty="0"/>
              <a:t>by</a:t>
            </a:r>
            <a:r>
              <a:rPr lang="zh-CN" altLang="en-US" sz="3200" dirty="0"/>
              <a:t> </a:t>
            </a:r>
            <a:r>
              <a:rPr lang="en-US" altLang="zh-CN" sz="3200" dirty="0"/>
              <a:t>another</a:t>
            </a:r>
            <a:r>
              <a:rPr lang="zh-CN" altLang="en-US" sz="3200" dirty="0"/>
              <a:t> </a:t>
            </a:r>
            <a:r>
              <a:rPr lang="en-US" altLang="zh-CN" sz="3200" dirty="0"/>
              <a:t>level</a:t>
            </a:r>
            <a:r>
              <a:rPr lang="zh-CN" altLang="en-US" sz="3200" dirty="0"/>
              <a:t> </a:t>
            </a:r>
            <a:r>
              <a:rPr lang="en-US" altLang="zh-CN" sz="3200" dirty="0"/>
              <a:t>of</a:t>
            </a:r>
            <a:r>
              <a:rPr lang="zh-CN" altLang="en-US" sz="3200" dirty="0"/>
              <a:t> </a:t>
            </a:r>
            <a:r>
              <a:rPr lang="en-US" altLang="zh-CN" sz="3200" dirty="0"/>
              <a:t>indirection</a:t>
            </a:r>
          </a:p>
          <a:p>
            <a:r>
              <a:rPr lang="en-US" altLang="zh-CN" sz="3200" dirty="0"/>
              <a:t>This</a:t>
            </a:r>
            <a:r>
              <a:rPr lang="zh-CN" altLang="en-US" sz="3200" dirty="0"/>
              <a:t> </a:t>
            </a:r>
            <a:r>
              <a:rPr lang="en-US" altLang="zh-CN" sz="3200" dirty="0"/>
              <a:t>introduces</a:t>
            </a:r>
            <a:r>
              <a:rPr lang="zh-CN" altLang="en-US" sz="3200" dirty="0"/>
              <a:t> </a:t>
            </a:r>
            <a:r>
              <a:rPr lang="en-US" altLang="zh-CN" sz="3200" dirty="0"/>
              <a:t>a</a:t>
            </a:r>
            <a:r>
              <a:rPr lang="zh-CN" altLang="en-US" sz="3200" dirty="0"/>
              <a:t> </a:t>
            </a:r>
            <a:r>
              <a:rPr lang="en-US" altLang="zh-CN" sz="3200" dirty="0"/>
              <a:t>new</a:t>
            </a:r>
            <a:r>
              <a:rPr lang="zh-CN" altLang="en-US" sz="3200" dirty="0"/>
              <a:t> </a:t>
            </a:r>
            <a:r>
              <a:rPr lang="en-US" altLang="zh-CN" sz="3200" dirty="0"/>
              <a:t>syntactical</a:t>
            </a:r>
            <a:r>
              <a:rPr lang="zh-CN" altLang="en-US" sz="3200" dirty="0"/>
              <a:t> </a:t>
            </a:r>
            <a:r>
              <a:rPr lang="en-US" altLang="zh-CN" sz="3200" dirty="0"/>
              <a:t>feature,</a:t>
            </a:r>
            <a:r>
              <a:rPr lang="zh-CN" altLang="en-US" sz="3200" dirty="0"/>
              <a:t> </a:t>
            </a:r>
            <a:r>
              <a:rPr lang="en-US" altLang="zh-CN" sz="3200" dirty="0"/>
              <a:t>while</a:t>
            </a:r>
            <a:r>
              <a:rPr lang="zh-CN" altLang="en-US" sz="3200" dirty="0"/>
              <a:t> </a:t>
            </a:r>
            <a:r>
              <a:rPr lang="en-US" altLang="zh-CN" sz="3200" dirty="0"/>
              <a:t>retaining</a:t>
            </a:r>
            <a:r>
              <a:rPr lang="zh-CN" altLang="en-US" sz="3200" dirty="0"/>
              <a:t> </a:t>
            </a:r>
            <a:r>
              <a:rPr lang="en-US" altLang="zh-CN" sz="3200" dirty="0"/>
              <a:t>backward</a:t>
            </a:r>
            <a:r>
              <a:rPr lang="zh-CN" altLang="en-US" sz="3200" dirty="0"/>
              <a:t> </a:t>
            </a:r>
            <a:r>
              <a:rPr lang="en-US" altLang="zh-CN" sz="3200" dirty="0"/>
              <a:t>compatibility</a:t>
            </a:r>
            <a:endParaRPr lang="en-CN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747FB-51A3-8A27-0E1C-6DC7EE16C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25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53820-261C-DE77-966A-6B88768EAA23}"/>
              </a:ext>
            </a:extLst>
          </p:cNvPr>
          <p:cNvSpPr txBox="1"/>
          <p:nvPr/>
        </p:nvSpPr>
        <p:spPr>
          <a:xfrm>
            <a:off x="1507066" y="4450152"/>
            <a:ext cx="3318537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foo();</a:t>
            </a:r>
          </a:p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foo(int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x);</a:t>
            </a:r>
          </a:p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foo(float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x);</a:t>
            </a:r>
            <a:endParaRPr lang="en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0E6C30-E359-D913-10DE-19DBA93DC534}"/>
              </a:ext>
            </a:extLst>
          </p:cNvPr>
          <p:cNvSpPr txBox="1"/>
          <p:nvPr/>
        </p:nvSpPr>
        <p:spPr>
          <a:xfrm>
            <a:off x="1507066" y="3770461"/>
            <a:ext cx="553068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clang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main.c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–S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–emit-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llvm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-c</a:t>
            </a:r>
            <a:endParaRPr lang="en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F832B2-D214-C1FA-6539-C0B6C6AF7F99}"/>
              </a:ext>
            </a:extLst>
          </p:cNvPr>
          <p:cNvSpPr txBox="1"/>
          <p:nvPr/>
        </p:nvSpPr>
        <p:spPr>
          <a:xfrm>
            <a:off x="5494469" y="4450151"/>
            <a:ext cx="1475084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_Z3foov</a:t>
            </a:r>
          </a:p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_Z3fooi</a:t>
            </a:r>
          </a:p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_Z3foof</a:t>
            </a:r>
            <a:endParaRPr lang="en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3663BD-8FAD-03D6-309E-B3A5576184B5}"/>
              </a:ext>
            </a:extLst>
          </p:cNvPr>
          <p:cNvSpPr/>
          <p:nvPr/>
        </p:nvSpPr>
        <p:spPr>
          <a:xfrm>
            <a:off x="5542843" y="4526844"/>
            <a:ext cx="389467" cy="1078089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A6F8EE-2158-1DB7-4662-DCFC6A239C3B}"/>
              </a:ext>
            </a:extLst>
          </p:cNvPr>
          <p:cNvSpPr/>
          <p:nvPr/>
        </p:nvSpPr>
        <p:spPr>
          <a:xfrm>
            <a:off x="5966574" y="4526844"/>
            <a:ext cx="693869" cy="1078089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4F11C7-C5DA-D161-67DB-C49366856114}"/>
              </a:ext>
            </a:extLst>
          </p:cNvPr>
          <p:cNvSpPr/>
          <p:nvPr/>
        </p:nvSpPr>
        <p:spPr>
          <a:xfrm>
            <a:off x="6694707" y="4526844"/>
            <a:ext cx="197160" cy="1078089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478C4E-3C76-05B4-8736-93457805F7D8}"/>
              </a:ext>
            </a:extLst>
          </p:cNvPr>
          <p:cNvSpPr txBox="1"/>
          <p:nvPr/>
        </p:nvSpPr>
        <p:spPr>
          <a:xfrm>
            <a:off x="3532294" y="5868505"/>
            <a:ext cx="2400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C++</a:t>
            </a:r>
            <a:r>
              <a:rPr lang="zh-CN" altLang="en-US" dirty="0"/>
              <a:t> </a:t>
            </a:r>
            <a:r>
              <a:rPr lang="en-US" altLang="zh-CN" dirty="0"/>
              <a:t>mangling</a:t>
            </a:r>
            <a:r>
              <a:rPr lang="zh-CN" altLang="en-US" dirty="0"/>
              <a:t> </a:t>
            </a:r>
            <a:r>
              <a:rPr lang="en-US" altLang="zh-CN" dirty="0"/>
              <a:t>padding</a:t>
            </a:r>
            <a:endParaRPr lang="en-C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8741826-4EFA-DB23-A54B-4A29BD1977CA}"/>
              </a:ext>
            </a:extLst>
          </p:cNvPr>
          <p:cNvCxnSpPr>
            <a:endCxn id="11" idx="0"/>
          </p:cNvCxnSpPr>
          <p:nvPr/>
        </p:nvCxnSpPr>
        <p:spPr>
          <a:xfrm flipH="1">
            <a:off x="4732302" y="5604933"/>
            <a:ext cx="1005274" cy="2635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0C5C4E4-E83E-0C5C-A2BD-0358F46CB5A8}"/>
              </a:ext>
            </a:extLst>
          </p:cNvPr>
          <p:cNvSpPr txBox="1"/>
          <p:nvPr/>
        </p:nvSpPr>
        <p:spPr>
          <a:xfrm>
            <a:off x="5966574" y="5868505"/>
            <a:ext cx="3653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identifier</a:t>
            </a:r>
            <a:r>
              <a:rPr lang="zh-CN" altLang="en-US" dirty="0"/>
              <a:t> </a:t>
            </a:r>
            <a:r>
              <a:rPr lang="en-US" altLang="zh-CN" dirty="0"/>
              <a:t>string</a:t>
            </a:r>
            <a:r>
              <a:rPr lang="zh-CN" altLang="en-US" dirty="0"/>
              <a:t> </a:t>
            </a:r>
            <a:r>
              <a:rPr lang="en-US" altLang="zh-CN" dirty="0"/>
              <a:t>length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endParaRPr lang="en-CN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4AAB3B5-B97F-1675-C79C-C53C94B987F1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6313508" y="5604933"/>
            <a:ext cx="1479848" cy="2635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9F1E629-7C43-3E2F-452D-3AE43ECF5DF3}"/>
              </a:ext>
            </a:extLst>
          </p:cNvPr>
          <p:cNvSpPr txBox="1"/>
          <p:nvPr/>
        </p:nvSpPr>
        <p:spPr>
          <a:xfrm>
            <a:off x="7211992" y="4733863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argument</a:t>
            </a:r>
            <a:r>
              <a:rPr lang="zh-CN" altLang="en-US" dirty="0"/>
              <a:t> </a:t>
            </a:r>
            <a:r>
              <a:rPr lang="en-US" altLang="zh-CN" dirty="0"/>
              <a:t>list</a:t>
            </a:r>
            <a:endParaRPr lang="en-CN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1990FDE-5E65-A618-43A0-0FBFA53883C0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6891867" y="4918529"/>
            <a:ext cx="320125" cy="1473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193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88D2-6651-A60F-8908-D85827F91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82" y="150297"/>
            <a:ext cx="11510636" cy="1325563"/>
          </a:xfrm>
        </p:spPr>
        <p:txBody>
          <a:bodyPr>
            <a:normAutofit fontScale="90000"/>
          </a:bodyPr>
          <a:lstStyle/>
          <a:p>
            <a:r>
              <a:rPr lang="en-US" altLang="zh-CN" sz="5400" dirty="0"/>
              <a:t>Recap:</a:t>
            </a:r>
            <a:r>
              <a:rPr lang="zh-CN" altLang="en-US" sz="5400" dirty="0"/>
              <a:t> </a:t>
            </a:r>
            <a:r>
              <a:rPr lang="en-US" altLang="zh-CN" sz="5400" dirty="0"/>
              <a:t>How</a:t>
            </a:r>
            <a:r>
              <a:rPr lang="zh-CN" altLang="en-US" sz="5400" dirty="0"/>
              <a:t> </a:t>
            </a:r>
            <a:r>
              <a:rPr lang="en-US" altLang="zh-CN" sz="5400" dirty="0"/>
              <a:t>should</a:t>
            </a:r>
            <a:r>
              <a:rPr lang="zh-CN" altLang="en-US" sz="5400" dirty="0"/>
              <a:t> </a:t>
            </a:r>
            <a:r>
              <a:rPr lang="en-US" altLang="zh-CN" sz="5400" dirty="0"/>
              <a:t>I</a:t>
            </a:r>
            <a:r>
              <a:rPr lang="zh-CN" altLang="en-US" sz="5400" dirty="0"/>
              <a:t> </a:t>
            </a:r>
            <a:r>
              <a:rPr lang="en-US" altLang="zh-CN" sz="5400" dirty="0"/>
              <a:t>deal</a:t>
            </a:r>
            <a:r>
              <a:rPr lang="zh-CN" altLang="en-US" sz="5400" dirty="0"/>
              <a:t> </a:t>
            </a:r>
            <a:r>
              <a:rPr lang="en-US" altLang="zh-CN" sz="5400" dirty="0"/>
              <a:t>with</a:t>
            </a:r>
            <a:r>
              <a:rPr lang="zh-CN" altLang="en-US" sz="5400" dirty="0"/>
              <a:t> </a:t>
            </a:r>
            <a:r>
              <a:rPr lang="en-US" altLang="zh-CN" sz="5400" dirty="0"/>
              <a:t>overloaded</a:t>
            </a:r>
            <a:r>
              <a:rPr lang="zh-CN" altLang="en-US" sz="5400" dirty="0"/>
              <a:t> </a:t>
            </a:r>
            <a:r>
              <a:rPr lang="en-US" altLang="zh-CN" sz="5400" dirty="0"/>
              <a:t>visitors</a:t>
            </a:r>
            <a:r>
              <a:rPr lang="zh-CN" altLang="en-US" sz="5400" dirty="0"/>
              <a:t> </a:t>
            </a:r>
            <a:r>
              <a:rPr lang="en-US" altLang="zh-CN" sz="5400" dirty="0"/>
              <a:t>in</a:t>
            </a:r>
            <a:r>
              <a:rPr lang="zh-CN" altLang="en-US" sz="5400" dirty="0"/>
              <a:t> </a:t>
            </a:r>
            <a:r>
              <a:rPr lang="en-US" altLang="zh-CN" sz="5400" dirty="0"/>
              <a:t>languages</a:t>
            </a:r>
            <a:r>
              <a:rPr lang="zh-CN" altLang="en-US" sz="5400" dirty="0"/>
              <a:t> </a:t>
            </a:r>
            <a:r>
              <a:rPr lang="en-US" altLang="zh-CN" sz="5400" dirty="0"/>
              <a:t>with</a:t>
            </a:r>
            <a:r>
              <a:rPr lang="zh-CN" altLang="en-US" sz="5400" dirty="0"/>
              <a:t> </a:t>
            </a:r>
            <a:r>
              <a:rPr lang="en-US" altLang="zh-CN" sz="5400" dirty="0"/>
              <a:t>overload</a:t>
            </a:r>
            <a:r>
              <a:rPr lang="zh-CN" altLang="en-US" sz="5400" dirty="0"/>
              <a:t> </a:t>
            </a:r>
            <a:r>
              <a:rPr lang="en-US" altLang="zh-CN" sz="5400" dirty="0"/>
              <a:t>disabled?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16C7D-5170-3612-7963-58C2B5240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475860"/>
            <a:ext cx="11096978" cy="700897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Visitor</a:t>
            </a:r>
            <a:r>
              <a:rPr lang="zh-CN" altLang="en-US" sz="3200" dirty="0"/>
              <a:t> </a:t>
            </a:r>
            <a:r>
              <a:rPr lang="en-US" altLang="zh-CN" sz="3200" dirty="0"/>
              <a:t>pattern</a:t>
            </a:r>
            <a:r>
              <a:rPr lang="zh-CN" altLang="en-US" sz="3200" dirty="0"/>
              <a:t> </a:t>
            </a:r>
            <a:r>
              <a:rPr lang="en-US" altLang="zh-CN" sz="3200" dirty="0"/>
              <a:t>is</a:t>
            </a:r>
            <a:r>
              <a:rPr lang="zh-CN" altLang="en-US" sz="3200" dirty="0"/>
              <a:t> </a:t>
            </a:r>
            <a:r>
              <a:rPr lang="en-US" altLang="zh-CN" sz="3200" dirty="0"/>
              <a:t>a</a:t>
            </a:r>
            <a:r>
              <a:rPr lang="zh-CN" altLang="en-US" sz="3200" dirty="0"/>
              <a:t> </a:t>
            </a:r>
            <a:r>
              <a:rPr lang="en-US" altLang="zh-CN" sz="3200" dirty="0"/>
              <a:t>visitor</a:t>
            </a:r>
            <a:r>
              <a:rPr lang="zh-CN" altLang="en-US" sz="3200" dirty="0"/>
              <a:t> </a:t>
            </a:r>
            <a:r>
              <a:rPr lang="en-US" altLang="zh-CN" sz="3200" dirty="0"/>
              <a:t>to</a:t>
            </a:r>
            <a:r>
              <a:rPr lang="zh-CN" altLang="en-US" sz="3200" dirty="0"/>
              <a:t> </a:t>
            </a:r>
            <a:r>
              <a:rPr lang="en-US" altLang="zh-CN" sz="3200" dirty="0"/>
              <a:t>traverse</a:t>
            </a:r>
            <a:r>
              <a:rPr lang="zh-CN" altLang="en-US" sz="3200" dirty="0"/>
              <a:t> </a:t>
            </a:r>
            <a:r>
              <a:rPr lang="en-US" altLang="zh-CN" sz="3200" dirty="0"/>
              <a:t>each</a:t>
            </a:r>
            <a:r>
              <a:rPr lang="zh-CN" altLang="en-US" sz="3200" dirty="0"/>
              <a:t> </a:t>
            </a:r>
            <a:r>
              <a:rPr lang="en-US" altLang="zh-CN" sz="3200" dirty="0"/>
              <a:t>node</a:t>
            </a:r>
            <a:r>
              <a:rPr lang="zh-CN" altLang="en-US" sz="3200" dirty="0"/>
              <a:t> </a:t>
            </a:r>
            <a:r>
              <a:rPr lang="en-US" altLang="zh-CN" sz="3200" dirty="0"/>
              <a:t>in</a:t>
            </a:r>
            <a:r>
              <a:rPr lang="zh-CN" altLang="en-US" sz="3200" dirty="0"/>
              <a:t> </a:t>
            </a:r>
            <a:r>
              <a:rPr lang="en-US" altLang="zh-CN" sz="3200" dirty="0"/>
              <a:t>depth</a:t>
            </a:r>
            <a:r>
              <a:rPr lang="zh-CN" altLang="en-US" sz="3200" dirty="0"/>
              <a:t> </a:t>
            </a:r>
            <a:r>
              <a:rPr lang="en-US" altLang="zh-CN" sz="3200" dirty="0"/>
              <a:t>first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E204A-3ABC-0861-FE53-F5901221F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26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408FAE-6D6E-BAB1-73AF-69BABF45C399}"/>
              </a:ext>
            </a:extLst>
          </p:cNvPr>
          <p:cNvSpPr txBox="1"/>
          <p:nvPr/>
        </p:nvSpPr>
        <p:spPr>
          <a:xfrm>
            <a:off x="2221420" y="2151122"/>
            <a:ext cx="7558479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VisitorBase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visit(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CompoundStmt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s)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s-&gt;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stmts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this-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&gt;visit(s);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visit(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DeclStmt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s)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this-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&gt;visit(s-&gt;var);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(s-&gt;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this-&gt;visit(s-&gt;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visit(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RefVar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r)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leaf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1863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86FC6-96D2-58F5-1444-3AB19DC7B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91029-908A-DFCD-B1EA-CC9D192EA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82" y="150297"/>
            <a:ext cx="11510636" cy="1325563"/>
          </a:xfrm>
        </p:spPr>
        <p:txBody>
          <a:bodyPr>
            <a:normAutofit fontScale="90000"/>
          </a:bodyPr>
          <a:lstStyle/>
          <a:p>
            <a:r>
              <a:rPr lang="en-US" altLang="zh-CN" sz="5400" dirty="0"/>
              <a:t>Recap:</a:t>
            </a:r>
            <a:r>
              <a:rPr lang="zh-CN" altLang="en-US" sz="5400" dirty="0"/>
              <a:t> </a:t>
            </a:r>
            <a:r>
              <a:rPr lang="en-US" altLang="zh-CN" sz="5400" dirty="0"/>
              <a:t>How</a:t>
            </a:r>
            <a:r>
              <a:rPr lang="zh-CN" altLang="en-US" sz="5400" dirty="0"/>
              <a:t> </a:t>
            </a:r>
            <a:r>
              <a:rPr lang="en-US" altLang="zh-CN" sz="5400" dirty="0"/>
              <a:t>should</a:t>
            </a:r>
            <a:r>
              <a:rPr lang="zh-CN" altLang="en-US" sz="5400" dirty="0"/>
              <a:t> </a:t>
            </a:r>
            <a:r>
              <a:rPr lang="en-US" altLang="zh-CN" sz="5400" dirty="0"/>
              <a:t>I</a:t>
            </a:r>
            <a:r>
              <a:rPr lang="zh-CN" altLang="en-US" sz="5400" dirty="0"/>
              <a:t> </a:t>
            </a:r>
            <a:r>
              <a:rPr lang="en-US" altLang="zh-CN" sz="5400" dirty="0"/>
              <a:t>deal</a:t>
            </a:r>
            <a:r>
              <a:rPr lang="zh-CN" altLang="en-US" sz="5400" dirty="0"/>
              <a:t> </a:t>
            </a:r>
            <a:r>
              <a:rPr lang="en-US" altLang="zh-CN" sz="5400" dirty="0"/>
              <a:t>with</a:t>
            </a:r>
            <a:r>
              <a:rPr lang="zh-CN" altLang="en-US" sz="5400" dirty="0"/>
              <a:t> </a:t>
            </a:r>
            <a:r>
              <a:rPr lang="en-US" altLang="zh-CN" sz="5400" dirty="0"/>
              <a:t>overloaded</a:t>
            </a:r>
            <a:r>
              <a:rPr lang="zh-CN" altLang="en-US" sz="5400" dirty="0"/>
              <a:t> </a:t>
            </a:r>
            <a:r>
              <a:rPr lang="en-US" altLang="zh-CN" sz="5400" dirty="0"/>
              <a:t>visitors</a:t>
            </a:r>
            <a:r>
              <a:rPr lang="zh-CN" altLang="en-US" sz="5400" dirty="0"/>
              <a:t> </a:t>
            </a:r>
            <a:r>
              <a:rPr lang="en-US" altLang="zh-CN" sz="5400" dirty="0"/>
              <a:t>in</a:t>
            </a:r>
            <a:r>
              <a:rPr lang="zh-CN" altLang="en-US" sz="5400" dirty="0"/>
              <a:t> </a:t>
            </a:r>
            <a:r>
              <a:rPr lang="en-US" altLang="zh-CN" sz="5400" dirty="0"/>
              <a:t>languages</a:t>
            </a:r>
            <a:r>
              <a:rPr lang="zh-CN" altLang="en-US" sz="5400" dirty="0"/>
              <a:t> </a:t>
            </a:r>
            <a:r>
              <a:rPr lang="en-US" altLang="zh-CN" sz="5400" dirty="0"/>
              <a:t>with</a:t>
            </a:r>
            <a:r>
              <a:rPr lang="zh-CN" altLang="en-US" sz="5400" dirty="0"/>
              <a:t> </a:t>
            </a:r>
            <a:r>
              <a:rPr lang="en-US" altLang="zh-CN" sz="5400" dirty="0"/>
              <a:t>overload</a:t>
            </a:r>
            <a:r>
              <a:rPr lang="zh-CN" altLang="en-US" sz="5400" dirty="0"/>
              <a:t> </a:t>
            </a:r>
            <a:r>
              <a:rPr lang="en-US" altLang="zh-CN" sz="5400" dirty="0"/>
              <a:t>disabled?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D1767-BA59-53AE-B70E-6768165F6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511" y="1475860"/>
            <a:ext cx="11096978" cy="700897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Answer:</a:t>
            </a:r>
            <a:r>
              <a:rPr lang="zh-CN" altLang="en-US" sz="3200" dirty="0"/>
              <a:t> </a:t>
            </a:r>
            <a:r>
              <a:rPr lang="en-US" altLang="zh-CN" sz="3200" dirty="0"/>
              <a:t>Manually</a:t>
            </a:r>
            <a:r>
              <a:rPr lang="zh-CN" altLang="en-US" sz="3200" dirty="0"/>
              <a:t> </a:t>
            </a:r>
            <a:r>
              <a:rPr lang="en-US" altLang="zh-CN" sz="3200" dirty="0"/>
              <a:t>rename</a:t>
            </a:r>
            <a:r>
              <a:rPr lang="zh-CN" altLang="en-US" sz="3200" dirty="0"/>
              <a:t> </a:t>
            </a: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/>
              <a:t>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DFCF8-B169-8FFD-F931-C0FE3C36B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27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DFB0BA-D4A7-BCF6-2AF9-151713F94D2C}"/>
              </a:ext>
            </a:extLst>
          </p:cNvPr>
          <p:cNvSpPr txBox="1"/>
          <p:nvPr/>
        </p:nvSpPr>
        <p:spPr>
          <a:xfrm>
            <a:off x="2221420" y="2151122"/>
            <a:ext cx="8480207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VisitorBase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visit_compound_stmt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CompoundStmt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s)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s-&gt;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stmts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this-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&gt;visit(s);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visit_decl_stmt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DeclStmt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s)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this-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&gt;visit(s-&gt;var);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(s-&gt;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this-&gt;visit(s-&gt;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visit_var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RefVar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r)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leaf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867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F84F4-91C9-E6F6-5393-AD1CFDA50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3A2FB-808E-551D-6078-06FBF0C2B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Function</a:t>
            </a:r>
            <a:r>
              <a:rPr lang="zh-CN" altLang="en-US" sz="5400" dirty="0"/>
              <a:t> </a:t>
            </a:r>
            <a:r>
              <a:rPr lang="en-US" altLang="zh-CN" sz="5400" dirty="0"/>
              <a:t>Signature</a:t>
            </a:r>
            <a:r>
              <a:rPr lang="zh-CN" altLang="en-US" sz="5400" dirty="0"/>
              <a:t> </a:t>
            </a:r>
            <a:r>
              <a:rPr lang="en-US" altLang="zh-CN" sz="5400" dirty="0"/>
              <a:t>(CONT’D)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53656-85D7-07AB-6367-8CAC37492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N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if</a:t>
            </a:r>
            <a:r>
              <a:rPr lang="zh-CN" altLang="en-US" sz="3600" dirty="0"/>
              <a:t> </a:t>
            </a:r>
            <a:r>
              <a:rPr lang="en-US" altLang="zh-CN" sz="3600" dirty="0"/>
              <a:t>I</a:t>
            </a:r>
            <a:r>
              <a:rPr lang="zh-CN" altLang="en-US" sz="3600" dirty="0"/>
              <a:t> </a:t>
            </a:r>
            <a:r>
              <a:rPr lang="en-US" altLang="zh-CN" sz="3600" dirty="0"/>
              <a:t>do</a:t>
            </a:r>
            <a:r>
              <a:rPr lang="zh-CN" altLang="en-US" sz="3600" dirty="0"/>
              <a:t> </a:t>
            </a:r>
            <a:r>
              <a:rPr lang="en-US" altLang="zh-CN" sz="3600" dirty="0"/>
              <a:t>not</a:t>
            </a:r>
            <a:r>
              <a:rPr lang="zh-CN" altLang="en-US" sz="3600" dirty="0"/>
              <a:t> </a:t>
            </a:r>
            <a:r>
              <a:rPr lang="en-US" altLang="zh-CN" sz="3600" dirty="0"/>
              <a:t>want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mangling?</a:t>
            </a:r>
          </a:p>
          <a:p>
            <a:pPr lvl="1"/>
            <a:r>
              <a:rPr lang="en-US" altLang="zh-CN" sz="2800" b="1" dirty="0"/>
              <a:t>Spoiler: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This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will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be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useful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for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your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homework.</a:t>
            </a:r>
            <a:endParaRPr lang="en-CN" sz="2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478C0-296C-536D-8C4A-D2843D069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28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1003D-A4DF-3C23-80EE-68C75ED042C3}"/>
              </a:ext>
            </a:extLst>
          </p:cNvPr>
          <p:cNvSpPr txBox="1"/>
          <p:nvPr/>
        </p:nvSpPr>
        <p:spPr>
          <a:xfrm>
            <a:off x="1535288" y="3127355"/>
            <a:ext cx="5715026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extern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"C"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within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scope</a:t>
            </a:r>
          </a:p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functions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will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</a:p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be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mangled</a:t>
            </a: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foo();</a:t>
            </a:r>
          </a:p>
          <a:p>
            <a:r>
              <a:rPr lang="en-US" altLang="zh-CN" sz="2400" b="1" strike="sngStrike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2400" strike="sngStrik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strike="sngStrike" dirty="0">
                <a:latin typeface="Courier New" panose="02070309020205020404" pitchFamily="49" charset="0"/>
                <a:cs typeface="Courier New" panose="02070309020205020404" pitchFamily="49" charset="0"/>
              </a:rPr>
              <a:t>foo(float</a:t>
            </a:r>
            <a:r>
              <a:rPr lang="zh-CN" altLang="en-US" sz="2400" strike="sngStrik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strike="sngStrike" dirty="0">
                <a:latin typeface="Courier New" panose="02070309020205020404" pitchFamily="49" charset="0"/>
                <a:cs typeface="Courier New" panose="02070309020205020404" pitchFamily="49" charset="0"/>
              </a:rPr>
              <a:t>x);</a:t>
            </a:r>
            <a:r>
              <a:rPr lang="zh-CN" altLang="en-US" sz="2400" strike="sngStrik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strike="sngStrike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strike="sngStrik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strike="sngStrike" dirty="0"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zh-CN" altLang="en-US" sz="2400" strike="sngStrik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strike="sngStrike" dirty="0">
                <a:latin typeface="Courier New" panose="02070309020205020404" pitchFamily="49" charset="0"/>
                <a:cs typeface="Courier New" panose="02070309020205020404" pitchFamily="49" charset="0"/>
              </a:rPr>
              <a:t>GOOD!</a:t>
            </a:r>
            <a:endParaRPr lang="en-US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0874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C27AC-AC7B-6FE8-754A-8076C83F2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C7DF464-A334-C2CA-ABB5-CCA34C1A08DD}"/>
              </a:ext>
            </a:extLst>
          </p:cNvPr>
          <p:cNvSpPr/>
          <p:nvPr/>
        </p:nvSpPr>
        <p:spPr>
          <a:xfrm>
            <a:off x="10919849" y="2717800"/>
            <a:ext cx="1075044" cy="711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C3306D-2B41-4355-9F68-ED3DEEF37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What</a:t>
            </a:r>
            <a:r>
              <a:rPr lang="zh-CN" altLang="en-US" sz="5400" dirty="0"/>
              <a:t> </a:t>
            </a:r>
            <a:r>
              <a:rPr lang="en-US" altLang="zh-CN" sz="5400" dirty="0"/>
              <a:t>is</a:t>
            </a:r>
            <a:r>
              <a:rPr lang="zh-CN" altLang="en-US" sz="5400" dirty="0"/>
              <a:t> </a:t>
            </a:r>
            <a:r>
              <a:rPr lang="en-US" altLang="zh-CN" sz="5400" dirty="0"/>
              <a:t>next?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DE7BE-0293-3D30-30A7-98E281976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8056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How</a:t>
            </a:r>
            <a:r>
              <a:rPr lang="zh-CN" altLang="en-US" sz="3600" dirty="0"/>
              <a:t> </a:t>
            </a:r>
            <a:r>
              <a:rPr lang="en-US" altLang="zh-CN" sz="3600" dirty="0"/>
              <a:t>many</a:t>
            </a:r>
            <a:r>
              <a:rPr lang="zh-CN" altLang="en-US" sz="3600" dirty="0"/>
              <a:t> </a:t>
            </a:r>
            <a:r>
              <a:rPr lang="en-US" altLang="zh-CN" sz="3600" dirty="0"/>
              <a:t>people</a:t>
            </a:r>
            <a:r>
              <a:rPr lang="zh-CN" altLang="en-US" sz="3600" dirty="0"/>
              <a:t> </a:t>
            </a:r>
            <a:r>
              <a:rPr lang="en-US" altLang="zh-CN" sz="3600" dirty="0"/>
              <a:t>still</a:t>
            </a:r>
            <a:r>
              <a:rPr lang="zh-CN" altLang="en-US" sz="3600" dirty="0"/>
              <a:t> </a:t>
            </a:r>
            <a:r>
              <a:rPr lang="en-US" altLang="zh-CN" sz="3600" dirty="0"/>
              <a:t>remember</a:t>
            </a:r>
            <a:r>
              <a:rPr lang="zh-CN" altLang="en-US" sz="3600" dirty="0"/>
              <a:t> </a:t>
            </a:r>
            <a:r>
              <a:rPr lang="en-US" altLang="zh-CN" sz="3600" dirty="0"/>
              <a:t>this?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CN" sz="3600" dirty="0"/>
          </a:p>
          <a:p>
            <a:r>
              <a:rPr lang="en-US" altLang="zh-CN" sz="3600" dirty="0"/>
              <a:t>In</a:t>
            </a:r>
            <a:r>
              <a:rPr lang="zh-CN" altLang="en-US" sz="3600" dirty="0"/>
              <a:t> </a:t>
            </a:r>
            <a:r>
              <a:rPr lang="en-US" altLang="zh-CN" sz="3600" dirty="0"/>
              <a:t>LLVM,</a:t>
            </a:r>
            <a:r>
              <a:rPr lang="zh-CN" altLang="en-US" sz="3600" dirty="0"/>
              <a:t> </a:t>
            </a:r>
            <a:r>
              <a:rPr lang="en-US" altLang="zh-CN" sz="3600" dirty="0"/>
              <a:t>Assembler</a:t>
            </a:r>
            <a:r>
              <a:rPr lang="zh-CN" altLang="en-US" sz="3600" dirty="0"/>
              <a:t> </a:t>
            </a:r>
            <a:r>
              <a:rPr lang="en-US" altLang="zh-CN" sz="3600" dirty="0"/>
              <a:t>and</a:t>
            </a:r>
            <a:r>
              <a:rPr lang="zh-CN" altLang="en-US" sz="3600" dirty="0"/>
              <a:t> </a:t>
            </a:r>
            <a:r>
              <a:rPr lang="en-US" altLang="zh-CN" sz="3600" dirty="0"/>
              <a:t>Linker</a:t>
            </a:r>
            <a:r>
              <a:rPr lang="zh-CN" altLang="en-US" sz="3600" dirty="0"/>
              <a:t> </a:t>
            </a:r>
            <a:r>
              <a:rPr lang="en-US" altLang="zh-CN" sz="3600" dirty="0"/>
              <a:t>are</a:t>
            </a:r>
            <a:r>
              <a:rPr lang="zh-CN" altLang="en-US" sz="3600" dirty="0"/>
              <a:t> </a:t>
            </a:r>
            <a:r>
              <a:rPr lang="en-US" altLang="zh-CN" sz="3600" dirty="0"/>
              <a:t>separated</a:t>
            </a:r>
          </a:p>
          <a:p>
            <a:r>
              <a:rPr lang="en-US" altLang="zh-CN" sz="3600" dirty="0"/>
              <a:t>In</a:t>
            </a:r>
            <a:r>
              <a:rPr lang="zh-CN" altLang="en-US" sz="3600" dirty="0"/>
              <a:t> </a:t>
            </a:r>
            <a:r>
              <a:rPr lang="en-US" altLang="zh-CN" sz="3600" dirty="0"/>
              <a:t>GCC,</a:t>
            </a:r>
            <a:r>
              <a:rPr lang="zh-CN" altLang="en-US" sz="3600" dirty="0"/>
              <a:t> </a:t>
            </a:r>
            <a:r>
              <a:rPr lang="en-US" altLang="zh-CN" sz="3600" dirty="0"/>
              <a:t>Linker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separated</a:t>
            </a:r>
          </a:p>
          <a:p>
            <a:r>
              <a:rPr lang="en-US" altLang="zh-CN" sz="3600" dirty="0"/>
              <a:t>Anyways,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compiler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just</a:t>
            </a:r>
            <a:r>
              <a:rPr lang="zh-CN" altLang="en-US" sz="3600" dirty="0"/>
              <a:t> </a:t>
            </a:r>
            <a:r>
              <a:rPr lang="en-US" altLang="zh-CN" sz="3600" dirty="0"/>
              <a:t>an</a:t>
            </a:r>
            <a:r>
              <a:rPr lang="zh-CN" altLang="en-US" sz="3600" dirty="0"/>
              <a:t> </a:t>
            </a:r>
            <a:r>
              <a:rPr lang="en-US" altLang="zh-CN" sz="3600" dirty="0"/>
              <a:t>“invoker”.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178EE-337A-FE3F-D5BF-CF930E050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29</a:t>
            </a:fld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446B01-A179-5CB7-7761-1990873C2BAA}"/>
              </a:ext>
            </a:extLst>
          </p:cNvPr>
          <p:cNvSpPr/>
          <p:nvPr/>
        </p:nvSpPr>
        <p:spPr>
          <a:xfrm>
            <a:off x="89917" y="2823971"/>
            <a:ext cx="480500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PP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03692E-F0EA-1875-CD0B-007A71C67C09}"/>
              </a:ext>
            </a:extLst>
          </p:cNvPr>
          <p:cNvSpPr/>
          <p:nvPr/>
        </p:nvSpPr>
        <p:spPr>
          <a:xfrm>
            <a:off x="762055" y="2823970"/>
            <a:ext cx="1110342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Tokenizer</a:t>
            </a:r>
            <a:endParaRPr lang="en-C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D30D08-7DBD-B898-C92D-55117617FC17}"/>
              </a:ext>
            </a:extLst>
          </p:cNvPr>
          <p:cNvSpPr/>
          <p:nvPr/>
        </p:nvSpPr>
        <p:spPr>
          <a:xfrm>
            <a:off x="1973871" y="2823970"/>
            <a:ext cx="1028977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Parser</a:t>
            </a:r>
            <a:endParaRPr lang="en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1B0C48-0DE9-812D-7326-DA4EC23A1399}"/>
              </a:ext>
            </a:extLst>
          </p:cNvPr>
          <p:cNvSpPr/>
          <p:nvPr/>
        </p:nvSpPr>
        <p:spPr>
          <a:xfrm>
            <a:off x="3111704" y="2823970"/>
            <a:ext cx="1140907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IR</a:t>
            </a:r>
            <a:r>
              <a:rPr lang="zh-CN" altLang="en-US" dirty="0"/>
              <a:t> </a:t>
            </a:r>
            <a:r>
              <a:rPr lang="en-US" altLang="zh-CN" dirty="0" err="1"/>
              <a:t>CodeGen</a:t>
            </a:r>
            <a:endParaRPr lang="en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CA6043-5347-D079-5F1C-3D1619365541}"/>
              </a:ext>
            </a:extLst>
          </p:cNvPr>
          <p:cNvSpPr/>
          <p:nvPr/>
        </p:nvSpPr>
        <p:spPr>
          <a:xfrm>
            <a:off x="4356698" y="2823970"/>
            <a:ext cx="1215571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Optimizer</a:t>
            </a:r>
            <a:endParaRPr lang="en-C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FFECDB-5A2C-4EE5-40A8-F103854FD5CD}"/>
              </a:ext>
            </a:extLst>
          </p:cNvPr>
          <p:cNvSpPr/>
          <p:nvPr/>
        </p:nvSpPr>
        <p:spPr>
          <a:xfrm>
            <a:off x="5798137" y="2823970"/>
            <a:ext cx="895110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Inst</a:t>
            </a:r>
            <a:r>
              <a:rPr lang="zh-CN" altLang="en-US" dirty="0"/>
              <a:t> </a:t>
            </a:r>
            <a:r>
              <a:rPr lang="en-US" altLang="zh-CN" dirty="0"/>
              <a:t>Select</a:t>
            </a:r>
            <a:endParaRPr lang="en-C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61848E-0E57-51BA-EB63-24B5DFAE624E}"/>
              </a:ext>
            </a:extLst>
          </p:cNvPr>
          <p:cNvCxnSpPr/>
          <p:nvPr/>
        </p:nvCxnSpPr>
        <p:spPr>
          <a:xfrm>
            <a:off x="5689185" y="2482885"/>
            <a:ext cx="0" cy="12119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261320D-AB16-23F6-EE97-09C6B3D71778}"/>
              </a:ext>
            </a:extLst>
          </p:cNvPr>
          <p:cNvSpPr txBox="1"/>
          <p:nvPr/>
        </p:nvSpPr>
        <p:spPr>
          <a:xfrm>
            <a:off x="1850175" y="3329702"/>
            <a:ext cx="1084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Frontend</a:t>
            </a:r>
            <a:endParaRPr lang="en-C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44D04E-E830-3900-4440-0FAE3CCE29FC}"/>
              </a:ext>
            </a:extLst>
          </p:cNvPr>
          <p:cNvSpPr txBox="1"/>
          <p:nvPr/>
        </p:nvSpPr>
        <p:spPr>
          <a:xfrm>
            <a:off x="7109623" y="3374752"/>
            <a:ext cx="1054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Backend</a:t>
            </a:r>
            <a:endParaRPr lang="en-CN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612C4C0-1BC4-EE1B-B0FB-7D172C6DCEE2}"/>
              </a:ext>
            </a:extLst>
          </p:cNvPr>
          <p:cNvCxnSpPr/>
          <p:nvPr/>
        </p:nvCxnSpPr>
        <p:spPr>
          <a:xfrm>
            <a:off x="660580" y="2482885"/>
            <a:ext cx="0" cy="12119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8F89C8A-FC8B-E322-3164-E3412A594633}"/>
              </a:ext>
            </a:extLst>
          </p:cNvPr>
          <p:cNvSpPr/>
          <p:nvPr/>
        </p:nvSpPr>
        <p:spPr>
          <a:xfrm>
            <a:off x="6808745" y="2823970"/>
            <a:ext cx="1215571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Register</a:t>
            </a:r>
            <a:r>
              <a:rPr lang="zh-CN" altLang="en-US" dirty="0"/>
              <a:t> </a:t>
            </a:r>
            <a:r>
              <a:rPr lang="en-US" altLang="zh-CN" dirty="0"/>
              <a:t>Allocation</a:t>
            </a:r>
            <a:endParaRPr lang="en-C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721EB6-733B-6FF9-10F6-1183CCC0EC06}"/>
              </a:ext>
            </a:extLst>
          </p:cNvPr>
          <p:cNvSpPr/>
          <p:nvPr/>
        </p:nvSpPr>
        <p:spPr>
          <a:xfrm>
            <a:off x="8139814" y="2823970"/>
            <a:ext cx="1215571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Machine</a:t>
            </a:r>
            <a:r>
              <a:rPr lang="zh-CN" altLang="en-US" dirty="0"/>
              <a:t> </a:t>
            </a:r>
            <a:r>
              <a:rPr lang="en-US" altLang="zh-CN" dirty="0"/>
              <a:t>Rel.</a:t>
            </a:r>
            <a:r>
              <a:rPr lang="zh-CN" altLang="en-US" dirty="0"/>
              <a:t> </a:t>
            </a:r>
            <a:r>
              <a:rPr lang="en-US" altLang="zh-CN" dirty="0"/>
              <a:t>Opt.</a:t>
            </a:r>
            <a:endParaRPr lang="en-C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10415F6-A461-4E19-2AE8-F0D33C331F4D}"/>
              </a:ext>
            </a:extLst>
          </p:cNvPr>
          <p:cNvCxnSpPr/>
          <p:nvPr/>
        </p:nvCxnSpPr>
        <p:spPr>
          <a:xfrm>
            <a:off x="9477797" y="2482885"/>
            <a:ext cx="0" cy="12119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2FDAC8E6-ADEC-9A51-12BD-9CAF66E627DE}"/>
              </a:ext>
            </a:extLst>
          </p:cNvPr>
          <p:cNvSpPr/>
          <p:nvPr/>
        </p:nvSpPr>
        <p:spPr>
          <a:xfrm>
            <a:off x="9580646" y="2823970"/>
            <a:ext cx="1282212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Assembler</a:t>
            </a:r>
            <a:endParaRPr lang="en-C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BDCB73-279C-FE53-D86A-29FDF4658F09}"/>
              </a:ext>
            </a:extLst>
          </p:cNvPr>
          <p:cNvSpPr/>
          <p:nvPr/>
        </p:nvSpPr>
        <p:spPr>
          <a:xfrm>
            <a:off x="10985269" y="2823970"/>
            <a:ext cx="935601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Link</a:t>
            </a:r>
            <a:r>
              <a:rPr lang="zh-CN" altLang="en-US" dirty="0"/>
              <a:t> </a:t>
            </a:r>
            <a:r>
              <a:rPr lang="en-US" altLang="zh-CN" dirty="0"/>
              <a:t>Lib</a:t>
            </a:r>
            <a:endParaRPr lang="en-C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FF39E9-BB3B-8ACE-070D-11FF013B46CB}"/>
              </a:ext>
            </a:extLst>
          </p:cNvPr>
          <p:cNvSpPr txBox="1"/>
          <p:nvPr/>
        </p:nvSpPr>
        <p:spPr>
          <a:xfrm>
            <a:off x="6915150" y="5600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0958696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CB71C-62F3-A8BB-6E36-703C48503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Link</a:t>
            </a:r>
            <a:r>
              <a:rPr lang="zh-CN" altLang="en-US" sz="5400" dirty="0"/>
              <a:t> </a:t>
            </a:r>
            <a:r>
              <a:rPr lang="en-US" altLang="zh-CN" sz="5400" dirty="0"/>
              <a:t>the</a:t>
            </a:r>
            <a:r>
              <a:rPr lang="zh-CN" altLang="en-US" sz="5400" dirty="0"/>
              <a:t> </a:t>
            </a:r>
            <a:r>
              <a:rPr lang="en-US" altLang="zh-CN" sz="5400" dirty="0"/>
              <a:t>libraries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4DB8B-2DDC-1717-E19B-51CED95EC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721867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Compile</a:t>
            </a:r>
            <a:r>
              <a:rPr lang="zh-CN" altLang="en-US" sz="3200" dirty="0"/>
              <a:t> </a:t>
            </a: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/>
              <a:t>program</a:t>
            </a:r>
            <a:r>
              <a:rPr lang="zh-CN" altLang="en-US" sz="3200" dirty="0"/>
              <a:t> </a:t>
            </a:r>
            <a:r>
              <a:rPr lang="en-US" altLang="zh-CN" sz="3200" dirty="0"/>
              <a:t>with</a:t>
            </a:r>
            <a:r>
              <a:rPr lang="zh-CN" altLang="en-US" sz="3200" dirty="0"/>
              <a:t> </a:t>
            </a:r>
            <a:r>
              <a:rPr lang="en-US" altLang="zh-CN" sz="3200" dirty="0"/>
              <a:t>different</a:t>
            </a:r>
            <a:r>
              <a:rPr lang="zh-CN" altLang="en-US" sz="3200" dirty="0"/>
              <a:t> </a:t>
            </a:r>
            <a:r>
              <a:rPr lang="en-US" altLang="zh-CN" sz="3200" dirty="0"/>
              <a:t>linkages</a:t>
            </a:r>
            <a:endParaRPr lang="en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944EF-DC1B-77EE-DA28-0D33193AB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30</a:t>
            </a:fld>
            <a:endParaRPr lang="en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351BC6-5BDF-E1BE-6A04-044079FAE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4689475"/>
            <a:ext cx="7620000" cy="1803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46BC63-B000-0FC6-8943-8CBD713D06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144"/>
          <a:stretch>
            <a:fillRect/>
          </a:stretch>
        </p:blipFill>
        <p:spPr>
          <a:xfrm>
            <a:off x="944880" y="2412555"/>
            <a:ext cx="4267200" cy="20050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90488D-4A3F-36B1-D686-0C7770D02DB7}"/>
              </a:ext>
            </a:extLst>
          </p:cNvPr>
          <p:cNvSpPr txBox="1"/>
          <p:nvPr/>
        </p:nvSpPr>
        <p:spPr>
          <a:xfrm>
            <a:off x="5318760" y="2890390"/>
            <a:ext cx="667644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13200" indent="-313200">
              <a:buFont typeface="Arial" panose="020B0604020202020204" pitchFamily="34" charset="0"/>
              <a:buChar char="•"/>
            </a:pPr>
            <a:r>
              <a:rPr lang="en-US" altLang="zh-CN" sz="3200" dirty="0"/>
              <a:t>Non-static</a:t>
            </a:r>
            <a:r>
              <a:rPr lang="zh-CN" altLang="en-US" sz="3200" dirty="0"/>
              <a:t> </a:t>
            </a:r>
            <a:r>
              <a:rPr lang="en-US" altLang="zh-CN" sz="3200" dirty="0"/>
              <a:t>is</a:t>
            </a:r>
            <a:r>
              <a:rPr lang="zh-CN" altLang="en-US" sz="3200" dirty="0"/>
              <a:t> </a:t>
            </a:r>
            <a:r>
              <a:rPr lang="en-US" altLang="zh-CN" sz="3200" dirty="0"/>
              <a:t>10x</a:t>
            </a:r>
            <a:r>
              <a:rPr lang="zh-CN" altLang="en-US" sz="3200" dirty="0"/>
              <a:t> </a:t>
            </a:r>
            <a:r>
              <a:rPr lang="en-US" altLang="zh-CN" sz="3200" dirty="0"/>
              <a:t>larger</a:t>
            </a:r>
            <a:r>
              <a:rPr lang="zh-CN" altLang="en-US" sz="3200" dirty="0"/>
              <a:t> </a:t>
            </a:r>
            <a:r>
              <a:rPr lang="en-US" altLang="zh-CN" sz="3200" dirty="0"/>
              <a:t>than</a:t>
            </a:r>
            <a:r>
              <a:rPr lang="zh-CN" altLang="en-US" sz="3200" dirty="0"/>
              <a:t> </a:t>
            </a:r>
            <a:r>
              <a:rPr lang="en-US" altLang="zh-CN" sz="3200" dirty="0"/>
              <a:t>static</a:t>
            </a:r>
          </a:p>
          <a:p>
            <a:pPr marL="313200" indent="-313200">
              <a:buFont typeface="Arial" panose="020B0604020202020204" pitchFamily="34" charset="0"/>
              <a:buChar char="•"/>
            </a:pPr>
            <a:r>
              <a:rPr lang="en-US" altLang="zh-CN" sz="3200" dirty="0"/>
              <a:t>Why?</a:t>
            </a:r>
            <a:endParaRPr lang="en-CN" sz="3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C0DF4A-12B2-D545-6FDC-AC5F8523F812}"/>
              </a:ext>
            </a:extLst>
          </p:cNvPr>
          <p:cNvSpPr/>
          <p:nvPr/>
        </p:nvSpPr>
        <p:spPr>
          <a:xfrm>
            <a:off x="4732020" y="5236845"/>
            <a:ext cx="960120" cy="354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CF9898-9BA4-4892-9B8C-B57B1E5B237D}"/>
              </a:ext>
            </a:extLst>
          </p:cNvPr>
          <p:cNvSpPr/>
          <p:nvPr/>
        </p:nvSpPr>
        <p:spPr>
          <a:xfrm>
            <a:off x="4732020" y="6138545"/>
            <a:ext cx="1062990" cy="354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157018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842CD-4A1C-8FDF-0E13-4FB2A7167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Library</a:t>
            </a:r>
            <a:r>
              <a:rPr lang="zh-CN" altLang="en-US" sz="5400" dirty="0"/>
              <a:t> </a:t>
            </a:r>
            <a:r>
              <a:rPr lang="en-US" altLang="zh-CN" sz="5400" dirty="0"/>
              <a:t>Linkage</a:t>
            </a:r>
            <a:r>
              <a:rPr lang="zh-CN" altLang="en-US" sz="5400" dirty="0"/>
              <a:t> </a:t>
            </a:r>
            <a:r>
              <a:rPr lang="en-US" altLang="zh-CN" sz="5400" dirty="0"/>
              <a:t>(CONT’D)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7D8B3-76E4-5069-9E69-D6746EA2C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60875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How</a:t>
            </a:r>
            <a:r>
              <a:rPr lang="zh-CN" altLang="en-US" sz="3600" dirty="0"/>
              <a:t> </a:t>
            </a:r>
            <a:r>
              <a:rPr lang="en-US" altLang="zh-CN" sz="3600" dirty="0"/>
              <a:t>many</a:t>
            </a:r>
            <a:r>
              <a:rPr lang="zh-CN" altLang="en-US" sz="3600" dirty="0"/>
              <a:t> </a:t>
            </a:r>
            <a:r>
              <a:rPr lang="en-US" altLang="zh-CN" sz="3600" dirty="0"/>
              <a:t>people</a:t>
            </a:r>
            <a:r>
              <a:rPr lang="zh-CN" altLang="en-US" sz="3600" dirty="0"/>
              <a:t> </a:t>
            </a:r>
            <a:r>
              <a:rPr lang="en-US" altLang="zh-CN" sz="3600" dirty="0"/>
              <a:t>are</a:t>
            </a:r>
            <a:r>
              <a:rPr lang="zh-CN" altLang="en-US" sz="3600" dirty="0"/>
              <a:t> </a:t>
            </a:r>
            <a:r>
              <a:rPr lang="en-US" altLang="zh-CN" sz="3600" dirty="0"/>
              <a:t>playing</a:t>
            </a:r>
            <a:r>
              <a:rPr lang="zh-CN" altLang="en-US" sz="3600" dirty="0"/>
              <a:t> </a:t>
            </a:r>
            <a:r>
              <a:rPr lang="en-US" altLang="zh-CN" sz="3600" dirty="0"/>
              <a:t>games</a:t>
            </a:r>
            <a:r>
              <a:rPr lang="zh-CN" altLang="en-US" sz="3600" dirty="0"/>
              <a:t> </a:t>
            </a:r>
            <a:r>
              <a:rPr lang="en-US" altLang="zh-CN" sz="3600" dirty="0"/>
              <a:t>on</a:t>
            </a:r>
            <a:r>
              <a:rPr lang="zh-CN" altLang="en-US" sz="3600" dirty="0"/>
              <a:t> </a:t>
            </a:r>
            <a:r>
              <a:rPr lang="en-US" altLang="zh-CN" sz="3600" dirty="0"/>
              <a:t>Steam</a:t>
            </a:r>
            <a:r>
              <a:rPr lang="zh-CN" altLang="en-US" sz="3600" dirty="0"/>
              <a:t> </a:t>
            </a:r>
            <a:r>
              <a:rPr lang="en-US" altLang="zh-CN" sz="3600" dirty="0"/>
              <a:t>especially</a:t>
            </a:r>
            <a:r>
              <a:rPr lang="zh-CN" altLang="en-US" sz="3600" dirty="0"/>
              <a:t> </a:t>
            </a:r>
            <a:r>
              <a:rPr lang="en-US" altLang="zh-CN" sz="3600" dirty="0"/>
              <a:t>on</a:t>
            </a:r>
            <a:r>
              <a:rPr lang="zh-CN" altLang="en-US" sz="3600" dirty="0"/>
              <a:t> </a:t>
            </a:r>
            <a:r>
              <a:rPr lang="en-US" altLang="zh-CN" sz="3600" dirty="0"/>
              <a:t>Windows?</a:t>
            </a:r>
          </a:p>
          <a:p>
            <a:pPr lvl="1"/>
            <a:r>
              <a:rPr lang="en-US" altLang="zh-CN" sz="3200" dirty="0"/>
              <a:t>Before</a:t>
            </a:r>
            <a:r>
              <a:rPr lang="zh-CN" altLang="en-US" sz="3200" dirty="0"/>
              <a:t> </a:t>
            </a:r>
            <a:r>
              <a:rPr lang="en-US" altLang="zh-CN" sz="3200" dirty="0"/>
              <a:t>installing</a:t>
            </a:r>
            <a:r>
              <a:rPr lang="zh-CN" altLang="en-US" sz="3200" dirty="0"/>
              <a:t> </a:t>
            </a:r>
            <a:r>
              <a:rPr lang="en-US" altLang="zh-CN" sz="3200" dirty="0"/>
              <a:t>in</a:t>
            </a:r>
            <a:r>
              <a:rPr lang="zh-CN" altLang="en-US" sz="3200" dirty="0"/>
              <a:t> </a:t>
            </a:r>
            <a:r>
              <a:rPr lang="en-US" altLang="zh-CN" sz="3200" dirty="0"/>
              <a:t>a</a:t>
            </a:r>
            <a:r>
              <a:rPr lang="zh-CN" altLang="en-US" sz="3200" dirty="0"/>
              <a:t> </a:t>
            </a:r>
            <a:r>
              <a:rPr lang="en-US" altLang="zh-CN" sz="3200" dirty="0"/>
              <a:t>game</a:t>
            </a:r>
            <a:r>
              <a:rPr lang="zh-CN" altLang="en-US" sz="3200" dirty="0"/>
              <a:t> </a:t>
            </a:r>
            <a:r>
              <a:rPr lang="en-US" altLang="zh-CN" sz="3200" dirty="0"/>
              <a:t>did</a:t>
            </a:r>
            <a:r>
              <a:rPr lang="zh-CN" altLang="en-US" sz="3200" dirty="0"/>
              <a:t> </a:t>
            </a:r>
            <a:r>
              <a:rPr lang="en-US" altLang="zh-CN" sz="3200" dirty="0"/>
              <a:t>you</a:t>
            </a:r>
            <a:r>
              <a:rPr lang="zh-CN" altLang="en-US" sz="3200" dirty="0"/>
              <a:t> </a:t>
            </a:r>
            <a:r>
              <a:rPr lang="en-US" altLang="zh-CN" sz="3200" dirty="0"/>
              <a:t>see</a:t>
            </a:r>
            <a:r>
              <a:rPr lang="zh-CN" altLang="en-US" sz="3200" dirty="0"/>
              <a:t> </a:t>
            </a:r>
            <a:r>
              <a:rPr lang="en-US" altLang="zh-CN" sz="3200" dirty="0"/>
              <a:t>what</a:t>
            </a:r>
            <a:r>
              <a:rPr lang="zh-CN" altLang="en-US" sz="3200" dirty="0"/>
              <a:t> </a:t>
            </a:r>
            <a:r>
              <a:rPr lang="en-US" altLang="zh-CN" sz="3200" dirty="0"/>
              <a:t>were</a:t>
            </a:r>
            <a:r>
              <a:rPr lang="zh-CN" altLang="en-US" sz="3200" dirty="0"/>
              <a:t> </a:t>
            </a:r>
            <a:r>
              <a:rPr lang="en-US" altLang="zh-CN" sz="3200" dirty="0"/>
              <a:t>installed?</a:t>
            </a:r>
          </a:p>
          <a:p>
            <a:r>
              <a:rPr lang="en-US" altLang="zh-CN" sz="3600" dirty="0"/>
              <a:t>Actually,</a:t>
            </a:r>
            <a:r>
              <a:rPr lang="zh-CN" altLang="en-US" sz="3600" dirty="0"/>
              <a:t> </a:t>
            </a:r>
            <a:r>
              <a:rPr lang="en-US" altLang="zh-CN" sz="3600" dirty="0"/>
              <a:t>these</a:t>
            </a:r>
            <a:r>
              <a:rPr lang="zh-CN" altLang="en-US" sz="3600" dirty="0"/>
              <a:t> </a:t>
            </a:r>
            <a:r>
              <a:rPr lang="en-US" altLang="zh-CN" sz="3600" dirty="0"/>
              <a:t>three</a:t>
            </a:r>
            <a:r>
              <a:rPr lang="zh-CN" altLang="en-US" sz="3600" dirty="0"/>
              <a:t> </a:t>
            </a:r>
            <a:r>
              <a:rPr lang="en-US" altLang="zh-CN" sz="3600" dirty="0"/>
              <a:t>are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same</a:t>
            </a:r>
            <a:r>
              <a:rPr lang="zh-CN" altLang="en-US" sz="3600" dirty="0"/>
              <a:t> </a:t>
            </a:r>
            <a:r>
              <a:rPr lang="en-US" altLang="zh-CN" sz="3600" dirty="0"/>
              <a:t>thing:</a:t>
            </a:r>
          </a:p>
          <a:p>
            <a:pPr lvl="1"/>
            <a:r>
              <a:rPr lang="en-US" altLang="zh-CN" sz="3200" dirty="0"/>
              <a:t>Linux:</a:t>
            </a:r>
            <a:r>
              <a:rPr lang="zh-CN" altLang="en-US" sz="3200" dirty="0"/>
              <a:t> </a:t>
            </a:r>
            <a:r>
              <a:rPr lang="en-US" altLang="zh-CN" sz="3200" dirty="0"/>
              <a:t>.so</a:t>
            </a:r>
          </a:p>
          <a:p>
            <a:pPr lvl="1"/>
            <a:r>
              <a:rPr lang="en-US" altLang="zh-CN" sz="3200" dirty="0"/>
              <a:t>MacOS:</a:t>
            </a:r>
            <a:r>
              <a:rPr lang="zh-CN" altLang="en-US" sz="3200" dirty="0"/>
              <a:t> </a:t>
            </a:r>
            <a:r>
              <a:rPr lang="en-US" altLang="zh-CN" sz="3200" dirty="0"/>
              <a:t>.</a:t>
            </a:r>
            <a:r>
              <a:rPr lang="en-US" altLang="zh-CN" sz="3200" dirty="0" err="1"/>
              <a:t>dylib</a:t>
            </a:r>
            <a:endParaRPr lang="en-US" altLang="zh-CN" sz="3200" dirty="0"/>
          </a:p>
          <a:p>
            <a:pPr lvl="1"/>
            <a:r>
              <a:rPr lang="en-US" altLang="zh-CN" sz="3200" dirty="0"/>
              <a:t>Windows:</a:t>
            </a:r>
            <a:r>
              <a:rPr lang="zh-CN" altLang="en-US" sz="3200" dirty="0"/>
              <a:t> </a:t>
            </a:r>
            <a:r>
              <a:rPr lang="en-US" altLang="zh-CN" sz="3200" dirty="0"/>
              <a:t>.</a:t>
            </a:r>
            <a:r>
              <a:rPr lang="en-US" altLang="zh-CN" sz="3200" dirty="0" err="1"/>
              <a:t>dll</a:t>
            </a:r>
            <a:endParaRPr lang="en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70C30-FEE4-0E01-587C-09CCC99D1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31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C37F67-FAA4-6977-B695-63C5D0BBD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2200" y="158750"/>
            <a:ext cx="1473200" cy="1485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6F65AA-4C5B-6B61-9FA1-AD9E28BBAF40}"/>
              </a:ext>
            </a:extLst>
          </p:cNvPr>
          <p:cNvSpPr txBox="1"/>
          <p:nvPr/>
        </p:nvSpPr>
        <p:spPr>
          <a:xfrm>
            <a:off x="6603683" y="6492875"/>
            <a:ext cx="4929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Source:</a:t>
            </a:r>
            <a:r>
              <a:rPr lang="zh-CN" altLang="en-US" dirty="0"/>
              <a:t> </a:t>
            </a:r>
            <a:r>
              <a:rPr lang="en-CN" dirty="0">
                <a:hlinkClick r:id="rId3"/>
              </a:rPr>
              <a:t>https://en.wikipedia.org/wiki/DLL_hell</a:t>
            </a:r>
            <a:endParaRPr lang="en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9283C7-2E61-CAEE-E381-ED32DF9DD499}"/>
              </a:ext>
            </a:extLst>
          </p:cNvPr>
          <p:cNvSpPr txBox="1"/>
          <p:nvPr/>
        </p:nvSpPr>
        <p:spPr>
          <a:xfrm>
            <a:off x="5189220" y="4948079"/>
            <a:ext cx="45752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An</a:t>
            </a:r>
            <a:r>
              <a:rPr lang="zh-CN" altLang="en-US" sz="2400" dirty="0"/>
              <a:t> </a:t>
            </a:r>
            <a:r>
              <a:rPr lang="en-US" altLang="zh-CN" sz="2400" dirty="0"/>
              <a:t>executable</a:t>
            </a:r>
            <a:r>
              <a:rPr lang="zh-CN" altLang="en-US" sz="2400" dirty="0"/>
              <a:t> </a:t>
            </a:r>
            <a:r>
              <a:rPr lang="en-US" altLang="zh-CN" sz="2400" dirty="0"/>
              <a:t>w/o</a:t>
            </a:r>
            <a:r>
              <a:rPr lang="zh-CN" altLang="en-US" sz="2400" dirty="0"/>
              <a:t> </a:t>
            </a:r>
            <a:r>
              <a:rPr lang="en-US" altLang="zh-CN" sz="2400" dirty="0"/>
              <a:t>main</a:t>
            </a:r>
            <a:r>
              <a:rPr lang="zh-CN" altLang="en-US" sz="2400" dirty="0"/>
              <a:t> </a:t>
            </a:r>
            <a:r>
              <a:rPr lang="en-US" altLang="zh-CN" sz="2400" dirty="0"/>
              <a:t>entrance</a:t>
            </a:r>
          </a:p>
          <a:p>
            <a:r>
              <a:rPr lang="en-US" altLang="zh-CN" sz="2400" dirty="0"/>
              <a:t>Then,</a:t>
            </a:r>
            <a:r>
              <a:rPr lang="zh-CN" altLang="en-US" sz="2400" dirty="0"/>
              <a:t> </a:t>
            </a:r>
            <a:r>
              <a:rPr lang="en-US" altLang="zh-CN" sz="2400" dirty="0"/>
              <a:t>who</a:t>
            </a:r>
            <a:r>
              <a:rPr lang="zh-CN" altLang="en-US" sz="2400" dirty="0"/>
              <a:t> </a:t>
            </a:r>
            <a:r>
              <a:rPr lang="en-US" altLang="zh-CN" sz="2400" dirty="0"/>
              <a:t>drives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execution?</a:t>
            </a:r>
            <a:endParaRPr lang="en-CN" sz="2400" dirty="0"/>
          </a:p>
        </p:txBody>
      </p:sp>
    </p:spTree>
    <p:extLst>
      <p:ext uri="{BB962C8B-B14F-4D97-AF65-F5344CB8AC3E}">
        <p14:creationId xmlns:p14="http://schemas.microsoft.com/office/powerpoint/2010/main" val="245682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50F5F-1BC3-82B8-BE16-18D1F9BAC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Dynamic</a:t>
            </a:r>
            <a:r>
              <a:rPr lang="en-US" altLang="zh-CN" dirty="0"/>
              <a:t>/Static</a:t>
            </a:r>
            <a:r>
              <a:rPr lang="zh-CN" altLang="en-US" dirty="0"/>
              <a:t> </a:t>
            </a:r>
            <a:r>
              <a:rPr lang="en-US" altLang="zh-CN" dirty="0"/>
              <a:t>Linkage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FBE35-C452-FBE8-1209-1F96E6EF3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460230" cy="4351338"/>
          </a:xfrm>
        </p:spPr>
        <p:txBody>
          <a:bodyPr>
            <a:normAutofit/>
          </a:bodyPr>
          <a:lstStyle/>
          <a:p>
            <a:r>
              <a:rPr lang="en-CN" sz="3600" dirty="0"/>
              <a:t>Meta</a:t>
            </a:r>
            <a:r>
              <a:rPr lang="en-US" altLang="zh-CN" sz="3600" dirty="0" err="1"/>
              <a:t>phor</a:t>
            </a:r>
            <a:r>
              <a:rPr lang="en-US" altLang="zh-CN" sz="3600" dirty="0"/>
              <a:t>:</a:t>
            </a:r>
            <a:r>
              <a:rPr lang="zh-CN" altLang="en-US" sz="3600" dirty="0"/>
              <a:t> </a:t>
            </a:r>
            <a:r>
              <a:rPr lang="en-US" altLang="zh-CN" sz="3600" dirty="0"/>
              <a:t>I</a:t>
            </a:r>
            <a:r>
              <a:rPr lang="zh-CN" altLang="en-US" sz="3600" dirty="0"/>
              <a:t> </a:t>
            </a:r>
            <a:r>
              <a:rPr lang="en-US" altLang="zh-CN" sz="3600" dirty="0"/>
              <a:t>want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reference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file</a:t>
            </a:r>
            <a:r>
              <a:rPr lang="zh-CN" altLang="en-US" sz="3600" dirty="0"/>
              <a:t> </a:t>
            </a:r>
            <a:r>
              <a:rPr lang="en-US" altLang="zh-CN" sz="3600" dirty="0"/>
              <a:t>in</a:t>
            </a:r>
            <a:r>
              <a:rPr lang="zh-CN" altLang="en-US" sz="3600" dirty="0"/>
              <a:t> </a:t>
            </a:r>
            <a:r>
              <a:rPr lang="en-US" altLang="zh-CN" sz="3600" dirty="0"/>
              <a:t>Linux</a:t>
            </a:r>
            <a:r>
              <a:rPr lang="zh-CN" altLang="en-US" sz="3600" dirty="0"/>
              <a:t> </a:t>
            </a:r>
            <a:r>
              <a:rPr lang="en-US" altLang="zh-CN" sz="3600" dirty="0"/>
              <a:t>in</a:t>
            </a:r>
            <a:r>
              <a:rPr lang="zh-CN" altLang="en-US" sz="3600" dirty="0"/>
              <a:t> </a:t>
            </a:r>
            <a:r>
              <a:rPr lang="en-US" altLang="zh-CN" sz="3600" dirty="0"/>
              <a:t>my</a:t>
            </a:r>
            <a:r>
              <a:rPr lang="zh-CN" altLang="en-US" sz="3600" dirty="0"/>
              <a:t> </a:t>
            </a:r>
            <a:r>
              <a:rPr lang="en-US" altLang="zh-CN" sz="3600" dirty="0"/>
              <a:t>project</a:t>
            </a:r>
          </a:p>
          <a:p>
            <a:pPr lvl="1"/>
            <a:r>
              <a:rPr lang="en-US" altLang="zh-CN" sz="2800" dirty="0"/>
              <a:t>Option</a:t>
            </a:r>
            <a:r>
              <a:rPr lang="zh-CN" altLang="en-US" sz="2800" dirty="0"/>
              <a:t> </a:t>
            </a:r>
            <a:r>
              <a:rPr lang="en-US" altLang="zh-CN" sz="2800" dirty="0"/>
              <a:t>1:</a:t>
            </a:r>
            <a:r>
              <a:rPr lang="zh-CN" altLang="en-US" sz="2800" dirty="0"/>
              <a:t> </a:t>
            </a:r>
            <a:r>
              <a:rPr lang="en-US" altLang="zh-CN" sz="2800" dirty="0"/>
              <a:t>Just</a:t>
            </a:r>
            <a:r>
              <a:rPr lang="zh-CN" altLang="en-US" sz="2800" dirty="0"/>
              <a:t> </a:t>
            </a:r>
            <a:r>
              <a:rPr lang="en-US" altLang="zh-CN" sz="2800" dirty="0"/>
              <a:t>copy</a:t>
            </a:r>
            <a:r>
              <a:rPr lang="zh-CN" altLang="en-US" sz="2800" dirty="0"/>
              <a:t> </a:t>
            </a:r>
            <a:r>
              <a:rPr lang="en-US" altLang="zh-CN" sz="2800" dirty="0"/>
              <a:t>it!</a:t>
            </a:r>
          </a:p>
          <a:p>
            <a:pPr lvl="1"/>
            <a:endParaRPr lang="en-US" altLang="zh-CN" sz="2800" dirty="0"/>
          </a:p>
          <a:p>
            <a:pPr lvl="1"/>
            <a:endParaRPr lang="en-US" altLang="zh-CN" sz="2800" dirty="0"/>
          </a:p>
          <a:p>
            <a:pPr lvl="1"/>
            <a:r>
              <a:rPr lang="en-US" altLang="zh-CN" sz="2800" dirty="0"/>
              <a:t>Option</a:t>
            </a:r>
            <a:r>
              <a:rPr lang="zh-CN" altLang="en-US" sz="2800" dirty="0"/>
              <a:t> </a:t>
            </a:r>
            <a:r>
              <a:rPr lang="en-US" altLang="zh-CN" sz="2800" dirty="0"/>
              <a:t>2:</a:t>
            </a:r>
            <a:r>
              <a:rPr lang="zh-CN" altLang="en-US" sz="2800" dirty="0"/>
              <a:t> </a:t>
            </a:r>
            <a:r>
              <a:rPr lang="en-US" altLang="zh-CN" sz="2800" dirty="0"/>
              <a:t>Link,</a:t>
            </a:r>
            <a:r>
              <a:rPr lang="zh-CN" altLang="en-US" sz="2800" dirty="0"/>
              <a:t> </a:t>
            </a:r>
            <a:r>
              <a:rPr lang="en-US" altLang="zh-CN" sz="2800" dirty="0"/>
              <a:t>a</a:t>
            </a:r>
            <a:r>
              <a:rPr lang="zh-CN" altLang="en-US" sz="2800" dirty="0"/>
              <a:t> </a:t>
            </a:r>
            <a:r>
              <a:rPr lang="en-US" altLang="zh-CN" sz="2800" dirty="0"/>
              <a:t>soft</a:t>
            </a:r>
            <a:r>
              <a:rPr lang="zh-CN" altLang="en-US" sz="2800" dirty="0"/>
              <a:t> </a:t>
            </a:r>
            <a:r>
              <a:rPr lang="en-US" altLang="zh-CN" sz="2800" dirty="0"/>
              <a:t>link.</a:t>
            </a:r>
            <a:endParaRPr lang="en-US" altLang="zh-CN" sz="3600" dirty="0"/>
          </a:p>
          <a:p>
            <a:pPr lvl="1"/>
            <a:endParaRPr lang="en-US" altLang="zh-CN" sz="3600" dirty="0"/>
          </a:p>
          <a:p>
            <a:pPr lvl="2"/>
            <a:r>
              <a:rPr lang="en-US" altLang="zh-CN" sz="2400" dirty="0"/>
              <a:t>You</a:t>
            </a:r>
            <a:r>
              <a:rPr lang="zh-CN" altLang="en-US" sz="2400" dirty="0"/>
              <a:t> </a:t>
            </a:r>
            <a:r>
              <a:rPr lang="en-US" altLang="zh-CN" sz="2400" dirty="0"/>
              <a:t>may</a:t>
            </a:r>
            <a:r>
              <a:rPr lang="zh-CN" altLang="en-US" sz="2400" dirty="0"/>
              <a:t> </a:t>
            </a:r>
            <a:r>
              <a:rPr lang="en-US" altLang="zh-CN" sz="2400" dirty="0"/>
              <a:t>just</a:t>
            </a:r>
            <a:r>
              <a:rPr lang="zh-CN" altLang="en-US" sz="2400" dirty="0"/>
              <a:t> </a:t>
            </a:r>
            <a:r>
              <a:rPr lang="en-US" altLang="zh-CN" sz="2400" dirty="0"/>
              <a:t>regard</a:t>
            </a:r>
            <a:r>
              <a:rPr lang="zh-CN" altLang="en-US" sz="2400" dirty="0"/>
              <a:t> </a:t>
            </a:r>
            <a:r>
              <a:rPr lang="en-US" altLang="zh-CN" sz="2400" dirty="0"/>
              <a:t>soft</a:t>
            </a:r>
            <a:r>
              <a:rPr lang="zh-CN" altLang="en-US" sz="2400" dirty="0"/>
              <a:t> </a:t>
            </a:r>
            <a:r>
              <a:rPr lang="en-US" altLang="zh-CN" sz="2400" dirty="0"/>
              <a:t>link</a:t>
            </a:r>
            <a:r>
              <a:rPr lang="zh-CN" altLang="en-US" sz="2400" dirty="0"/>
              <a:t> </a:t>
            </a:r>
            <a:r>
              <a:rPr lang="en-US" altLang="zh-CN" sz="2400" dirty="0"/>
              <a:t>like</a:t>
            </a:r>
            <a:r>
              <a:rPr lang="zh-CN" altLang="en-US" sz="2400" dirty="0"/>
              <a:t> </a:t>
            </a:r>
            <a:r>
              <a:rPr lang="en-US" altLang="zh-CN" sz="2400" dirty="0"/>
              <a:t>a</a:t>
            </a:r>
            <a:r>
              <a:rPr lang="zh-CN" altLang="en-US" sz="2400" dirty="0"/>
              <a:t> </a:t>
            </a:r>
            <a:r>
              <a:rPr lang="en-US" altLang="zh-CN" sz="2400" dirty="0"/>
              <a:t>short</a:t>
            </a:r>
            <a:r>
              <a:rPr lang="zh-CN" altLang="en-US" sz="2400" dirty="0"/>
              <a:t> </a:t>
            </a:r>
            <a:r>
              <a:rPr lang="en-US" altLang="zh-CN" sz="2400" dirty="0"/>
              <a:t>cut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3532E-C6F1-7903-8A77-053D81F0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32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8A39F9-735C-D62D-A0D2-B6735F3B5386}"/>
              </a:ext>
            </a:extLst>
          </p:cNvPr>
          <p:cNvSpPr txBox="1"/>
          <p:nvPr/>
        </p:nvSpPr>
        <p:spPr>
          <a:xfrm>
            <a:off x="1725928" y="3406417"/>
            <a:ext cx="6636753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cp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source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linkage</a:t>
            </a:r>
            <a:endParaRPr lang="en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4DBAAC-457B-8896-E5D2-F04B2AC618DA}"/>
              </a:ext>
            </a:extLst>
          </p:cNvPr>
          <p:cNvSpPr txBox="1"/>
          <p:nvPr/>
        </p:nvSpPr>
        <p:spPr>
          <a:xfrm>
            <a:off x="1725928" y="4791690"/>
            <a:ext cx="6636753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ln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–s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source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dynamic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linkage</a:t>
            </a:r>
            <a:endParaRPr lang="en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26" name="Picture 2" descr="快捷方式_百度百科">
            <a:extLst>
              <a:ext uri="{FF2B5EF4-FFF2-40B4-BE49-F238E27FC236}">
                <a16:creationId xmlns:a16="http://schemas.microsoft.com/office/drawing/2014/main" id="{7A586932-D2A3-F112-B6F6-7759C3F3B9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1651" y="5256334"/>
            <a:ext cx="385079" cy="385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91378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E11E1-3795-524B-56DE-E21339A62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2AC89-1985-69CB-3C33-4D9D582CD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Where</a:t>
            </a:r>
            <a:r>
              <a:rPr lang="zh-CN" altLang="en-US" sz="5400" dirty="0"/>
              <a:t> </a:t>
            </a:r>
            <a:r>
              <a:rPr lang="en-US" altLang="zh-CN" sz="5400" dirty="0"/>
              <a:t>did</a:t>
            </a:r>
            <a:r>
              <a:rPr lang="zh-CN" altLang="en-US" sz="5400" dirty="0"/>
              <a:t> </a:t>
            </a:r>
            <a:r>
              <a:rPr lang="en-US" altLang="zh-CN" sz="5400" dirty="0"/>
              <a:t>you</a:t>
            </a:r>
            <a:r>
              <a:rPr lang="zh-CN" altLang="en-US" sz="5400" dirty="0"/>
              <a:t> </a:t>
            </a:r>
            <a:r>
              <a:rPr lang="en-US" altLang="zh-CN" sz="5400" dirty="0"/>
              <a:t>get</a:t>
            </a:r>
            <a:r>
              <a:rPr lang="zh-CN" altLang="en-US" sz="5400" dirty="0"/>
              <a:t> </a:t>
            </a:r>
            <a:r>
              <a:rPr lang="en-US" altLang="zh-CN" sz="5400" dirty="0"/>
              <a:t>the</a:t>
            </a:r>
            <a:r>
              <a:rPr lang="zh-CN" altLang="en-US" sz="5400" dirty="0"/>
              <a:t> </a:t>
            </a:r>
            <a:r>
              <a:rPr lang="en-US" altLang="zh-CN" sz="5400" dirty="0"/>
              <a:t>C</a:t>
            </a:r>
            <a:r>
              <a:rPr lang="zh-CN" altLang="en-US" sz="5400" dirty="0"/>
              <a:t> </a:t>
            </a:r>
            <a:r>
              <a:rPr lang="en-US" altLang="zh-CN" sz="5400" dirty="0"/>
              <a:t>toolchain?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C17C4-93FA-5A37-BF8E-89028D08C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055578" cy="4061608"/>
          </a:xfrm>
        </p:spPr>
        <p:txBody>
          <a:bodyPr>
            <a:normAutofit/>
          </a:bodyPr>
          <a:lstStyle/>
          <a:p>
            <a:r>
              <a:rPr lang="en-CN" sz="3600" dirty="0"/>
              <a:t>Q</a:t>
            </a:r>
            <a:r>
              <a:rPr lang="en-US" altLang="zh-CN" sz="3600" dirty="0" err="1"/>
              <a:t>uick</a:t>
            </a:r>
            <a:r>
              <a:rPr lang="zh-CN" altLang="en-US" sz="3600" dirty="0"/>
              <a:t> </a:t>
            </a:r>
            <a:r>
              <a:rPr lang="en-US" altLang="zh-CN" sz="3600" dirty="0"/>
              <a:t>question:</a:t>
            </a:r>
            <a:r>
              <a:rPr lang="zh-CN" altLang="en-US" sz="3600" dirty="0"/>
              <a:t> </a:t>
            </a:r>
            <a:r>
              <a:rPr lang="en-US" altLang="zh-CN" sz="3600" dirty="0"/>
              <a:t>Where</a:t>
            </a:r>
            <a:r>
              <a:rPr lang="zh-CN" altLang="en-US" sz="3600" dirty="0"/>
              <a:t> </a:t>
            </a:r>
            <a:r>
              <a:rPr lang="en-US" altLang="zh-CN" sz="3600" dirty="0"/>
              <a:t>did</a:t>
            </a:r>
            <a:r>
              <a:rPr lang="zh-CN" altLang="en-US" sz="3600" dirty="0"/>
              <a:t> </a:t>
            </a:r>
            <a:r>
              <a:rPr lang="en-US" altLang="zh-CN" sz="3600" dirty="0"/>
              <a:t>you</a:t>
            </a:r>
            <a:r>
              <a:rPr lang="zh-CN" altLang="en-US" sz="3600" dirty="0"/>
              <a:t> </a:t>
            </a:r>
            <a:r>
              <a:rPr lang="en-US" altLang="zh-CN" sz="3600" dirty="0"/>
              <a:t>get</a:t>
            </a:r>
            <a:r>
              <a:rPr lang="zh-CN" altLang="en-US" sz="3600" dirty="0"/>
              <a:t> </a:t>
            </a:r>
            <a:r>
              <a:rPr lang="en-US" altLang="zh-CN" sz="3600" dirty="0"/>
              <a:t>`</a:t>
            </a:r>
            <a:r>
              <a:rPr lang="en-US" altLang="zh-CN" sz="3600" dirty="0" err="1"/>
              <a:t>gcc</a:t>
            </a:r>
            <a:r>
              <a:rPr lang="en-US" altLang="zh-CN" sz="3600" dirty="0"/>
              <a:t>`,</a:t>
            </a:r>
            <a:r>
              <a:rPr lang="zh-CN" altLang="en-US" sz="3600" dirty="0"/>
              <a:t> </a:t>
            </a:r>
            <a:r>
              <a:rPr lang="en-US" altLang="zh-CN" sz="3600" dirty="0"/>
              <a:t>assuming</a:t>
            </a:r>
            <a:r>
              <a:rPr lang="zh-CN" altLang="en-US" sz="3600" dirty="0"/>
              <a:t> </a:t>
            </a:r>
            <a:r>
              <a:rPr lang="en-US" altLang="zh-CN" sz="3600" dirty="0"/>
              <a:t>you</a:t>
            </a:r>
            <a:r>
              <a:rPr lang="zh-CN" altLang="en-US" sz="3600" dirty="0"/>
              <a:t> </a:t>
            </a:r>
            <a:r>
              <a:rPr lang="en-US" altLang="zh-CN" sz="3600" dirty="0"/>
              <a:t>are</a:t>
            </a:r>
            <a:r>
              <a:rPr lang="zh-CN" altLang="en-US" sz="3600" dirty="0"/>
              <a:t> </a:t>
            </a:r>
            <a:r>
              <a:rPr lang="en-US" altLang="zh-CN" sz="3600" dirty="0"/>
              <a:t>using</a:t>
            </a:r>
            <a:r>
              <a:rPr lang="zh-CN" altLang="en-US" sz="3600" dirty="0"/>
              <a:t> </a:t>
            </a:r>
            <a:r>
              <a:rPr lang="en-US" altLang="zh-CN" sz="3600" dirty="0"/>
              <a:t>ubuntu?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r>
              <a:rPr lang="en-US" altLang="zh-CN" sz="3600" dirty="0" err="1"/>
              <a:t>Gcc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just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tool</a:t>
            </a:r>
            <a:r>
              <a:rPr lang="zh-CN" altLang="en-US" sz="3600" dirty="0"/>
              <a:t> </a:t>
            </a:r>
            <a:r>
              <a:rPr lang="en-US" altLang="zh-CN" sz="3600" dirty="0"/>
              <a:t>of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chain,</a:t>
            </a:r>
            <a:r>
              <a:rPr lang="zh-CN" altLang="en-US" sz="3600" dirty="0"/>
              <a:t> </a:t>
            </a:r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are</a:t>
            </a:r>
            <a:r>
              <a:rPr lang="zh-CN" altLang="en-US" sz="3600" dirty="0"/>
              <a:t> </a:t>
            </a:r>
            <a:r>
              <a:rPr lang="en-US" altLang="zh-CN" sz="3600" dirty="0"/>
              <a:t>else</a:t>
            </a:r>
            <a:r>
              <a:rPr lang="zh-CN" altLang="en-US" sz="3600" dirty="0"/>
              <a:t> </a:t>
            </a:r>
            <a:r>
              <a:rPr lang="en-US" altLang="zh-CN" sz="3600" dirty="0"/>
              <a:t>trying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altLang="zh-CN" sz="3600" dirty="0"/>
              <a:t>help?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A882B-D191-5CD9-74B9-06E33CE3C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33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E9DF82-A13B-3A5C-BFFF-0C23798C757B}"/>
              </a:ext>
            </a:extLst>
          </p:cNvPr>
          <p:cNvSpPr txBox="1"/>
          <p:nvPr/>
        </p:nvSpPr>
        <p:spPr>
          <a:xfrm>
            <a:off x="2201778" y="3163932"/>
            <a:ext cx="7058343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apt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</a:p>
          <a:p>
            <a:r>
              <a:rPr lang="en-US" altLang="zh-CN" sz="2800" strike="sngStrik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zh-CN" altLang="en-US" sz="2800" strike="sngStrik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strike="sngStrike" dirty="0">
                <a:latin typeface="Courier New" panose="02070309020205020404" pitchFamily="49" charset="0"/>
                <a:cs typeface="Courier New" panose="02070309020205020404" pitchFamily="49" charset="0"/>
              </a:rPr>
              <a:t>apt</a:t>
            </a:r>
            <a:r>
              <a:rPr lang="zh-CN" altLang="en-US" sz="2800" strike="sngStrik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strike="sngStrike" dirty="0"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zh-CN" altLang="en-US" sz="2800" strike="sngStrik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strike="sngStrike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gcc</a:t>
            </a:r>
            <a:endParaRPr lang="en-US" altLang="zh-CN" sz="2800" strike="sngStrik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apt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build-essential</a:t>
            </a:r>
            <a:endParaRPr lang="en-CN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8225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45E92-B7B9-A355-EA10-6EA857690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What</a:t>
            </a:r>
            <a:r>
              <a:rPr lang="zh-CN" altLang="en-US" sz="5400" dirty="0"/>
              <a:t> </a:t>
            </a:r>
            <a:r>
              <a:rPr lang="en-US" altLang="zh-CN" sz="5400" dirty="0"/>
              <a:t>are</a:t>
            </a:r>
            <a:r>
              <a:rPr lang="zh-CN" altLang="en-US" sz="5400" dirty="0"/>
              <a:t> </a:t>
            </a:r>
            <a:r>
              <a:rPr lang="en-US" altLang="zh-CN" sz="5400" dirty="0"/>
              <a:t>“others”</a:t>
            </a:r>
            <a:r>
              <a:rPr lang="zh-CN" altLang="en-US" sz="5400" dirty="0"/>
              <a:t> </a:t>
            </a:r>
            <a:r>
              <a:rPr lang="en-US" altLang="zh-CN" sz="5400" dirty="0"/>
              <a:t>trying</a:t>
            </a:r>
            <a:r>
              <a:rPr lang="zh-CN" altLang="en-US" sz="5400" dirty="0"/>
              <a:t> </a:t>
            </a:r>
            <a:r>
              <a:rPr lang="en-US" altLang="zh-CN" sz="5400" dirty="0"/>
              <a:t>to</a:t>
            </a:r>
            <a:r>
              <a:rPr lang="zh-CN" altLang="en-US" sz="5400" dirty="0"/>
              <a:t> </a:t>
            </a:r>
            <a:r>
              <a:rPr lang="en-US" altLang="zh-CN" sz="5400" dirty="0"/>
              <a:t>help?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5935-6242-05B4-7E6B-3C801EBA1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Work</a:t>
            </a:r>
            <a:r>
              <a:rPr lang="zh-CN" altLang="en-US" sz="3600" dirty="0"/>
              <a:t> </a:t>
            </a:r>
            <a:r>
              <a:rPr lang="en-US" altLang="zh-CN" sz="3600" dirty="0"/>
              <a:t>on</a:t>
            </a:r>
            <a:r>
              <a:rPr lang="zh-CN" altLang="en-US" sz="3600" dirty="0"/>
              <a:t> </a:t>
            </a:r>
            <a:r>
              <a:rPr lang="en-US" altLang="zh-CN" sz="3600" dirty="0"/>
              <a:t>larger</a:t>
            </a:r>
            <a:r>
              <a:rPr lang="zh-CN" altLang="en-US" sz="3600" dirty="0"/>
              <a:t> </a:t>
            </a:r>
            <a:r>
              <a:rPr lang="en-US" altLang="zh-CN" sz="3600" dirty="0"/>
              <a:t>projects</a:t>
            </a:r>
          </a:p>
          <a:p>
            <a:r>
              <a:rPr lang="en-US" altLang="zh-CN" sz="3600" dirty="0"/>
              <a:t>Give</a:t>
            </a:r>
            <a:r>
              <a:rPr lang="zh-CN" altLang="en-US" sz="3600" dirty="0"/>
              <a:t> </a:t>
            </a:r>
            <a:r>
              <a:rPr lang="en-US" altLang="zh-CN" sz="3600" dirty="0"/>
              <a:t>your</a:t>
            </a:r>
            <a:r>
              <a:rPr lang="zh-CN" altLang="en-US" sz="3600" dirty="0"/>
              <a:t> </a:t>
            </a:r>
            <a:r>
              <a:rPr lang="en-US" altLang="zh-CN" sz="3600" dirty="0"/>
              <a:t>code</a:t>
            </a:r>
            <a:r>
              <a:rPr lang="zh-CN" altLang="en-US" sz="3600" dirty="0"/>
              <a:t> </a:t>
            </a:r>
            <a:r>
              <a:rPr lang="en-US" altLang="zh-CN" sz="3600" dirty="0"/>
              <a:t>for</a:t>
            </a:r>
            <a:r>
              <a:rPr lang="zh-CN" altLang="en-US" sz="3600" dirty="0"/>
              <a:t> </a:t>
            </a:r>
            <a:r>
              <a:rPr lang="en-US" altLang="zh-CN" sz="3600" dirty="0"/>
              <a:t>others’</a:t>
            </a:r>
            <a:r>
              <a:rPr lang="zh-CN" altLang="en-US" sz="3600" dirty="0"/>
              <a:t> </a:t>
            </a:r>
            <a:r>
              <a:rPr lang="en-US" altLang="zh-CN" sz="3600" dirty="0"/>
              <a:t>use</a:t>
            </a:r>
          </a:p>
          <a:p>
            <a:r>
              <a:rPr lang="en-US" altLang="zh-CN" sz="3600" dirty="0"/>
              <a:t>Use</a:t>
            </a:r>
            <a:r>
              <a:rPr lang="zh-CN" altLang="en-US" sz="3600" dirty="0"/>
              <a:t> </a:t>
            </a:r>
            <a:r>
              <a:rPr lang="en-US" altLang="zh-CN" sz="3600" dirty="0"/>
              <a:t>others’</a:t>
            </a:r>
            <a:r>
              <a:rPr lang="zh-CN" altLang="en-US" sz="3600" dirty="0"/>
              <a:t> </a:t>
            </a:r>
            <a:r>
              <a:rPr lang="en-US" altLang="zh-CN" sz="3600" dirty="0"/>
              <a:t>code</a:t>
            </a:r>
          </a:p>
          <a:p>
            <a:r>
              <a:rPr lang="en-US" altLang="zh-CN" sz="3600" dirty="0"/>
              <a:t>Separate</a:t>
            </a:r>
            <a:r>
              <a:rPr lang="zh-CN" altLang="en-US" sz="3600" dirty="0"/>
              <a:t> </a:t>
            </a:r>
            <a:r>
              <a:rPr lang="en-US" altLang="zh-CN" sz="3600" dirty="0"/>
              <a:t>works</a:t>
            </a:r>
            <a:r>
              <a:rPr lang="zh-CN" altLang="en-US" sz="3600" dirty="0"/>
              <a:t> </a:t>
            </a:r>
            <a:r>
              <a:rPr lang="en-US" altLang="zh-CN" sz="3600" dirty="0"/>
              <a:t>into</a:t>
            </a:r>
            <a:r>
              <a:rPr lang="zh-CN" altLang="en-US" sz="3600" dirty="0"/>
              <a:t> </a:t>
            </a:r>
            <a:r>
              <a:rPr lang="en-US" altLang="zh-CN" sz="3600" dirty="0"/>
              <a:t>pieces</a:t>
            </a:r>
          </a:p>
          <a:p>
            <a:r>
              <a:rPr lang="en-US" altLang="zh-CN" sz="3600" dirty="0"/>
              <a:t>Put</a:t>
            </a:r>
            <a:r>
              <a:rPr lang="zh-CN" altLang="en-US" sz="3600" dirty="0"/>
              <a:t> </a:t>
            </a:r>
            <a:r>
              <a:rPr lang="en-US" altLang="zh-CN" sz="3600" dirty="0"/>
              <a:t>back</a:t>
            </a:r>
            <a:r>
              <a:rPr lang="zh-CN" altLang="en-US" sz="3600" dirty="0"/>
              <a:t> </a:t>
            </a:r>
            <a:r>
              <a:rPr lang="en-US" altLang="zh-CN" sz="3600" dirty="0"/>
              <a:t>separated</a:t>
            </a:r>
            <a:r>
              <a:rPr lang="zh-CN" altLang="en-US" sz="3600" dirty="0"/>
              <a:t> </a:t>
            </a:r>
            <a:r>
              <a:rPr lang="en-US" altLang="zh-CN" sz="3600" dirty="0"/>
              <a:t>pieces</a:t>
            </a:r>
            <a:r>
              <a:rPr lang="zh-CN" altLang="en-US" sz="3600" dirty="0"/>
              <a:t> </a:t>
            </a:r>
            <a:r>
              <a:rPr lang="en-US" altLang="zh-CN" sz="3600" dirty="0"/>
              <a:t>into</a:t>
            </a:r>
            <a:r>
              <a:rPr lang="zh-CN" altLang="en-US" sz="3600" dirty="0"/>
              <a:t> </a:t>
            </a:r>
            <a:r>
              <a:rPr lang="en-US" altLang="zh-CN" sz="3600" dirty="0"/>
              <a:t>one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C6B89-4C29-33C4-879B-102DFD357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34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68768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17814</TotalTime>
  <Words>2049</Words>
  <Application>Microsoft Macintosh PowerPoint</Application>
  <PresentationFormat>Widescreen</PresentationFormat>
  <Paragraphs>390</Paragraphs>
  <Slides>34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Aptos Display</vt:lpstr>
      <vt:lpstr>Arial</vt:lpstr>
      <vt:lpstr>Courier New</vt:lpstr>
      <vt:lpstr>Office Theme</vt:lpstr>
      <vt:lpstr>An Intro to Computer System</vt:lpstr>
      <vt:lpstr>Roadmap</vt:lpstr>
      <vt:lpstr>Where did you get the C compiler?</vt:lpstr>
      <vt:lpstr>Arrays</vt:lpstr>
      <vt:lpstr>Alignment</vt:lpstr>
      <vt:lpstr>Flatten Arrays</vt:lpstr>
      <vt:lpstr>Global v.s. Local Arrays</vt:lpstr>
      <vt:lpstr>Flatten Arrays? Hint to pointer access!</vt:lpstr>
      <vt:lpstr>Hint to pointer access (CONT’D)</vt:lpstr>
      <vt:lpstr>Even more hints to array access</vt:lpstr>
      <vt:lpstr>Even more hints to array access</vt:lpstr>
      <vt:lpstr>Summary: Arrays</vt:lpstr>
      <vt:lpstr>Struct of Array</vt:lpstr>
      <vt:lpstr>Ad: Rust is a user-enforced C++</vt:lpstr>
      <vt:lpstr>Struct: What is a struct?</vt:lpstr>
      <vt:lpstr>Struct (CONT’D)</vt:lpstr>
      <vt:lpstr>Union</vt:lpstr>
      <vt:lpstr>Union (Advanced Usage)</vt:lpstr>
      <vt:lpstr>Quiz: How to optimize the memory layout?</vt:lpstr>
      <vt:lpstr>Summary: Arrays, and Structs</vt:lpstr>
      <vt:lpstr>Summary: Arrays, and Structs</vt:lpstr>
      <vt:lpstr>Summary: Arrays, and Structs</vt:lpstr>
      <vt:lpstr>Function Signature</vt:lpstr>
      <vt:lpstr>Function Signature (CONT’D)</vt:lpstr>
      <vt:lpstr>Function Signature (CONT’D)</vt:lpstr>
      <vt:lpstr>Recap: How should I deal with overloaded visitors in languages with overload disabled?</vt:lpstr>
      <vt:lpstr>Recap: How should I deal with overloaded visitors in languages with overload disabled?</vt:lpstr>
      <vt:lpstr>Function Signature (CONT’D)</vt:lpstr>
      <vt:lpstr>What is next?</vt:lpstr>
      <vt:lpstr>Link the libraries</vt:lpstr>
      <vt:lpstr>Library Linkage (CONT’D)</vt:lpstr>
      <vt:lpstr>Dynamic/Static Linkage</vt:lpstr>
      <vt:lpstr>Where did you get the C toolchain?</vt:lpstr>
      <vt:lpstr>What are “others” trying to help?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 Weng</dc:creator>
  <cp:lastModifiedBy>Jian Weng</cp:lastModifiedBy>
  <cp:revision>4</cp:revision>
  <dcterms:created xsi:type="dcterms:W3CDTF">2025-07-02T14:01:02Z</dcterms:created>
  <dcterms:modified xsi:type="dcterms:W3CDTF">2026-02-09T13:06:30Z</dcterms:modified>
</cp:coreProperties>
</file>