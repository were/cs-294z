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325" r:id="rId3"/>
    <p:sldId id="279" r:id="rId4"/>
    <p:sldId id="281" r:id="rId5"/>
    <p:sldId id="280" r:id="rId6"/>
    <p:sldId id="282" r:id="rId7"/>
    <p:sldId id="283" r:id="rId8"/>
    <p:sldId id="284" r:id="rId9"/>
    <p:sldId id="285" r:id="rId10"/>
    <p:sldId id="287" r:id="rId11"/>
    <p:sldId id="286" r:id="rId12"/>
    <p:sldId id="288" r:id="rId13"/>
    <p:sldId id="289" r:id="rId14"/>
    <p:sldId id="290" r:id="rId15"/>
    <p:sldId id="291" r:id="rId16"/>
    <p:sldId id="326" r:id="rId17"/>
    <p:sldId id="294" r:id="rId18"/>
    <p:sldId id="292" r:id="rId19"/>
    <p:sldId id="293" r:id="rId20"/>
    <p:sldId id="296" r:id="rId21"/>
    <p:sldId id="332" r:id="rId22"/>
    <p:sldId id="333" r:id="rId23"/>
    <p:sldId id="295" r:id="rId24"/>
    <p:sldId id="297" r:id="rId25"/>
    <p:sldId id="298" r:id="rId26"/>
    <p:sldId id="300" r:id="rId27"/>
    <p:sldId id="299" r:id="rId28"/>
    <p:sldId id="301" r:id="rId29"/>
    <p:sldId id="302" r:id="rId30"/>
    <p:sldId id="305" r:id="rId31"/>
    <p:sldId id="337" r:id="rId32"/>
    <p:sldId id="306" r:id="rId33"/>
    <p:sldId id="323" r:id="rId34"/>
    <p:sldId id="307" r:id="rId35"/>
    <p:sldId id="308" r:id="rId36"/>
    <p:sldId id="309" r:id="rId37"/>
    <p:sldId id="315" r:id="rId38"/>
    <p:sldId id="316" r:id="rId39"/>
    <p:sldId id="317" r:id="rId40"/>
    <p:sldId id="318" r:id="rId41"/>
    <p:sldId id="319" r:id="rId42"/>
    <p:sldId id="320" r:id="rId43"/>
    <p:sldId id="321" r:id="rId44"/>
    <p:sldId id="322" r:id="rId45"/>
    <p:sldId id="303" r:id="rId46"/>
    <p:sldId id="331" r:id="rId47"/>
    <p:sldId id="304" r:id="rId48"/>
    <p:sldId id="313" r:id="rId49"/>
    <p:sldId id="310" r:id="rId50"/>
    <p:sldId id="335" r:id="rId51"/>
    <p:sldId id="336" r:id="rId52"/>
    <p:sldId id="311" r:id="rId53"/>
    <p:sldId id="312" r:id="rId54"/>
    <p:sldId id="328" r:id="rId55"/>
    <p:sldId id="329" r:id="rId56"/>
    <p:sldId id="314" r:id="rId57"/>
    <p:sldId id="324" r:id="rId58"/>
    <p:sldId id="330" r:id="rId59"/>
    <p:sldId id="334" r:id="rId60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82ED11-8F19-D94E-A992-178F313195A3}" v="1" dt="2026-02-01T13:33:19.6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04"/>
    <p:restoredTop sz="88767"/>
  </p:normalViewPr>
  <p:slideViewPr>
    <p:cSldViewPr snapToGrid="0">
      <p:cViewPr varScale="1">
        <p:scale>
          <a:sx n="112" d="100"/>
          <a:sy n="112" d="100"/>
        </p:scale>
        <p:origin x="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健 翁" userId="bedff36119963aae" providerId="LiveId" clId="{27ED6732-6F8F-5AFA-AF64-6D088C0F8B0A}"/>
    <pc:docChg chg="modSld">
      <pc:chgData name="健 翁" userId="bedff36119963aae" providerId="LiveId" clId="{27ED6732-6F8F-5AFA-AF64-6D088C0F8B0A}" dt="2026-02-01T13:33:22.861" v="21"/>
      <pc:docMkLst>
        <pc:docMk/>
      </pc:docMkLst>
      <pc:sldChg chg="addSp delSp modSp mod">
        <pc:chgData name="健 翁" userId="bedff36119963aae" providerId="LiveId" clId="{27ED6732-6F8F-5AFA-AF64-6D088C0F8B0A}" dt="2026-02-01T13:33:22.861" v="21"/>
        <pc:sldMkLst>
          <pc:docMk/>
          <pc:sldMk cId="982245276" sldId="307"/>
        </pc:sldMkLst>
        <pc:spChg chg="add del mod">
          <ac:chgData name="健 翁" userId="bedff36119963aae" providerId="LiveId" clId="{27ED6732-6F8F-5AFA-AF64-6D088C0F8B0A}" dt="2026-02-01T13:33:22.861" v="21"/>
          <ac:spMkLst>
            <pc:docMk/>
            <pc:sldMk cId="982245276" sldId="307"/>
            <ac:spMk id="6" creationId="{74A9F225-1E2E-6721-8835-032B8499010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7F3D23-339C-D640-B5A8-EB8D97B58FB0}" type="datetimeFigureOut">
              <a:rPr lang="en-CN" smtClean="0"/>
              <a:t>2026/2/1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693A3-C0E7-7E4C-8380-0FEBFDB6F11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3300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93A3-C0E7-7E4C-8380-0FEBFDB6F117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97793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93A3-C0E7-7E4C-8380-0FEBFDB6F117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01828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E57E8-418D-54A5-7365-962D6392C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BC30FE-D2CC-ED3E-ECC6-82C66D697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6E340F-D6DA-FB02-844A-4A8ABABA1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5BAF9-2510-EB8F-2B2A-420E6C329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93A3-C0E7-7E4C-8380-0FEBFDB6F117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40276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93A3-C0E7-7E4C-8380-0FEBFDB6F117}" type="slidenum">
              <a:rPr lang="en-CN" smtClean="0"/>
              <a:t>11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61898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93A3-C0E7-7E4C-8380-0FEBFDB6F117}" type="slidenum">
              <a:rPr lang="en-CN" smtClean="0"/>
              <a:t>14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81252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93A3-C0E7-7E4C-8380-0FEBFDB6F117}" type="slidenum">
              <a:rPr lang="en-CN" smtClean="0"/>
              <a:t>19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4882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93A3-C0E7-7E4C-8380-0FEBFDB6F117}" type="slidenum">
              <a:rPr lang="en-CN" smtClean="0"/>
              <a:t>23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771205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93A3-C0E7-7E4C-8380-0FEBFDB6F117}" type="slidenum">
              <a:rPr lang="en-CN" smtClean="0"/>
              <a:t>24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80350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Ask</a:t>
            </a:r>
            <a:r>
              <a:rPr lang="zh-CN" altLang="en-US" dirty="0"/>
              <a:t> </a:t>
            </a:r>
            <a:r>
              <a:rPr lang="en-US" altLang="zh-CN" dirty="0"/>
              <a:t>them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they</a:t>
            </a:r>
            <a:r>
              <a:rPr lang="zh-CN" altLang="en-US" dirty="0"/>
              <a:t> </a:t>
            </a:r>
            <a:r>
              <a:rPr lang="en-US" altLang="zh-CN" dirty="0"/>
              <a:t>already</a:t>
            </a:r>
            <a:r>
              <a:rPr lang="zh-CN" altLang="en-US" dirty="0"/>
              <a:t> </a:t>
            </a:r>
            <a:r>
              <a:rPr lang="en-US" altLang="zh-CN" dirty="0"/>
              <a:t>know</a:t>
            </a:r>
            <a:r>
              <a:rPr lang="zh-CN" altLang="en-US" dirty="0"/>
              <a:t> </a:t>
            </a:r>
            <a:r>
              <a:rPr lang="en-US" altLang="zh-CN" dirty="0"/>
              <a:t>Regex.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93A3-C0E7-7E4C-8380-0FEBFDB6F117}" type="slidenum">
              <a:rPr lang="en-CN" smtClean="0"/>
              <a:t>26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71372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93A3-C0E7-7E4C-8380-0FEBFDB6F117}" type="slidenum">
              <a:rPr lang="en-CN" smtClean="0"/>
              <a:t>37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470053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93A3-C0E7-7E4C-8380-0FEBFDB6F117}" type="slidenum">
              <a:rPr lang="en-CN" smtClean="0"/>
              <a:t>47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69362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93A3-C0E7-7E4C-8380-0FEBFDB6F117}" type="slidenum">
              <a:rPr lang="en-CN" smtClean="0"/>
              <a:t>58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62591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B0527-0AB1-6FD3-01C4-AEA70947AF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E0A8F8-16A9-E449-B9F5-C628896CD7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93241-F87B-5064-19E2-35F447D07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D48F7-649C-AB48-9AB8-1FDD9226631F}" type="datetime1">
              <a:rPr lang="en-US" smtClean="0"/>
              <a:t>2/1/26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8319F-2078-5048-A2B2-0E03DCFC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DABC3-2684-DE81-E1C9-6E361462A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88371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24359-285B-6A9B-9E6C-C53E771A9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7F8FE-8C12-A18E-E324-A1CC8E8DE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F8436-41F9-CC29-9621-C7C753E89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F3092-7FAC-834C-A8AA-5A3530E11949}" type="datetime1">
              <a:rPr lang="en-US" smtClean="0"/>
              <a:t>2/1/26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49B2D-B5C1-5FE5-4EE1-236831139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8B6F1-A8EE-6819-13A6-9CED11A07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09731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4CEAF-5E15-76E6-68A1-5259ED318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BEC56-86A6-44D3-F7E8-369C7A5AD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6BFF9-015A-9B86-6EC7-CB5ECB20D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CC433-F9FF-0345-8019-E4497C845352}" type="datetime1">
              <a:rPr lang="en-US" smtClean="0"/>
              <a:t>2/1/26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3BA4A-E94D-63F4-D69E-400E3A2A4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1CFBD-123C-058B-5693-E35CE4EEC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73447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1042-16A0-244C-46E9-0D59B78B8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936EC-3DF2-6E76-3309-DDA14AAA92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11567F-3C2C-6CBD-14AF-039E6FDC8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64D9A-F8B7-DBE8-36D8-F32B96DB6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5D366-FFFA-B147-9258-4861719053FB}" type="datetime1">
              <a:rPr lang="en-US" smtClean="0"/>
              <a:t>2/1/26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DFE50-03DE-C28D-0871-B701ED0EF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B2954-AB1D-3539-89CD-566EBCDE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2561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C59FD-5D84-55F8-1B28-B9A51E581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EFA2F-ABC2-6409-81E3-BE0011453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6D76F2-089D-81FF-F167-BCFF181C2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3E177A-A63B-E588-2089-9026CEE0DB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E14E71-A4E0-7EA6-895E-F34E6F602A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C6A34C-BD95-2AE7-AC16-5531D37B1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ADE0D-5B8D-DB40-895D-E5FCE0886E8D}" type="datetime1">
              <a:rPr lang="en-US" smtClean="0"/>
              <a:t>2/1/26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9C0AC2-3FDD-F347-DE17-088D8AB3D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2313BC-2780-B485-E3F7-3FC9C7753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10728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D1D45-6CAE-85D9-DBFB-B409D31B5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F694D7-BFF1-5E96-35F4-376A4572D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B82DC-BD87-6B4A-98BA-A7971197314C}" type="datetime1">
              <a:rPr lang="en-US" smtClean="0"/>
              <a:t>2/1/26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B65F70-EE21-59BF-0AB8-94DC38D2C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6DE52-03CD-99BB-E72A-E835C7714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8753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BF44AC-51C6-E0D5-9BB9-A0F0D0F1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4C311-90C3-E449-8FEE-551400CE0A48}" type="datetime1">
              <a:rPr lang="en-US" smtClean="0"/>
              <a:t>2/1/26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A5B6B-3A65-2837-F2F6-D1AA9244A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1ED80-88E9-12CE-0DB4-84BA9BFD8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25635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6E50-45BF-CBBE-CD5A-26FDDEE8F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B060E-6818-95D5-4C9B-8C52F0E84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45480-7A4D-CF80-E859-8D1031184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77817-D4E9-6EB0-CAD0-0BF3203F3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6AB97-DC85-3744-9873-6A037013963D}" type="datetime1">
              <a:rPr lang="en-US" smtClean="0"/>
              <a:t>2/1/26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F38B7-884A-4842-289D-A6B5E1F68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A1E57-CB15-EE5A-12BD-F9EE02DD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09242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96872-C52B-4E6F-653D-17A66F32F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544078-A746-842E-509A-86B8C4C25A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BBBCA-1DBC-63CB-E6CD-2574FBDD6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B6C33-3978-6B5E-54B0-3C3CC52FE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A50D-0F51-7841-A4F4-9895D83F09C3}" type="datetime1">
              <a:rPr lang="en-US" smtClean="0"/>
              <a:t>2/1/26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77A50-0DC7-CF3E-A7AB-A31D99E5A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2BD88-5012-8D34-F9F2-A9F982FF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87013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03DD4-F860-8677-0AC8-A0D7DB1A9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62869A-5862-FF51-5312-1DC44F219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218FD-5790-7FFF-6076-70ADE47F9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6DB72-6217-2B48-8539-C13FF9AF95E7}" type="datetime1">
              <a:rPr lang="en-US" smtClean="0"/>
              <a:t>2/1/26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F19B-1F05-48C8-1952-7E17AD15D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AF63F-79B2-09AA-F4D8-884173127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84271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B96547-D96A-F7E9-85AE-77755F8094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55F6F5-4F5B-88CC-0CDF-3C2D2816A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A6939-758D-20FA-F705-6F74395DE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6DBAF-1040-F14A-9B4F-23289B8025D6}" type="datetime1">
              <a:rPr lang="en-US" smtClean="0"/>
              <a:t>2/1/26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77995-A8A6-FBE8-EC1A-5F9DB896E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B8961-45F4-8101-01A5-EA27142DF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33970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A9F077-570B-6C0E-07A4-B3C938E35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BA811-2DB2-E042-DC88-F734662D8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B2EDD-FC0B-6EAF-2988-2C47B77446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17020A-B5E0-834B-AC42-C0E35E846C1C}" type="datetime1">
              <a:rPr lang="en-US" smtClean="0"/>
              <a:t>2/1/26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8DCFD-6C39-A8BA-B2D2-413B93994E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86495-3AC1-8D24-AF30-A7813EEC4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DAE40957-62BF-4542-96BE-69EFFC00C212}" type="slidenum">
              <a:rPr lang="en-CN" smtClean="0"/>
              <a:pPr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2001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jian.weng@kaust.edu.sa" TargetMode="External"/><Relationship Id="rId2" Type="http://schemas.openxmlformats.org/officeDocument/2006/relationships/hyperlink" Target="https://github.com/were/cs-294z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22288347/dynamic-cast-vs-virtual-function-vs-member-enu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releases.llvm.org/" TargetMode="External"/><Relationship Id="rId2" Type="http://schemas.openxmlformats.org/officeDocument/2006/relationships/hyperlink" Target="https://www.llvm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lvm.org/docs/GettingStarted.html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F2347-E3F6-CFCC-5A12-7103783493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413" y="607884"/>
            <a:ext cx="10599174" cy="1792149"/>
          </a:xfrm>
        </p:spPr>
        <p:txBody>
          <a:bodyPr>
            <a:normAutofit/>
          </a:bodyPr>
          <a:lstStyle/>
          <a:p>
            <a:r>
              <a:rPr lang="en-CN" altLang="zh-CN" sz="6400" dirty="0"/>
              <a:t>A</a:t>
            </a:r>
            <a:r>
              <a:rPr lang="en-US" altLang="zh-CN" sz="6400" dirty="0"/>
              <a:t>n</a:t>
            </a:r>
            <a:r>
              <a:rPr lang="zh-CN" altLang="en-US" sz="6400" dirty="0"/>
              <a:t> </a:t>
            </a:r>
            <a:r>
              <a:rPr lang="en-US" altLang="zh-CN" sz="6400" dirty="0"/>
              <a:t>Intro</a:t>
            </a:r>
            <a:r>
              <a:rPr lang="zh-CN" altLang="en-US" sz="6400" dirty="0"/>
              <a:t> </a:t>
            </a:r>
            <a:r>
              <a:rPr lang="en-US" altLang="zh-CN" sz="6400" dirty="0"/>
              <a:t>to</a:t>
            </a:r>
            <a:r>
              <a:rPr lang="zh-CN" altLang="en-US" sz="6400" dirty="0"/>
              <a:t> </a:t>
            </a:r>
            <a:r>
              <a:rPr lang="en-US" altLang="zh-CN" sz="6400" dirty="0"/>
              <a:t>Computer</a:t>
            </a:r>
            <a:r>
              <a:rPr lang="zh-CN" altLang="en-US" sz="6400" dirty="0"/>
              <a:t> </a:t>
            </a:r>
            <a:r>
              <a:rPr lang="en-US" altLang="zh-CN" sz="6400" dirty="0"/>
              <a:t>System</a:t>
            </a:r>
            <a:endParaRPr lang="en-CN" sz="6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F74E28-D220-4064-CDD0-A71939DF4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215360"/>
            <a:ext cx="9144000" cy="1792149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Jian</a:t>
            </a:r>
            <a:r>
              <a:rPr lang="zh-CN" altLang="en-US" sz="3200" dirty="0"/>
              <a:t> </a:t>
            </a:r>
            <a:r>
              <a:rPr lang="en-US" altLang="zh-CN" sz="3200" dirty="0"/>
              <a:t>Weng</a:t>
            </a:r>
          </a:p>
          <a:p>
            <a:r>
              <a:rPr lang="en-US" altLang="zh-CN" sz="3200" dirty="0"/>
              <a:t>Computer</a:t>
            </a:r>
            <a:r>
              <a:rPr lang="zh-CN" altLang="en-US" sz="3200" dirty="0"/>
              <a:t> </a:t>
            </a:r>
            <a:r>
              <a:rPr lang="en-US" altLang="zh-CN" sz="3200" dirty="0"/>
              <a:t>Science</a:t>
            </a:r>
          </a:p>
          <a:p>
            <a:r>
              <a:rPr lang="en-US" altLang="zh-CN" sz="3200" dirty="0"/>
              <a:t>CEMSE,</a:t>
            </a:r>
            <a:r>
              <a:rPr lang="zh-CN" altLang="en-US" sz="3200" dirty="0"/>
              <a:t> </a:t>
            </a:r>
            <a:r>
              <a:rPr lang="en-US" altLang="zh-CN" sz="3200" dirty="0"/>
              <a:t>KAUST</a:t>
            </a:r>
            <a:endParaRPr lang="en-C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02F3AF-CF59-805E-7400-E939F549474B}"/>
              </a:ext>
            </a:extLst>
          </p:cNvPr>
          <p:cNvSpPr txBox="1"/>
          <p:nvPr/>
        </p:nvSpPr>
        <p:spPr>
          <a:xfrm>
            <a:off x="3051446" y="2522866"/>
            <a:ext cx="608910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800" dirty="0"/>
              <a:t>W2D1:</a:t>
            </a:r>
            <a:r>
              <a:rPr lang="zh-CN" altLang="en-US" sz="4800" dirty="0"/>
              <a:t> </a:t>
            </a:r>
            <a:r>
              <a:rPr lang="en-US" altLang="zh-CN" sz="4800" dirty="0"/>
              <a:t>A</a:t>
            </a:r>
            <a:r>
              <a:rPr lang="zh-CN" altLang="en-US" sz="4800" dirty="0"/>
              <a:t> </a:t>
            </a:r>
            <a:r>
              <a:rPr lang="en-US" altLang="zh-CN" sz="4800" dirty="0"/>
              <a:t>Quick</a:t>
            </a:r>
            <a:r>
              <a:rPr lang="zh-CN" altLang="en-US" sz="4800" dirty="0"/>
              <a:t> </a:t>
            </a:r>
            <a:r>
              <a:rPr lang="en-US" altLang="zh-CN" sz="4800" dirty="0"/>
              <a:t>Tour</a:t>
            </a:r>
            <a:r>
              <a:rPr lang="zh-CN" altLang="en-US" sz="4800" dirty="0"/>
              <a:t> </a:t>
            </a:r>
            <a:r>
              <a:rPr lang="en-US" altLang="zh-CN" sz="4800" dirty="0"/>
              <a:t>to</a:t>
            </a:r>
          </a:p>
          <a:p>
            <a:pPr algn="ctr"/>
            <a:r>
              <a:rPr lang="en-US" altLang="zh-CN" sz="4800" dirty="0"/>
              <a:t>PL</a:t>
            </a:r>
            <a:r>
              <a:rPr lang="zh-CN" altLang="en-US" sz="4800" dirty="0"/>
              <a:t> </a:t>
            </a:r>
            <a:r>
              <a:rPr lang="en-US" altLang="zh-CN" sz="4800" dirty="0"/>
              <a:t>&amp;</a:t>
            </a:r>
            <a:r>
              <a:rPr lang="zh-CN" altLang="en-US" sz="4800" dirty="0"/>
              <a:t> </a:t>
            </a:r>
            <a:r>
              <a:rPr lang="en-US" altLang="zh-CN" sz="4800" dirty="0"/>
              <a:t>Compiler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85DF1-5BFA-EB71-5739-E85C96F38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3929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230FA-3114-F4F4-B74B-E0A6E7613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8730"/>
            <a:ext cx="10515600" cy="1325563"/>
          </a:xfrm>
        </p:spPr>
        <p:txBody>
          <a:bodyPr/>
          <a:lstStyle/>
          <a:p>
            <a:r>
              <a:rPr lang="en-CN" sz="5400" dirty="0"/>
              <a:t>Resources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1DFF9-4888-B299-C41E-A640BA02D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1253330"/>
            <a:ext cx="11163300" cy="5101749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hlinkClick r:id="rId2"/>
              </a:rPr>
              <a:t>https://github.com/were/cs-294z/</a:t>
            </a:r>
            <a:endParaRPr lang="en-US" altLang="zh-CN" sz="3600" dirty="0"/>
          </a:p>
          <a:p>
            <a:r>
              <a:rPr lang="en-US" sz="3600" dirty="0"/>
              <a:t>My office: </a:t>
            </a:r>
            <a:r>
              <a:rPr lang="en-US" altLang="zh-CN" sz="3600" dirty="0"/>
              <a:t>Building</a:t>
            </a:r>
            <a:r>
              <a:rPr lang="zh-CN" altLang="en-US" sz="3600" dirty="0"/>
              <a:t> </a:t>
            </a:r>
            <a:r>
              <a:rPr lang="en-US" altLang="zh-CN" sz="3600" dirty="0"/>
              <a:t>1,</a:t>
            </a:r>
            <a:r>
              <a:rPr lang="zh-CN" altLang="en-US" sz="3600" dirty="0"/>
              <a:t> </a:t>
            </a:r>
            <a:r>
              <a:rPr lang="en-US" altLang="zh-CN" sz="3600" dirty="0"/>
              <a:t>4414</a:t>
            </a:r>
            <a:endParaRPr lang="en-US" sz="2800" dirty="0"/>
          </a:p>
          <a:p>
            <a:r>
              <a:rPr lang="en-US" sz="3600" dirty="0"/>
              <a:t>My email: </a:t>
            </a:r>
            <a:r>
              <a:rPr lang="en-US" sz="3600" dirty="0">
                <a:hlinkClick r:id="rId3"/>
              </a:rPr>
              <a:t>jian.weng@kaust.edu.sa</a:t>
            </a:r>
            <a:endParaRPr lang="en-US" sz="3600" dirty="0"/>
          </a:p>
          <a:p>
            <a:r>
              <a:rPr lang="en-US" altLang="zh-CN" sz="3600" dirty="0"/>
              <a:t>Remember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altLang="zh-CN" sz="3600" dirty="0"/>
              <a:t>make</a:t>
            </a:r>
            <a:r>
              <a:rPr lang="zh-CN" altLang="en-US" sz="3600" dirty="0"/>
              <a:t> </a:t>
            </a:r>
            <a:r>
              <a:rPr lang="en-US" altLang="zh-CN" sz="3600" dirty="0"/>
              <a:t>an</a:t>
            </a:r>
            <a:r>
              <a:rPr lang="zh-CN" altLang="en-US" sz="3600" dirty="0"/>
              <a:t> </a:t>
            </a:r>
            <a:r>
              <a:rPr lang="en-US" altLang="zh-CN" sz="3600" dirty="0"/>
              <a:t>appointment</a:t>
            </a:r>
            <a:r>
              <a:rPr lang="zh-CN" altLang="en-US" sz="3600" dirty="0"/>
              <a:t> </a:t>
            </a:r>
            <a:r>
              <a:rPr lang="en-US" altLang="zh-CN" sz="3600" dirty="0"/>
              <a:t>first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662B9-2543-9790-875A-C7A1526B7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66180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8EB4A-9080-8CDB-E718-0D36411E8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6000" dirty="0"/>
              <a:t>R</a:t>
            </a:r>
            <a:r>
              <a:rPr lang="en-US" altLang="zh-CN" sz="6000" dirty="0" err="1"/>
              <a:t>oadmap</a:t>
            </a:r>
            <a:endParaRPr lang="en-C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1C0F3-1951-E1DE-9132-76E7EC43A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/>
              <a:t>Programming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Language</a:t>
            </a:r>
          </a:p>
          <a:p>
            <a:pPr lvl="1"/>
            <a:r>
              <a:rPr lang="en-US" altLang="zh-CN" sz="3200" b="1" dirty="0"/>
              <a:t>Characterizing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a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programming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language</a:t>
            </a:r>
          </a:p>
          <a:p>
            <a:r>
              <a:rPr lang="en-US" altLang="zh-CN" sz="3600" b="1" dirty="0">
                <a:solidFill>
                  <a:schemeClr val="bg1">
                    <a:lumMod val="65000"/>
                  </a:schemeClr>
                </a:solidFill>
              </a:rPr>
              <a:t>Compiler</a:t>
            </a:r>
            <a:r>
              <a:rPr lang="zh-CN" altLang="en-US" sz="3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3600" b="1" dirty="0">
                <a:solidFill>
                  <a:schemeClr val="bg1">
                    <a:lumMod val="65000"/>
                  </a:schemeClr>
                </a:solidFill>
              </a:rPr>
              <a:t>Pipeline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4E106-BBE7-F8C4-8A16-5284F4AB7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03214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55C14-616E-5211-C869-AE6D6C2A8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5400" dirty="0"/>
              <a:t>Cha</a:t>
            </a:r>
            <a:r>
              <a:rPr lang="en-US" altLang="zh-CN" sz="5400" dirty="0" err="1"/>
              <a:t>racterizing</a:t>
            </a:r>
            <a:r>
              <a:rPr lang="zh-CN" altLang="en-US" sz="5400" dirty="0"/>
              <a:t> </a:t>
            </a:r>
            <a:r>
              <a:rPr lang="en-US" altLang="zh-CN" sz="5400" dirty="0"/>
              <a:t>a</a:t>
            </a:r>
            <a:r>
              <a:rPr lang="zh-CN" altLang="en-US" sz="5400" dirty="0"/>
              <a:t> </a:t>
            </a:r>
            <a:r>
              <a:rPr lang="en-US" altLang="zh-CN" sz="5400" dirty="0"/>
              <a:t>Programming</a:t>
            </a:r>
            <a:r>
              <a:rPr lang="zh-CN" altLang="en-US" sz="5400" dirty="0"/>
              <a:t> </a:t>
            </a:r>
            <a:r>
              <a:rPr lang="en-US" altLang="zh-CN" sz="5400" dirty="0"/>
              <a:t>Lang.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2EC0F-12E3-9B36-F42A-C97BCBBDF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3597"/>
            <a:ext cx="10515600" cy="3751086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Before</a:t>
            </a:r>
            <a:r>
              <a:rPr lang="zh-CN" altLang="en-US" sz="3600" dirty="0"/>
              <a:t> </a:t>
            </a:r>
            <a:r>
              <a:rPr lang="en-US" altLang="zh-CN" sz="3600" dirty="0"/>
              <a:t>starting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new</a:t>
            </a:r>
            <a:r>
              <a:rPr lang="zh-CN" altLang="en-US" sz="3600" dirty="0"/>
              <a:t> </a:t>
            </a:r>
            <a:r>
              <a:rPr lang="en-US" altLang="zh-CN" sz="3600" dirty="0"/>
              <a:t>project,</a:t>
            </a:r>
            <a:r>
              <a:rPr lang="zh-CN" altLang="en-US" sz="3600" dirty="0"/>
              <a:t> </a:t>
            </a:r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language</a:t>
            </a:r>
            <a:r>
              <a:rPr lang="zh-CN" altLang="en-US" sz="3600" dirty="0"/>
              <a:t> </a:t>
            </a:r>
            <a:r>
              <a:rPr lang="en-US" altLang="zh-CN" sz="3600" dirty="0"/>
              <a:t>do</a:t>
            </a:r>
            <a:r>
              <a:rPr lang="zh-CN" altLang="en-US" sz="3600" dirty="0"/>
              <a:t> </a:t>
            </a:r>
            <a:r>
              <a:rPr lang="en-US" altLang="zh-CN" sz="3600" dirty="0"/>
              <a:t>you</a:t>
            </a:r>
            <a:r>
              <a:rPr lang="zh-CN" altLang="en-US" sz="3600" dirty="0"/>
              <a:t> </a:t>
            </a:r>
            <a:r>
              <a:rPr lang="en-US" altLang="zh-CN" sz="3600" dirty="0"/>
              <a:t>choose?</a:t>
            </a:r>
            <a:r>
              <a:rPr lang="zh-CN" altLang="en-US" sz="3600" dirty="0"/>
              <a:t> </a:t>
            </a:r>
            <a:r>
              <a:rPr lang="en-US" altLang="zh-CN" sz="3600" dirty="0"/>
              <a:t>Why?</a:t>
            </a:r>
          </a:p>
          <a:p>
            <a:r>
              <a:rPr lang="en-US" altLang="zh-CN" sz="3600" dirty="0"/>
              <a:t>Characterizing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programing</a:t>
            </a:r>
            <a:r>
              <a:rPr lang="zh-CN" altLang="en-US" sz="3600" dirty="0"/>
              <a:t> </a:t>
            </a:r>
            <a:r>
              <a:rPr lang="en-US" altLang="zh-CN" sz="3600" dirty="0"/>
              <a:t>language</a:t>
            </a:r>
          </a:p>
          <a:p>
            <a:pPr lvl="1"/>
            <a:r>
              <a:rPr lang="en-US" altLang="zh-CN" sz="3200" dirty="0"/>
              <a:t>Target</a:t>
            </a:r>
            <a:r>
              <a:rPr lang="zh-CN" altLang="en-US" sz="3200" dirty="0"/>
              <a:t> </a:t>
            </a:r>
            <a:r>
              <a:rPr lang="en-US" altLang="zh-CN" sz="3200" dirty="0"/>
              <a:t>Application</a:t>
            </a:r>
          </a:p>
          <a:p>
            <a:pPr lvl="1"/>
            <a:r>
              <a:rPr lang="en-US" altLang="zh-CN" sz="3200" dirty="0"/>
              <a:t>Developer</a:t>
            </a:r>
            <a:r>
              <a:rPr lang="zh-CN" altLang="en-US" sz="3200" dirty="0"/>
              <a:t> </a:t>
            </a:r>
            <a:r>
              <a:rPr lang="en-US" altLang="zh-CN" sz="3200" dirty="0"/>
              <a:t>Experience</a:t>
            </a:r>
          </a:p>
          <a:p>
            <a:pPr lvl="1"/>
            <a:r>
              <a:rPr lang="en-US" altLang="zh-CN" sz="3200" dirty="0"/>
              <a:t>Performance</a:t>
            </a:r>
          </a:p>
          <a:p>
            <a:pPr lvl="1"/>
            <a:r>
              <a:rPr lang="en-US" altLang="zh-CN" sz="3200" dirty="0"/>
              <a:t>Libraries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4F43D-DE6F-7131-43F1-ABE5C5D39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29212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CEB2F-84A8-16FB-3C68-9CABEB94F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813" y="168979"/>
            <a:ext cx="11518075" cy="1716441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Programming</a:t>
            </a:r>
            <a:r>
              <a:rPr lang="zh-CN" altLang="en-US" sz="5400" dirty="0"/>
              <a:t> </a:t>
            </a:r>
            <a:r>
              <a:rPr lang="en-US" altLang="zh-CN" sz="5400" dirty="0"/>
              <a:t>Language:</a:t>
            </a:r>
            <a:r>
              <a:rPr lang="zh-CN" altLang="en-US" sz="5400" dirty="0"/>
              <a:t> </a:t>
            </a:r>
            <a:r>
              <a:rPr lang="en-US" altLang="zh-CN" sz="5400" dirty="0"/>
              <a:t>Programmability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5CA68-8782-91CE-DF86-2E93EB67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1333"/>
            <a:ext cx="10515600" cy="3975629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General-purpose</a:t>
            </a:r>
          </a:p>
          <a:p>
            <a:pPr lvl="1"/>
            <a:r>
              <a:rPr lang="en-US" altLang="zh-CN" sz="3200" dirty="0"/>
              <a:t>E.g.</a:t>
            </a:r>
            <a:r>
              <a:rPr lang="zh-CN" altLang="en-US" sz="3200" dirty="0"/>
              <a:t> </a:t>
            </a:r>
            <a:r>
              <a:rPr lang="en-US" altLang="zh-CN" sz="3200" dirty="0"/>
              <a:t>Java/Python/C/C++/Rust</a:t>
            </a:r>
          </a:p>
          <a:p>
            <a:pPr lvl="1"/>
            <a:r>
              <a:rPr lang="en-US" altLang="zh-CN" sz="3200" dirty="0"/>
              <a:t>Theoretically,</a:t>
            </a:r>
            <a:r>
              <a:rPr lang="zh-CN" altLang="en-US" sz="3200" dirty="0"/>
              <a:t> </a:t>
            </a:r>
            <a:r>
              <a:rPr lang="en-US" altLang="zh-CN" sz="3200" dirty="0"/>
              <a:t>for</a:t>
            </a:r>
            <a:r>
              <a:rPr lang="zh-CN" altLang="en-US" sz="3200" dirty="0"/>
              <a:t> </a:t>
            </a:r>
            <a:r>
              <a:rPr lang="en-US" altLang="zh-CN" sz="3200" dirty="0"/>
              <a:t>anything</a:t>
            </a:r>
            <a:r>
              <a:rPr lang="zh-CN" altLang="en-US" sz="3200" dirty="0"/>
              <a:t> </a:t>
            </a:r>
            <a:r>
              <a:rPr lang="en-US" altLang="zh-CN" sz="3200" dirty="0"/>
              <a:t>you</a:t>
            </a:r>
            <a:r>
              <a:rPr lang="zh-CN" altLang="en-US" sz="3200" dirty="0"/>
              <a:t> </a:t>
            </a:r>
            <a:r>
              <a:rPr lang="en-US" altLang="zh-CN" sz="3200" dirty="0"/>
              <a:t>want</a:t>
            </a:r>
          </a:p>
          <a:p>
            <a:r>
              <a:rPr lang="en-US" altLang="zh-CN" sz="3600" dirty="0"/>
              <a:t>Domain-specific</a:t>
            </a:r>
          </a:p>
          <a:p>
            <a:pPr lvl="1"/>
            <a:r>
              <a:rPr lang="en-US" altLang="zh-CN" sz="3200" dirty="0"/>
              <a:t>E.g.</a:t>
            </a:r>
            <a:r>
              <a:rPr lang="zh-CN" altLang="en-US" sz="3200" dirty="0"/>
              <a:t> </a:t>
            </a:r>
            <a:r>
              <a:rPr lang="en-US" altLang="zh-CN" sz="3200" dirty="0"/>
              <a:t>HTML/Markdown/</a:t>
            </a:r>
            <a:r>
              <a:rPr lang="en-US" altLang="zh-CN" sz="3200" dirty="0" err="1"/>
              <a:t>PyTorch</a:t>
            </a:r>
            <a:r>
              <a:rPr lang="en-US" altLang="zh-CN" sz="3200" dirty="0"/>
              <a:t>/TensorFlow</a:t>
            </a:r>
          </a:p>
          <a:p>
            <a:pPr lvl="1"/>
            <a:r>
              <a:rPr lang="en-US" altLang="zh-CN" sz="3200" dirty="0"/>
              <a:t>For</a:t>
            </a:r>
            <a:r>
              <a:rPr lang="zh-CN" altLang="en-US" sz="3200" dirty="0"/>
              <a:t> </a:t>
            </a:r>
            <a:r>
              <a:rPr lang="en-US" altLang="zh-CN" sz="3200" dirty="0"/>
              <a:t>only</a:t>
            </a:r>
            <a:r>
              <a:rPr lang="zh-CN" altLang="en-US" sz="3200" dirty="0"/>
              <a:t> </a:t>
            </a:r>
            <a:r>
              <a:rPr lang="en-US" altLang="zh-CN" sz="3200" dirty="0"/>
              <a:t>specific</a:t>
            </a:r>
            <a:r>
              <a:rPr lang="zh-CN" altLang="en-US" sz="3200" dirty="0"/>
              <a:t> </a:t>
            </a:r>
            <a:r>
              <a:rPr lang="en-US" altLang="zh-CN" sz="3200" dirty="0"/>
              <a:t>tasks,</a:t>
            </a:r>
            <a:r>
              <a:rPr lang="zh-CN" altLang="en-US" sz="3200" dirty="0"/>
              <a:t> </a:t>
            </a:r>
            <a:r>
              <a:rPr lang="en-US" altLang="zh-CN" sz="3200" dirty="0"/>
              <a:t>but</a:t>
            </a:r>
            <a:r>
              <a:rPr lang="zh-CN" altLang="en-US" sz="3200" dirty="0"/>
              <a:t> </a:t>
            </a:r>
            <a:r>
              <a:rPr lang="en-US" altLang="zh-CN" sz="3200" dirty="0"/>
              <a:t>easier</a:t>
            </a:r>
            <a:r>
              <a:rPr lang="zh-CN" altLang="en-US" sz="3200" dirty="0"/>
              <a:t> </a:t>
            </a:r>
            <a:r>
              <a:rPr lang="en-US" altLang="zh-CN" sz="3200" dirty="0"/>
              <a:t>to</a:t>
            </a:r>
            <a:r>
              <a:rPr lang="zh-CN" altLang="en-US" sz="3200" dirty="0"/>
              <a:t> </a:t>
            </a:r>
            <a:r>
              <a:rPr lang="en-US" altLang="zh-CN" sz="3200" dirty="0"/>
              <a:t>write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4AD30-4780-700A-BAC8-E13A7AAC3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99448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D5378-4CC9-EAC1-9D57-1248DE5F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189" y="342106"/>
            <a:ext cx="11229622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Performance:</a:t>
            </a:r>
            <a:r>
              <a:rPr lang="zh-CN" altLang="en-US" sz="5400" dirty="0"/>
              <a:t> </a:t>
            </a:r>
            <a:r>
              <a:rPr lang="en-US" altLang="zh-CN" sz="5400" dirty="0"/>
              <a:t>Managed</a:t>
            </a:r>
            <a:r>
              <a:rPr lang="zh-CN" altLang="en-US" sz="5400" dirty="0"/>
              <a:t> </a:t>
            </a:r>
            <a:r>
              <a:rPr lang="en-US" altLang="zh-CN" sz="5400" dirty="0"/>
              <a:t>&amp;</a:t>
            </a:r>
            <a:r>
              <a:rPr lang="zh-CN" altLang="en-US" sz="5400" dirty="0"/>
              <a:t> </a:t>
            </a:r>
            <a:r>
              <a:rPr lang="en-US" altLang="zh-CN" sz="5400" dirty="0"/>
              <a:t>Unmanaged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2F893-6089-15DE-6114-60E2A6FD5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41178" cy="4462286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If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language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managed</a:t>
            </a:r>
            <a:r>
              <a:rPr lang="zh-CN" altLang="en-US" sz="3600" dirty="0"/>
              <a:t> </a:t>
            </a:r>
            <a:r>
              <a:rPr lang="en-US" altLang="zh-CN" sz="3600" dirty="0"/>
              <a:t>by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virtual</a:t>
            </a:r>
            <a:r>
              <a:rPr lang="zh-CN" altLang="en-US" sz="3600" dirty="0"/>
              <a:t> </a:t>
            </a:r>
            <a:r>
              <a:rPr lang="en-US" altLang="zh-CN" sz="3600" dirty="0"/>
              <a:t>runtime</a:t>
            </a:r>
            <a:r>
              <a:rPr lang="zh-CN" altLang="en-US" sz="3600" dirty="0"/>
              <a:t> </a:t>
            </a:r>
            <a:r>
              <a:rPr lang="en-US" altLang="zh-CN" sz="3600" dirty="0"/>
              <a:t>environment</a:t>
            </a:r>
          </a:p>
          <a:p>
            <a:r>
              <a:rPr lang="en-US" altLang="zh-CN" sz="3600" dirty="0"/>
              <a:t>Unmanaged</a:t>
            </a:r>
          </a:p>
          <a:p>
            <a:pPr lvl="1"/>
            <a:r>
              <a:rPr lang="en-US" altLang="zh-CN" sz="3200" dirty="0"/>
              <a:t>C/C++/Rust(?)</a:t>
            </a:r>
          </a:p>
          <a:p>
            <a:pPr lvl="1"/>
            <a:r>
              <a:rPr lang="en-US" altLang="zh-CN" sz="3200" dirty="0"/>
              <a:t>Compiler</a:t>
            </a:r>
            <a:r>
              <a:rPr lang="zh-CN" altLang="en-US" sz="3200" dirty="0"/>
              <a:t> </a:t>
            </a:r>
            <a:r>
              <a:rPr lang="en-US" altLang="zh-CN" sz="3200" dirty="0"/>
              <a:t>compiles</a:t>
            </a:r>
            <a:r>
              <a:rPr lang="zh-CN" altLang="en-US" sz="3200" dirty="0"/>
              <a:t> </a:t>
            </a:r>
            <a:r>
              <a:rPr lang="en-US" altLang="zh-CN" sz="3200" dirty="0"/>
              <a:t>to</a:t>
            </a:r>
            <a:r>
              <a:rPr lang="zh-CN" altLang="en-US" sz="3200" dirty="0"/>
              <a:t> </a:t>
            </a:r>
            <a:r>
              <a:rPr lang="en-US" altLang="zh-CN" sz="3200" dirty="0"/>
              <a:t>a</a:t>
            </a:r>
            <a:r>
              <a:rPr lang="zh-CN" altLang="en-US" sz="3200" dirty="0"/>
              <a:t> </a:t>
            </a:r>
            <a:r>
              <a:rPr lang="en-US" altLang="zh-CN" sz="3200" dirty="0"/>
              <a:t>native</a:t>
            </a:r>
            <a:r>
              <a:rPr lang="zh-CN" altLang="en-US" sz="3200" dirty="0"/>
              <a:t> </a:t>
            </a:r>
            <a:r>
              <a:rPr lang="en-US" altLang="zh-CN" sz="3200" dirty="0"/>
              <a:t>environment</a:t>
            </a:r>
          </a:p>
          <a:p>
            <a:r>
              <a:rPr lang="en-US" altLang="zh-CN" sz="3600" dirty="0"/>
              <a:t>Managed</a:t>
            </a:r>
          </a:p>
          <a:p>
            <a:pPr lvl="1"/>
            <a:r>
              <a:rPr lang="en-US" altLang="zh-CN" sz="3200" dirty="0"/>
              <a:t>Java/JavaScript/C#/Python</a:t>
            </a:r>
          </a:p>
          <a:p>
            <a:pPr lvl="1"/>
            <a:r>
              <a:rPr lang="en-US" altLang="zh-CN" sz="3200" dirty="0"/>
              <a:t>Runs</a:t>
            </a:r>
            <a:r>
              <a:rPr lang="zh-CN" altLang="en-US" sz="3200" dirty="0"/>
              <a:t> </a:t>
            </a:r>
            <a:r>
              <a:rPr lang="en-US" altLang="zh-CN" sz="3200" dirty="0"/>
              <a:t>on</a:t>
            </a:r>
            <a:r>
              <a:rPr lang="zh-CN" altLang="en-US" sz="3200" dirty="0"/>
              <a:t> </a:t>
            </a:r>
            <a:r>
              <a:rPr lang="en-US" altLang="zh-CN" sz="3200" dirty="0"/>
              <a:t>a</a:t>
            </a:r>
            <a:r>
              <a:rPr lang="zh-CN" altLang="en-US" sz="3200" dirty="0"/>
              <a:t> </a:t>
            </a:r>
            <a:r>
              <a:rPr lang="en-US" altLang="zh-CN" sz="3200" dirty="0"/>
              <a:t>virtual</a:t>
            </a:r>
            <a:r>
              <a:rPr lang="zh-CN" altLang="en-US" sz="3200" dirty="0"/>
              <a:t> </a:t>
            </a:r>
            <a:r>
              <a:rPr lang="en-US" altLang="zh-CN" sz="3200" dirty="0"/>
              <a:t>interpreter</a:t>
            </a:r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139DF-D209-BE15-7138-CD34FC2B3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25768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CC581-E06A-9FC7-FA3E-07F5D5873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150"/>
            <a:ext cx="10515600" cy="1325563"/>
          </a:xfrm>
        </p:spPr>
        <p:txBody>
          <a:bodyPr>
            <a:normAutofit/>
          </a:bodyPr>
          <a:lstStyle/>
          <a:p>
            <a:r>
              <a:rPr lang="en-CN" sz="5400" dirty="0"/>
              <a:t>Trade</a:t>
            </a:r>
            <a:r>
              <a:rPr lang="en-US" altLang="zh-CN" sz="5400" dirty="0"/>
              <a:t>off:</a:t>
            </a:r>
            <a:r>
              <a:rPr lang="zh-CN" altLang="en-US" sz="5400" dirty="0"/>
              <a:t> </a:t>
            </a:r>
            <a:r>
              <a:rPr lang="en-US" altLang="zh-CN" sz="5400" dirty="0"/>
              <a:t>Performance</a:t>
            </a:r>
            <a:r>
              <a:rPr lang="zh-CN" altLang="en-US" sz="5400" dirty="0"/>
              <a:t> </a:t>
            </a:r>
            <a:r>
              <a:rPr lang="en-US" altLang="zh-CN" sz="5400" dirty="0"/>
              <a:t>&amp;</a:t>
            </a:r>
            <a:r>
              <a:rPr lang="zh-CN" altLang="en-US" sz="5400" dirty="0"/>
              <a:t> </a:t>
            </a:r>
            <a:r>
              <a:rPr lang="en-US" altLang="zh-CN" sz="5400" dirty="0"/>
              <a:t>Flexibility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9D4D0-BB46-036D-28F6-EFF00C162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309" y="1808422"/>
            <a:ext cx="11353801" cy="4789664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Python:</a:t>
            </a:r>
            <a:r>
              <a:rPr lang="zh-CN" altLang="en-US" sz="3200" dirty="0"/>
              <a:t> </a:t>
            </a:r>
            <a:r>
              <a:rPr lang="en-US" altLang="zh-CN" sz="3200" dirty="0"/>
              <a:t>Dynamic-typed</a:t>
            </a:r>
            <a:r>
              <a:rPr lang="zh-CN" altLang="en-US" sz="3200" dirty="0"/>
              <a:t> </a:t>
            </a:r>
            <a:r>
              <a:rPr lang="en-US" altLang="zh-CN" sz="3200" dirty="0"/>
              <a:t>managed</a:t>
            </a:r>
            <a:r>
              <a:rPr lang="zh-CN" altLang="en-US" sz="3200" dirty="0"/>
              <a:t> </a:t>
            </a:r>
            <a:r>
              <a:rPr lang="en-US" altLang="zh-CN" sz="3200" dirty="0"/>
              <a:t>language</a:t>
            </a:r>
            <a:r>
              <a:rPr lang="zh-CN" altLang="en-US" sz="3200" dirty="0"/>
              <a:t> </a:t>
            </a:r>
            <a:r>
              <a:rPr lang="en-US" altLang="zh-CN" sz="3200" dirty="0"/>
              <a:t>can</a:t>
            </a:r>
            <a:r>
              <a:rPr lang="zh-CN" altLang="en-US" sz="3200" dirty="0"/>
              <a:t> </a:t>
            </a:r>
            <a:r>
              <a:rPr lang="en-US" altLang="zh-CN" sz="3200" dirty="0"/>
              <a:t>even</a:t>
            </a:r>
            <a:r>
              <a:rPr lang="zh-CN" altLang="en-US" sz="3200" dirty="0"/>
              <a:t> </a:t>
            </a:r>
            <a:r>
              <a:rPr lang="en-US" altLang="zh-CN" sz="3200" dirty="0"/>
              <a:t>do</a:t>
            </a:r>
            <a:r>
              <a:rPr lang="zh-CN" altLang="en-US" sz="3200" dirty="0"/>
              <a:t> </a:t>
            </a:r>
            <a:r>
              <a:rPr lang="en-US" altLang="zh-CN" sz="3200" dirty="0"/>
              <a:t>this</a:t>
            </a:r>
            <a:r>
              <a:rPr lang="zh-CN" altLang="en-US" sz="3200" dirty="0"/>
              <a:t> </a:t>
            </a:r>
            <a:r>
              <a:rPr lang="en-US" altLang="zh-CN" sz="3200" dirty="0">
                <a:sym typeface="Wingdings" pitchFamily="2" charset="2"/>
              </a:rPr>
              <a:t></a:t>
            </a:r>
            <a:endParaRPr lang="en-US" altLang="zh-CN" sz="3200" dirty="0"/>
          </a:p>
          <a:p>
            <a:endParaRPr lang="en-US" sz="3200" dirty="0"/>
          </a:p>
          <a:p>
            <a:pPr marL="0" indent="0">
              <a:buNone/>
            </a:pPr>
            <a:endParaRPr lang="en-US" altLang="zh-CN" sz="3200" dirty="0"/>
          </a:p>
          <a:p>
            <a:r>
              <a:rPr lang="en-US" altLang="zh-CN" sz="3200" dirty="0"/>
              <a:t>C:</a:t>
            </a:r>
            <a:r>
              <a:rPr lang="zh-CN" altLang="en-US" sz="3200" dirty="0"/>
              <a:t> </a:t>
            </a:r>
            <a:r>
              <a:rPr lang="en-US" altLang="zh-CN" sz="3200" dirty="0"/>
              <a:t>Static-typed</a:t>
            </a:r>
            <a:r>
              <a:rPr lang="zh-CN" altLang="en-US" sz="3200" dirty="0"/>
              <a:t> </a:t>
            </a:r>
            <a:r>
              <a:rPr lang="en-US" altLang="zh-CN" sz="3200" dirty="0"/>
              <a:t>unmanaged</a:t>
            </a:r>
            <a:r>
              <a:rPr lang="zh-CN" altLang="en-US" sz="3200" dirty="0"/>
              <a:t> </a:t>
            </a:r>
            <a:r>
              <a:rPr lang="en-US" altLang="zh-CN" sz="3200" dirty="0"/>
              <a:t>language</a:t>
            </a:r>
            <a:r>
              <a:rPr lang="zh-CN" altLang="en-US" sz="3200" dirty="0"/>
              <a:t> </a:t>
            </a:r>
            <a:r>
              <a:rPr lang="en-US" altLang="zh-CN" sz="3200" dirty="0"/>
              <a:t>cannot</a:t>
            </a:r>
            <a:r>
              <a:rPr lang="zh-CN" altLang="en-US" sz="3200" dirty="0"/>
              <a:t> </a:t>
            </a:r>
            <a:r>
              <a:rPr lang="en-US" altLang="zh-CN" sz="3200" dirty="0">
                <a:sym typeface="Wingdings" pitchFamily="2" charset="2"/>
              </a:rPr>
              <a:t></a:t>
            </a:r>
            <a:endParaRPr lang="en-US" altLang="zh-CN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CN" sz="3200" dirty="0"/>
          </a:p>
          <a:p>
            <a:r>
              <a:rPr lang="en-US" altLang="zh-CN" sz="3200" dirty="0"/>
              <a:t>But,</a:t>
            </a:r>
            <a:r>
              <a:rPr lang="zh-CN" altLang="en-US" sz="3200" dirty="0"/>
              <a:t> </a:t>
            </a:r>
            <a:r>
              <a:rPr lang="en-US" altLang="zh-CN" sz="3200" dirty="0"/>
              <a:t>at</a:t>
            </a:r>
            <a:r>
              <a:rPr lang="zh-CN" altLang="en-US" sz="3200" dirty="0"/>
              <a:t> </a:t>
            </a:r>
            <a:r>
              <a:rPr lang="en-US" altLang="zh-CN" sz="3200" dirty="0"/>
              <a:t>what</a:t>
            </a:r>
            <a:r>
              <a:rPr lang="zh-CN" altLang="en-US" sz="3200" dirty="0"/>
              <a:t> </a:t>
            </a:r>
            <a:r>
              <a:rPr lang="en-US" altLang="zh-CN" sz="3200" dirty="0"/>
              <a:t>cost?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E507D-6FCB-7649-FAB5-40C124D87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7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DC332B-28FF-DA2F-945D-ECCA1F9F9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589" y="2451249"/>
            <a:ext cx="3683000" cy="927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3C9CFE-FE2F-65DC-D918-80F6642D1D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389" y="4203254"/>
            <a:ext cx="7772400" cy="11235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430EE7-D599-CD34-5858-25CC5D3CB4FD}"/>
              </a:ext>
            </a:extLst>
          </p:cNvPr>
          <p:cNvSpPr txBox="1"/>
          <p:nvPr/>
        </p:nvSpPr>
        <p:spPr>
          <a:xfrm>
            <a:off x="5994402" y="2451805"/>
            <a:ext cx="4132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“left</a:t>
            </a:r>
            <a:r>
              <a:rPr lang="zh-CN" altLang="en-US" dirty="0"/>
              <a:t> </a:t>
            </a:r>
            <a:r>
              <a:rPr lang="en-US" altLang="zh-CN" dirty="0"/>
              <a:t>value</a:t>
            </a:r>
            <a:r>
              <a:rPr lang="zh-CN" altLang="en-US" dirty="0"/>
              <a:t> </a:t>
            </a:r>
            <a:r>
              <a:rPr lang="en-US" altLang="zh-CN" dirty="0"/>
              <a:t>identifier”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just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handle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value,</a:t>
            </a:r>
            <a:r>
              <a:rPr lang="zh-CN" altLang="en-US" dirty="0"/>
              <a:t> </a:t>
            </a:r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anything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8A8A58-A432-802D-2B96-66143EF9FF3B}"/>
              </a:ext>
            </a:extLst>
          </p:cNvPr>
          <p:cNvSpPr txBox="1"/>
          <p:nvPr/>
        </p:nvSpPr>
        <p:spPr>
          <a:xfrm>
            <a:off x="5994402" y="5326834"/>
            <a:ext cx="3753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“left</a:t>
            </a:r>
            <a:r>
              <a:rPr lang="zh-CN" altLang="en-US" dirty="0"/>
              <a:t> </a:t>
            </a:r>
            <a:r>
              <a:rPr lang="en-US" altLang="zh-CN" dirty="0"/>
              <a:t>value</a:t>
            </a:r>
            <a:r>
              <a:rPr lang="zh-CN" altLang="en-US" dirty="0"/>
              <a:t> </a:t>
            </a:r>
            <a:r>
              <a:rPr lang="en-US" altLang="zh-CN" dirty="0"/>
              <a:t>identifier”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represents</a:t>
            </a:r>
            <a:r>
              <a:rPr lang="zh-CN" altLang="en-US" dirty="0"/>
              <a:t> </a:t>
            </a:r>
            <a:r>
              <a:rPr lang="en-US" altLang="zh-CN" dirty="0"/>
              <a:t>its</a:t>
            </a:r>
            <a:r>
              <a:rPr lang="zh-CN" altLang="en-US" dirty="0"/>
              <a:t> </a:t>
            </a:r>
            <a:r>
              <a:rPr lang="en-US" altLang="zh-CN" dirty="0"/>
              <a:t>dedicated</a:t>
            </a:r>
            <a:r>
              <a:rPr lang="zh-CN" altLang="en-US" dirty="0"/>
              <a:t> </a:t>
            </a:r>
            <a:r>
              <a:rPr lang="en-US" altLang="zh-CN" dirty="0"/>
              <a:t>memory</a:t>
            </a:r>
            <a:r>
              <a:rPr lang="zh-CN" altLang="en-US" dirty="0"/>
              <a:t> </a:t>
            </a:r>
            <a:r>
              <a:rPr lang="en-US" altLang="zh-CN" dirty="0"/>
              <a:t>allocated</a:t>
            </a:r>
          </a:p>
        </p:txBody>
      </p:sp>
    </p:spTree>
    <p:extLst>
      <p:ext uri="{BB962C8B-B14F-4D97-AF65-F5344CB8AC3E}">
        <p14:creationId xmlns:p14="http://schemas.microsoft.com/office/powerpoint/2010/main" val="3591861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1591A-D23D-843C-FF36-E87EA116F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211" y="257882"/>
            <a:ext cx="11579578" cy="1082404"/>
          </a:xfrm>
        </p:spPr>
        <p:txBody>
          <a:bodyPr>
            <a:normAutofit fontScale="90000"/>
          </a:bodyPr>
          <a:lstStyle/>
          <a:p>
            <a:r>
              <a:rPr lang="en-CN" sz="5400" dirty="0"/>
              <a:t>Per</a:t>
            </a:r>
            <a:r>
              <a:rPr lang="en-US" altLang="zh-CN" sz="5400" dirty="0" err="1"/>
              <a:t>formance</a:t>
            </a:r>
            <a:r>
              <a:rPr lang="zh-CN" altLang="en-US" sz="5400" dirty="0"/>
              <a:t> </a:t>
            </a:r>
            <a:r>
              <a:rPr lang="en-US" altLang="zh-CN" sz="5400" dirty="0"/>
              <a:t>&amp;</a:t>
            </a:r>
            <a:r>
              <a:rPr lang="zh-CN" altLang="en-US" sz="5400" dirty="0"/>
              <a:t> </a:t>
            </a:r>
            <a:r>
              <a:rPr lang="en-US" altLang="zh-CN" sz="5400" dirty="0"/>
              <a:t>Flexibility:</a:t>
            </a:r>
            <a:r>
              <a:rPr lang="zh-CN" altLang="en-US" sz="5400" dirty="0"/>
              <a:t> </a:t>
            </a:r>
            <a:r>
              <a:rPr lang="en-US" altLang="zh-CN" sz="5400" dirty="0"/>
              <a:t>Heavier</a:t>
            </a:r>
            <a:r>
              <a:rPr lang="zh-CN" altLang="en-US" sz="5400" dirty="0"/>
              <a:t> </a:t>
            </a:r>
            <a:r>
              <a:rPr lang="en-US" altLang="zh-CN" sz="5400" dirty="0"/>
              <a:t>Runtime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61551-6BC2-1503-5D1D-5B37FB017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9499"/>
            <a:ext cx="10515600" cy="4593519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There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no</a:t>
            </a:r>
            <a:r>
              <a:rPr lang="zh-CN" altLang="en-US" sz="3600" dirty="0"/>
              <a:t> </a:t>
            </a:r>
            <a:r>
              <a:rPr lang="en-US" altLang="zh-CN" sz="3600" dirty="0"/>
              <a:t>magic</a:t>
            </a:r>
            <a:r>
              <a:rPr lang="zh-CN" altLang="en-US" sz="3600" dirty="0"/>
              <a:t> </a:t>
            </a:r>
            <a:r>
              <a:rPr lang="en-US" altLang="zh-CN" sz="3600" dirty="0"/>
              <a:t>in</a:t>
            </a:r>
            <a:r>
              <a:rPr lang="zh-CN" altLang="en-US" sz="3600" dirty="0"/>
              <a:t> </a:t>
            </a:r>
            <a:r>
              <a:rPr lang="en-US" altLang="zh-CN" sz="3600" dirty="0"/>
              <a:t>this</a:t>
            </a:r>
            <a:r>
              <a:rPr lang="zh-CN" altLang="en-US" sz="3600" dirty="0"/>
              <a:t> </a:t>
            </a:r>
            <a:r>
              <a:rPr lang="en-US" altLang="zh-CN" sz="3600" dirty="0"/>
              <a:t>world</a:t>
            </a:r>
          </a:p>
          <a:p>
            <a:pPr lvl="1"/>
            <a:r>
              <a:rPr lang="en-US" altLang="zh-CN" sz="3200" dirty="0"/>
              <a:t>You</a:t>
            </a:r>
            <a:r>
              <a:rPr lang="zh-CN" altLang="en-US" sz="3200" dirty="0"/>
              <a:t> </a:t>
            </a:r>
            <a:r>
              <a:rPr lang="en-US" altLang="zh-CN" sz="3200" dirty="0"/>
              <a:t>need</a:t>
            </a:r>
            <a:r>
              <a:rPr lang="zh-CN" altLang="en-US" sz="3200" dirty="0"/>
              <a:t> </a:t>
            </a:r>
            <a:r>
              <a:rPr lang="en-US" altLang="zh-CN" sz="3200" dirty="0"/>
              <a:t>to</a:t>
            </a:r>
            <a:r>
              <a:rPr lang="zh-CN" altLang="en-US" sz="3200" dirty="0"/>
              <a:t> </a:t>
            </a:r>
            <a:r>
              <a:rPr lang="en-US" altLang="zh-CN" sz="3200" dirty="0"/>
              <a:t>declare</a:t>
            </a:r>
            <a:r>
              <a:rPr lang="zh-CN" altLang="en-US" sz="3200" dirty="0"/>
              <a:t> </a:t>
            </a:r>
            <a:r>
              <a:rPr lang="en-US" altLang="zh-CN" sz="3200" dirty="0"/>
              <a:t>a</a:t>
            </a:r>
            <a:r>
              <a:rPr lang="zh-CN" altLang="en-US" sz="3200" dirty="0"/>
              <a:t> </a:t>
            </a:r>
            <a:r>
              <a:rPr lang="en-US" altLang="zh-CN" sz="3200" dirty="0"/>
              <a:t>base</a:t>
            </a:r>
            <a:r>
              <a:rPr lang="zh-CN" altLang="en-US" sz="3200" dirty="0"/>
              <a:t> </a:t>
            </a:r>
            <a:r>
              <a:rPr lang="en-US" altLang="zh-CN" sz="3200" dirty="0"/>
              <a:t>object</a:t>
            </a:r>
            <a:r>
              <a:rPr lang="zh-CN" altLang="en-US" sz="3200" dirty="0"/>
              <a:t> </a:t>
            </a:r>
            <a:r>
              <a:rPr lang="en-US" altLang="zh-CN" sz="3200" dirty="0"/>
              <a:t>that</a:t>
            </a:r>
            <a:r>
              <a:rPr lang="zh-CN" altLang="en-US" sz="3200" dirty="0"/>
              <a:t> </a:t>
            </a:r>
            <a:r>
              <a:rPr lang="en-US" altLang="zh-CN" sz="3200" dirty="0"/>
              <a:t>is</a:t>
            </a:r>
            <a:r>
              <a:rPr lang="zh-CN" altLang="en-US" sz="3200" dirty="0"/>
              <a:t> </a:t>
            </a:r>
            <a:r>
              <a:rPr lang="en-US" altLang="zh-CN" sz="3200" dirty="0"/>
              <a:t>“array-able”</a:t>
            </a:r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8E764-AD1F-3DBB-DFB7-FAFD1DAE5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8</a:t>
            </a:fld>
            <a:endParaRPr lang="en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82E277-8808-9089-8685-1FF840B99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656" y="2831381"/>
            <a:ext cx="5343525" cy="3661494"/>
          </a:xfrm>
          <a:prstGeom prst="rect">
            <a:avLst/>
          </a:prstGeom>
        </p:spPr>
      </p:pic>
      <p:sp>
        <p:nvSpPr>
          <p:cNvPr id="7" name="Down Arrow 6">
            <a:extLst>
              <a:ext uri="{FF2B5EF4-FFF2-40B4-BE49-F238E27FC236}">
                <a16:creationId xmlns:a16="http://schemas.microsoft.com/office/drawing/2014/main" id="{65A45BCE-D21C-B33E-8301-F4E76CAAB5F8}"/>
              </a:ext>
            </a:extLst>
          </p:cNvPr>
          <p:cNvSpPr/>
          <p:nvPr/>
        </p:nvSpPr>
        <p:spPr>
          <a:xfrm rot="3663351">
            <a:off x="4285762" y="2668339"/>
            <a:ext cx="382044" cy="701457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A321DC-E7FD-2C4D-9163-B5D8C0FE638E}"/>
              </a:ext>
            </a:extLst>
          </p:cNvPr>
          <p:cNvSpPr/>
          <p:nvPr/>
        </p:nvSpPr>
        <p:spPr>
          <a:xfrm>
            <a:off x="3901858" y="3342341"/>
            <a:ext cx="2411260" cy="3256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7984D5-F321-D3A6-C70B-BAE109C93AB0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313118" y="3505180"/>
            <a:ext cx="436063" cy="3120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62BC9BF-3F56-78BF-02E6-EAD014EC23C2}"/>
              </a:ext>
            </a:extLst>
          </p:cNvPr>
          <p:cNvCxnSpPr>
            <a:cxnSpLocks/>
          </p:cNvCxnSpPr>
          <p:nvPr/>
        </p:nvCxnSpPr>
        <p:spPr>
          <a:xfrm>
            <a:off x="6749181" y="3817231"/>
            <a:ext cx="436063" cy="312051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FAFDB45-6D30-340C-4DCC-464E18408101}"/>
              </a:ext>
            </a:extLst>
          </p:cNvPr>
          <p:cNvSpPr txBox="1"/>
          <p:nvPr/>
        </p:nvSpPr>
        <p:spPr>
          <a:xfrm>
            <a:off x="7185244" y="4054836"/>
            <a:ext cx="4230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mix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runtime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runtime</a:t>
            </a:r>
            <a:endParaRPr lang="en-C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77AFFF-CBD0-28E9-7DF7-D63EB4104F45}"/>
              </a:ext>
            </a:extLst>
          </p:cNvPr>
          <p:cNvSpPr/>
          <p:nvPr/>
        </p:nvSpPr>
        <p:spPr>
          <a:xfrm>
            <a:off x="10472150" y="4092414"/>
            <a:ext cx="850335" cy="2941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1061A2-F9D1-FBC2-EF19-771EB43584FD}"/>
              </a:ext>
            </a:extLst>
          </p:cNvPr>
          <p:cNvSpPr/>
          <p:nvPr/>
        </p:nvSpPr>
        <p:spPr>
          <a:xfrm>
            <a:off x="8922053" y="480806"/>
            <a:ext cx="2176007" cy="5988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1A4D57-63D5-A930-EAAE-704ABA0955C6}"/>
              </a:ext>
            </a:extLst>
          </p:cNvPr>
          <p:cNvCxnSpPr>
            <a:cxnSpLocks/>
            <a:stCxn id="15" idx="2"/>
            <a:endCxn id="14" idx="0"/>
          </p:cNvCxnSpPr>
          <p:nvPr/>
        </p:nvCxnSpPr>
        <p:spPr>
          <a:xfrm>
            <a:off x="10010057" y="1079642"/>
            <a:ext cx="887261" cy="3012772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459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27F86-564D-0C58-FBF1-2DFB27C91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90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Managed</a:t>
            </a:r>
            <a:r>
              <a:rPr lang="zh-CN" altLang="en-US" sz="5400" dirty="0"/>
              <a:t> </a:t>
            </a:r>
            <a:r>
              <a:rPr lang="en-US" altLang="zh-CN" sz="5400" dirty="0"/>
              <a:t>Runtime</a:t>
            </a:r>
            <a:r>
              <a:rPr lang="zh-CN" altLang="en-US" sz="5400" dirty="0"/>
              <a:t> </a:t>
            </a:r>
            <a:r>
              <a:rPr lang="en-US" altLang="zh-CN" sz="5400" dirty="0"/>
              <a:t>(CONT’D)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57317-EDD3-BC66-B36C-AFAB79099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Then</a:t>
            </a:r>
            <a:r>
              <a:rPr lang="zh-CN" altLang="en-US" sz="3200" dirty="0"/>
              <a:t> </a:t>
            </a:r>
            <a:r>
              <a:rPr lang="en-US" altLang="zh-CN" sz="3200" dirty="0"/>
              <a:t>we</a:t>
            </a:r>
            <a:r>
              <a:rPr lang="zh-CN" altLang="en-US" sz="3200" dirty="0"/>
              <a:t> </a:t>
            </a:r>
            <a:r>
              <a:rPr lang="en-US" altLang="zh-CN" sz="3200" dirty="0"/>
              <a:t>are</a:t>
            </a:r>
            <a:r>
              <a:rPr lang="zh-CN" altLang="en-US" sz="3200" dirty="0"/>
              <a:t> </a:t>
            </a:r>
            <a:r>
              <a:rPr lang="en-US" altLang="zh-CN" sz="3200" dirty="0"/>
              <a:t>have</a:t>
            </a:r>
            <a:r>
              <a:rPr lang="zh-CN" altLang="en-US" sz="3200" dirty="0"/>
              <a:t> </a:t>
            </a:r>
            <a:r>
              <a:rPr lang="en-US" altLang="zh-CN" sz="3200" dirty="0"/>
              <a:t>an</a:t>
            </a:r>
            <a:r>
              <a:rPr lang="zh-CN" altLang="en-US" sz="3200" dirty="0"/>
              <a:t> </a:t>
            </a:r>
            <a:r>
              <a:rPr lang="en-US" altLang="zh-CN" sz="3200" dirty="0"/>
              <a:t>array</a:t>
            </a:r>
            <a:r>
              <a:rPr lang="zh-CN" altLang="en-US" sz="3200" dirty="0"/>
              <a:t> </a:t>
            </a:r>
            <a:r>
              <a:rPr lang="en-US" altLang="zh-CN" sz="3200" dirty="0"/>
              <a:t>of</a:t>
            </a:r>
            <a:r>
              <a:rPr lang="zh-CN" altLang="en-US" sz="3200" dirty="0"/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r>
              <a:rPr lang="en-US" altLang="zh-CN" sz="3200" dirty="0"/>
              <a:t>s</a:t>
            </a:r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C39F5-D5ED-3894-B91B-A46A80884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9</a:t>
            </a:fld>
            <a:endParaRPr lang="en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9935A0-5A58-609D-F913-5D2F874EE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561" y="1813563"/>
            <a:ext cx="7772400" cy="19532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99A54A-05A0-D2A7-03AC-EA6DB5307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3561" y="3870460"/>
            <a:ext cx="7235869" cy="265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085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0B05F-1294-6883-BABA-0AB84C749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1E592-C36B-893F-F6D2-0059F0A31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2142"/>
            <a:ext cx="10515600" cy="1037790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Unmanaged</a:t>
            </a:r>
            <a:r>
              <a:rPr lang="zh-CN" altLang="en-US" sz="5400" dirty="0"/>
              <a:t> </a:t>
            </a:r>
            <a:r>
              <a:rPr lang="en-US" altLang="zh-CN" sz="5400" dirty="0"/>
              <a:t>Runtime:</a:t>
            </a:r>
            <a:r>
              <a:rPr lang="zh-CN" altLang="en-US" sz="5400" dirty="0"/>
              <a:t> </a:t>
            </a:r>
            <a:r>
              <a:rPr lang="en-US" altLang="zh-CN" sz="5400" dirty="0"/>
              <a:t>Demystified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87AE2-642B-292C-276C-73285075A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065"/>
            <a:ext cx="8610600" cy="5018296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if</a:t>
            </a:r>
            <a:r>
              <a:rPr lang="zh-CN" altLang="en-US" sz="3600" dirty="0"/>
              <a:t> </a:t>
            </a:r>
            <a:r>
              <a:rPr lang="en-US" altLang="zh-CN" sz="3600" dirty="0"/>
              <a:t>I</a:t>
            </a:r>
            <a:r>
              <a:rPr lang="zh-CN" altLang="en-US" sz="3600" dirty="0"/>
              <a:t> </a:t>
            </a:r>
            <a:r>
              <a:rPr lang="en-US" altLang="zh-CN" sz="3600" dirty="0"/>
              <a:t>do</a:t>
            </a:r>
            <a:r>
              <a:rPr lang="zh-CN" altLang="en-US" sz="3600" dirty="0"/>
              <a:t> </a:t>
            </a:r>
            <a:r>
              <a:rPr lang="en-US" altLang="zh-CN" sz="3600" dirty="0"/>
              <a:t>this?</a:t>
            </a:r>
          </a:p>
          <a:p>
            <a:endParaRPr lang="en-US" altLang="zh-CN" sz="3600" dirty="0"/>
          </a:p>
          <a:p>
            <a:endParaRPr lang="en-US" altLang="zh-CN" sz="3600" dirty="0"/>
          </a:p>
          <a:p>
            <a:endParaRPr lang="en-US" altLang="zh-CN" sz="3600" dirty="0"/>
          </a:p>
          <a:p>
            <a:endParaRPr lang="en-US" altLang="zh-CN" sz="3600" dirty="0"/>
          </a:p>
          <a:p>
            <a:endParaRPr lang="en-US" altLang="zh-CN" sz="3600" dirty="0"/>
          </a:p>
          <a:p>
            <a:endParaRPr lang="en-US" altLang="zh-CN" sz="3600" dirty="0"/>
          </a:p>
          <a:p>
            <a:r>
              <a:rPr lang="en-US" altLang="zh-CN" sz="3600" dirty="0"/>
              <a:t>Which</a:t>
            </a:r>
            <a:r>
              <a:rPr lang="zh-CN" altLang="en-US" sz="3600" dirty="0"/>
              <a:t> </a:t>
            </a:r>
            <a:r>
              <a:rPr lang="en-US" altLang="zh-CN" sz="3600" dirty="0"/>
              <a:t>performance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better?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053D7-7EB3-62FE-FEF0-22DABE55F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10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CF8013-7C47-E4F8-7EEC-E62424B0E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13877"/>
            <a:ext cx="5498535" cy="15256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924588-1C4A-F42C-42E7-E9A35812EE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312" y="2044296"/>
            <a:ext cx="5427009" cy="29400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0E529B-C23A-F767-A814-0C3829CA37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121042"/>
            <a:ext cx="1643743" cy="15577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893DAF-934B-1C6E-C2CC-6A70C97E5784}"/>
              </a:ext>
            </a:extLst>
          </p:cNvPr>
          <p:cNvSpPr txBox="1"/>
          <p:nvPr/>
        </p:nvSpPr>
        <p:spPr>
          <a:xfrm>
            <a:off x="2569319" y="2121042"/>
            <a:ext cx="41253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Manually</a:t>
            </a:r>
            <a:r>
              <a:rPr lang="zh-CN" altLang="en-US" sz="2400" dirty="0"/>
              <a:t> </a:t>
            </a:r>
            <a:r>
              <a:rPr lang="en-US" altLang="zh-CN" sz="2400" dirty="0"/>
              <a:t>manage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subclass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each</a:t>
            </a:r>
            <a:r>
              <a:rPr lang="zh-CN" altLang="en-US" sz="2400" dirty="0"/>
              <a:t> </a:t>
            </a:r>
            <a:r>
              <a:rPr lang="en-US" altLang="zh-CN" sz="2400" dirty="0"/>
              <a:t>subclass.</a:t>
            </a:r>
            <a:endParaRPr lang="en-CN" sz="2400" dirty="0"/>
          </a:p>
        </p:txBody>
      </p:sp>
    </p:spTree>
    <p:extLst>
      <p:ext uri="{BB962C8B-B14F-4D97-AF65-F5344CB8AC3E}">
        <p14:creationId xmlns:p14="http://schemas.microsoft.com/office/powerpoint/2010/main" val="788939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F1B89-56CE-62A1-7848-34891C71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127" y="162142"/>
            <a:ext cx="6193971" cy="1037790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Unmanaged</a:t>
            </a:r>
            <a:r>
              <a:rPr lang="zh-CN" altLang="en-US" sz="5400" dirty="0"/>
              <a:t> </a:t>
            </a:r>
            <a:r>
              <a:rPr lang="en-US" altLang="zh-CN" sz="5400" dirty="0"/>
              <a:t>Runtime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DFBCD-68DA-85C6-7317-2919FDA7D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8" y="1330370"/>
            <a:ext cx="5159829" cy="3557316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Theoretically,</a:t>
            </a:r>
            <a:r>
              <a:rPr lang="zh-CN" altLang="en-US" sz="3200" dirty="0"/>
              <a:t> </a:t>
            </a:r>
            <a:r>
              <a:rPr lang="en-US" altLang="zh-CN" sz="3200" dirty="0"/>
              <a:t>there</a:t>
            </a:r>
            <a:r>
              <a:rPr lang="zh-CN" altLang="en-US" sz="3200" dirty="0"/>
              <a:t> </a:t>
            </a:r>
            <a:r>
              <a:rPr lang="en-US" altLang="zh-CN" sz="3200" dirty="0"/>
              <a:t>should</a:t>
            </a:r>
            <a:r>
              <a:rPr lang="zh-CN" altLang="en-US" sz="3200" dirty="0"/>
              <a:t> </a:t>
            </a:r>
            <a:r>
              <a:rPr lang="en-US" altLang="zh-CN" sz="3200" dirty="0"/>
              <a:t>be</a:t>
            </a:r>
            <a:r>
              <a:rPr lang="zh-CN" altLang="en-US" sz="3200" dirty="0"/>
              <a:t> </a:t>
            </a:r>
            <a:r>
              <a:rPr lang="en-US" altLang="zh-CN" sz="3200" dirty="0"/>
              <a:t>no</a:t>
            </a:r>
            <a:r>
              <a:rPr lang="zh-CN" altLang="en-US" sz="3200" dirty="0"/>
              <a:t> </a:t>
            </a:r>
            <a:r>
              <a:rPr lang="en-US" altLang="zh-CN" sz="3200" dirty="0"/>
              <a:t>difference</a:t>
            </a:r>
            <a:r>
              <a:rPr lang="zh-CN" altLang="en-US" sz="3200" dirty="0"/>
              <a:t> </a:t>
            </a:r>
            <a:r>
              <a:rPr lang="en-US" altLang="zh-CN" sz="3200" dirty="0"/>
              <a:t>between</a:t>
            </a:r>
            <a:r>
              <a:rPr lang="zh-CN" altLang="en-US" sz="3200" dirty="0"/>
              <a:t> </a:t>
            </a:r>
            <a:r>
              <a:rPr lang="en-US" altLang="zh-CN" sz="3200" dirty="0"/>
              <a:t>these</a:t>
            </a:r>
            <a:r>
              <a:rPr lang="zh-CN" altLang="en-US" sz="3200" dirty="0"/>
              <a:t> </a:t>
            </a:r>
            <a:r>
              <a:rPr lang="en-US" altLang="zh-CN" sz="3200" dirty="0"/>
              <a:t>two,</a:t>
            </a:r>
            <a:r>
              <a:rPr lang="zh-CN" altLang="en-US" sz="3200" dirty="0"/>
              <a:t> </a:t>
            </a:r>
            <a:r>
              <a:rPr lang="en-US" altLang="zh-CN" sz="3200" dirty="0"/>
              <a:t>but</a:t>
            </a:r>
            <a:r>
              <a:rPr lang="zh-CN" altLang="en-US" sz="3200" dirty="0"/>
              <a:t> </a:t>
            </a:r>
            <a:r>
              <a:rPr lang="en-US" altLang="zh-CN" sz="3200" dirty="0"/>
              <a:t>it</a:t>
            </a:r>
            <a:r>
              <a:rPr lang="zh-CN" altLang="en-US" sz="3200" dirty="0"/>
              <a:t> </a:t>
            </a:r>
            <a:r>
              <a:rPr lang="en-US" altLang="zh-CN" sz="3200" dirty="0"/>
              <a:t>will</a:t>
            </a:r>
            <a:r>
              <a:rPr lang="zh-CN" altLang="en-US" sz="3200" dirty="0"/>
              <a:t> </a:t>
            </a:r>
            <a:r>
              <a:rPr lang="en-US" altLang="zh-CN" sz="3200" dirty="0"/>
              <a:t>degrade</a:t>
            </a:r>
            <a:r>
              <a:rPr lang="zh-CN" altLang="en-US" sz="3200" dirty="0"/>
              <a:t> </a:t>
            </a: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performance</a:t>
            </a:r>
            <a:r>
              <a:rPr lang="zh-CN" altLang="en-US" sz="3200" dirty="0"/>
              <a:t> </a:t>
            </a:r>
            <a:r>
              <a:rPr lang="en-US" altLang="zh-CN" sz="3200" dirty="0"/>
              <a:t>when</a:t>
            </a:r>
            <a:r>
              <a:rPr lang="zh-CN" altLang="en-US" sz="3200" dirty="0"/>
              <a:t> </a:t>
            </a:r>
            <a:r>
              <a:rPr lang="en-US" altLang="zh-CN" sz="3200" dirty="0"/>
              <a:t>over-complicated.</a:t>
            </a:r>
          </a:p>
          <a:p>
            <a:r>
              <a:rPr lang="en-CN" sz="3200" dirty="0"/>
              <a:t>RTTI</a:t>
            </a:r>
            <a:r>
              <a:rPr lang="en-US" altLang="zh-CN" sz="3200" dirty="0"/>
              <a:t>:</a:t>
            </a:r>
            <a:r>
              <a:rPr lang="zh-CN" altLang="en-US" sz="3200" dirty="0"/>
              <a:t> </a:t>
            </a:r>
            <a:r>
              <a:rPr lang="en-US" altLang="zh-CN" sz="3200" dirty="0"/>
              <a:t>-</a:t>
            </a:r>
            <a:r>
              <a:rPr lang="en-US" altLang="zh-CN" sz="3200" dirty="0" err="1"/>
              <a:t>fno-rtti</a:t>
            </a:r>
            <a:endParaRPr lang="en-US" altLang="zh-CN" sz="3200" dirty="0"/>
          </a:p>
          <a:p>
            <a:pPr lvl="1"/>
            <a:r>
              <a:rPr lang="en-US" altLang="zh-CN" sz="2800" dirty="0"/>
              <a:t>Runtime</a:t>
            </a:r>
            <a:r>
              <a:rPr lang="zh-CN" altLang="en-US" sz="2800" dirty="0"/>
              <a:t> </a:t>
            </a:r>
            <a:r>
              <a:rPr lang="en-US" altLang="zh-CN" sz="2800" dirty="0"/>
              <a:t>type</a:t>
            </a:r>
            <a:r>
              <a:rPr lang="zh-CN" altLang="en-US" sz="2800" dirty="0"/>
              <a:t> </a:t>
            </a:r>
            <a:r>
              <a:rPr lang="en-US" altLang="zh-CN" sz="2800" dirty="0"/>
              <a:t>info</a:t>
            </a:r>
            <a:endParaRPr lang="en-CN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9EFE7-43D4-1C85-6AF6-0D7886C10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11</a:t>
            </a:fld>
            <a:endParaRPr lang="en-C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F312B6-6BAD-3FA3-3818-6F95E171A11E}"/>
              </a:ext>
            </a:extLst>
          </p:cNvPr>
          <p:cNvSpPr txBox="1"/>
          <p:nvPr/>
        </p:nvSpPr>
        <p:spPr>
          <a:xfrm>
            <a:off x="16514" y="6211669"/>
            <a:ext cx="68031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Source:</a:t>
            </a:r>
            <a:r>
              <a:rPr lang="zh-CN" altLang="en-US" dirty="0"/>
              <a:t> </a:t>
            </a:r>
            <a:r>
              <a:rPr lang="en-CN" dirty="0">
                <a:hlinkClick r:id="rId3"/>
              </a:rPr>
              <a:t>https://stackoverflow.com/questions/22288347/dynamic-cast-vs-virtual-function-vs-member-enum</a:t>
            </a:r>
            <a:endParaRPr lang="en-CN" dirty="0"/>
          </a:p>
        </p:txBody>
      </p:sp>
      <p:pic>
        <p:nvPicPr>
          <p:cNvPr id="1028" name="Picture 4" descr="Inheritance graph">
            <a:extLst>
              <a:ext uri="{FF2B5EF4-FFF2-40B4-BE49-F238E27FC236}">
                <a16:creationId xmlns:a16="http://schemas.microsoft.com/office/drawing/2014/main" id="{C42FBC61-BE70-DEDA-E9C4-4902A8BA8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7137" y="162142"/>
            <a:ext cx="8114078" cy="6695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1903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DD6CC-7AF3-2AFF-1675-C1D26A6B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Unmanaged</a:t>
            </a:r>
            <a:r>
              <a:rPr lang="zh-CN" altLang="en-US" sz="5400" dirty="0"/>
              <a:t> </a:t>
            </a:r>
            <a:r>
              <a:rPr lang="en-US" altLang="zh-CN" sz="5400" dirty="0"/>
              <a:t>Runtime:</a:t>
            </a:r>
            <a:r>
              <a:rPr lang="zh-CN" altLang="en-US" sz="5400" dirty="0"/>
              <a:t> </a:t>
            </a:r>
            <a:r>
              <a:rPr lang="en-US" altLang="zh-CN" sz="5400" dirty="0"/>
              <a:t>Conclusion</a:t>
            </a:r>
            <a:endParaRPr lang="en-CN" sz="5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F1CB0-467D-A15B-D336-A46686F4A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12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12B170-60DD-33BF-5C3D-C5CD9BACB111}"/>
              </a:ext>
            </a:extLst>
          </p:cNvPr>
          <p:cNvSpPr txBox="1"/>
          <p:nvPr/>
        </p:nvSpPr>
        <p:spPr>
          <a:xfrm>
            <a:off x="8708571" y="6492875"/>
            <a:ext cx="2954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Source:</a:t>
            </a:r>
            <a:r>
              <a:rPr lang="zh-CN" altLang="en-US" dirty="0"/>
              <a:t> </a:t>
            </a:r>
            <a:r>
              <a:rPr lang="en-US" altLang="zh-CN" dirty="0"/>
              <a:t>Age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Ultron</a:t>
            </a:r>
            <a:r>
              <a:rPr lang="zh-CN" altLang="en-US" dirty="0"/>
              <a:t> </a:t>
            </a:r>
            <a:r>
              <a:rPr lang="en-US" altLang="zh-CN" dirty="0"/>
              <a:t>(2015)</a:t>
            </a:r>
            <a:endParaRPr lang="en-CN" dirty="0"/>
          </a:p>
        </p:txBody>
      </p:sp>
      <p:pic>
        <p:nvPicPr>
          <p:cNvPr id="3076" name="Picture 4" descr="Fine, I'll do it myself : r/Terraria">
            <a:extLst>
              <a:ext uri="{FF2B5EF4-FFF2-40B4-BE49-F238E27FC236}">
                <a16:creationId xmlns:a16="http://schemas.microsoft.com/office/drawing/2014/main" id="{99B61D8C-228F-4284-E6DE-5C5B98BC7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950" y="1797617"/>
            <a:ext cx="9690100" cy="415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3594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5D5D9-809F-9E77-EF84-E92C8A14F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683"/>
            <a:ext cx="10515600" cy="1144588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Syntactical</a:t>
            </a:r>
            <a:r>
              <a:rPr lang="zh-CN" altLang="en-US" sz="5400" dirty="0"/>
              <a:t> </a:t>
            </a:r>
            <a:r>
              <a:rPr lang="en-US" altLang="zh-CN" sz="5400" dirty="0"/>
              <a:t>Sugar:</a:t>
            </a:r>
            <a:r>
              <a:rPr lang="zh-CN" altLang="en-US" sz="5400" dirty="0"/>
              <a:t> </a:t>
            </a:r>
            <a:r>
              <a:rPr lang="en-US" altLang="zh-CN" sz="5400" dirty="0"/>
              <a:t>Oh!</a:t>
            </a:r>
            <a:r>
              <a:rPr lang="zh-CN" altLang="en-US" sz="5400" dirty="0"/>
              <a:t> </a:t>
            </a:r>
            <a:r>
              <a:rPr lang="en-US" altLang="zh-CN" sz="5400" dirty="0"/>
              <a:t>Sweet!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09A03-81AF-D758-202B-119D72523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796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Python:</a:t>
            </a:r>
            <a:r>
              <a:rPr lang="zh-CN" altLang="en-US" sz="3200" dirty="0"/>
              <a:t> </a:t>
            </a:r>
            <a:r>
              <a:rPr lang="en-US" altLang="zh-CN" sz="3200" dirty="0"/>
              <a:t>Map</a:t>
            </a:r>
            <a:r>
              <a:rPr lang="zh-CN" altLang="en-US" sz="3200" dirty="0"/>
              <a:t> </a:t>
            </a:r>
            <a:r>
              <a:rPr lang="en-US" altLang="zh-CN" sz="3200" dirty="0"/>
              <a:t>or</a:t>
            </a:r>
            <a:r>
              <a:rPr lang="zh-CN" altLang="en-US" sz="3200" dirty="0"/>
              <a:t> </a:t>
            </a:r>
            <a:r>
              <a:rPr lang="en-US" altLang="zh-CN" sz="3200" dirty="0"/>
              <a:t>For-loop?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r>
              <a:rPr lang="en-US" altLang="zh-CN" sz="3200" dirty="0"/>
              <a:t>C:</a:t>
            </a:r>
            <a:r>
              <a:rPr lang="zh-CN" altLang="en-US" sz="3200" dirty="0"/>
              <a:t> </a:t>
            </a:r>
            <a:r>
              <a:rPr lang="en-US" altLang="zh-CN" sz="3200" dirty="0"/>
              <a:t>Self-increase</a:t>
            </a:r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8060A-5CF2-A77B-8046-DD25C09A3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13</a:t>
            </a:fld>
            <a:endParaRPr lang="en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3238E4-08C3-45A7-4082-C7964C154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085" y="2243364"/>
            <a:ext cx="4318000" cy="1892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55FE3D-248B-DA6D-B38E-5D9622BEE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914" y="5043034"/>
            <a:ext cx="1689100" cy="927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493D43-8BE4-3048-8007-3AE1D42B9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9777" y="2250394"/>
            <a:ext cx="3035300" cy="209550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BBE69EF-2B3A-1AB3-F5AF-291D24D35460}"/>
              </a:ext>
            </a:extLst>
          </p:cNvPr>
          <p:cNvSpPr txBox="1">
            <a:spLocks/>
          </p:cNvSpPr>
          <p:nvPr/>
        </p:nvSpPr>
        <p:spPr>
          <a:xfrm>
            <a:off x="6908799" y="1618796"/>
            <a:ext cx="3650343" cy="1510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/>
              <a:t>C:</a:t>
            </a:r>
            <a:r>
              <a:rPr lang="zh-CN" altLang="en-US" sz="3200" dirty="0"/>
              <a:t> </a:t>
            </a:r>
            <a:r>
              <a:rPr lang="en-US" altLang="zh-CN" sz="3200" dirty="0"/>
              <a:t>Type</a:t>
            </a:r>
            <a:r>
              <a:rPr lang="zh-CN" altLang="en-US" sz="3200" dirty="0"/>
              <a:t> </a:t>
            </a:r>
            <a:r>
              <a:rPr lang="en-US" altLang="zh-CN" sz="3200" dirty="0" err="1"/>
              <a:t>Decl</a:t>
            </a:r>
            <a:endParaRPr lang="en-US" altLang="zh-CN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48C9D1-FEA5-DC42-9A1D-8AE221851F8E}"/>
              </a:ext>
            </a:extLst>
          </p:cNvPr>
          <p:cNvSpPr txBox="1"/>
          <p:nvPr/>
        </p:nvSpPr>
        <p:spPr>
          <a:xfrm>
            <a:off x="5807072" y="4868635"/>
            <a:ext cx="55576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Exemplify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language</a:t>
            </a:r>
            <a:r>
              <a:rPr lang="zh-CN" altLang="en-US" sz="2400" dirty="0"/>
              <a:t> </a:t>
            </a:r>
            <a:r>
              <a:rPr lang="en-US" altLang="zh-CN" sz="2400" dirty="0"/>
              <a:t>features</a:t>
            </a:r>
            <a:r>
              <a:rPr lang="zh-CN" altLang="en-US" sz="2400" dirty="0"/>
              <a:t> </a:t>
            </a:r>
            <a:r>
              <a:rPr lang="en-US" altLang="zh-CN" sz="2400" dirty="0"/>
              <a:t>that</a:t>
            </a:r>
            <a:r>
              <a:rPr lang="zh-CN" altLang="en-US" sz="2400" dirty="0"/>
              <a:t> </a:t>
            </a:r>
            <a:r>
              <a:rPr lang="en-US" altLang="zh-CN" sz="2400" dirty="0"/>
              <a:t>makes</a:t>
            </a:r>
            <a:r>
              <a:rPr lang="zh-CN" altLang="en-US" sz="2400" dirty="0"/>
              <a:t> </a:t>
            </a:r>
            <a:r>
              <a:rPr lang="en-US" altLang="zh-CN" sz="2400" dirty="0"/>
              <a:t>you</a:t>
            </a:r>
            <a:r>
              <a:rPr lang="zh-CN" altLang="en-US" sz="2400" dirty="0"/>
              <a:t> </a:t>
            </a:r>
            <a:r>
              <a:rPr lang="en-US" altLang="zh-CN" sz="2400" dirty="0"/>
              <a:t>program</a:t>
            </a:r>
            <a:r>
              <a:rPr lang="zh-CN" altLang="en-US" sz="2400" dirty="0"/>
              <a:t> </a:t>
            </a:r>
            <a:r>
              <a:rPr lang="en-US" altLang="zh-CN" sz="2400" dirty="0"/>
              <a:t>more</a:t>
            </a:r>
            <a:r>
              <a:rPr lang="zh-CN" altLang="en-US" sz="2400" dirty="0"/>
              <a:t> </a:t>
            </a:r>
            <a:r>
              <a:rPr lang="en-US" altLang="zh-CN" sz="2400" dirty="0"/>
              <a:t>easily,</a:t>
            </a:r>
            <a:r>
              <a:rPr lang="zh-CN" altLang="en-US" sz="2400" dirty="0"/>
              <a:t> </a:t>
            </a:r>
            <a:r>
              <a:rPr lang="en-US" altLang="zh-CN" sz="2400" dirty="0"/>
              <a:t>while</a:t>
            </a:r>
            <a:r>
              <a:rPr lang="zh-CN" altLang="en-US" sz="2400" dirty="0"/>
              <a:t> </a:t>
            </a:r>
            <a:r>
              <a:rPr lang="en-US" altLang="zh-CN" sz="2400" dirty="0"/>
              <a:t>you</a:t>
            </a:r>
            <a:r>
              <a:rPr lang="zh-CN" altLang="en-US" sz="2400" dirty="0"/>
              <a:t> </a:t>
            </a:r>
            <a:r>
              <a:rPr lang="en-US" altLang="zh-CN" sz="2400" dirty="0"/>
              <a:t>can</a:t>
            </a:r>
            <a:r>
              <a:rPr lang="zh-CN" altLang="en-US" sz="2400" dirty="0"/>
              <a:t> </a:t>
            </a:r>
            <a:r>
              <a:rPr lang="en-US" altLang="zh-CN" sz="2400" dirty="0"/>
              <a:t>still</a:t>
            </a:r>
            <a:r>
              <a:rPr lang="zh-CN" altLang="en-US" sz="2400" dirty="0"/>
              <a:t> </a:t>
            </a:r>
            <a:r>
              <a:rPr lang="en-US" altLang="zh-CN" sz="2400" dirty="0"/>
              <a:t>program</a:t>
            </a:r>
            <a:r>
              <a:rPr lang="zh-CN" altLang="en-US" sz="2400" dirty="0"/>
              <a:t> </a:t>
            </a:r>
            <a:r>
              <a:rPr lang="en-US" altLang="zh-CN" sz="2400" dirty="0"/>
              <a:t>without</a:t>
            </a:r>
            <a:r>
              <a:rPr lang="zh-CN" altLang="en-US" sz="2400" dirty="0"/>
              <a:t> </a:t>
            </a:r>
            <a:r>
              <a:rPr lang="en-US" altLang="zh-CN" sz="2400" dirty="0"/>
              <a:t>them.</a:t>
            </a:r>
            <a:r>
              <a:rPr lang="zh-CN" altLang="en-US" sz="2400" dirty="0"/>
              <a:t> </a:t>
            </a:r>
            <a:endParaRPr lang="en-CN" sz="2400" dirty="0"/>
          </a:p>
        </p:txBody>
      </p:sp>
    </p:spTree>
    <p:extLst>
      <p:ext uri="{BB962C8B-B14F-4D97-AF65-F5344CB8AC3E}">
        <p14:creationId xmlns:p14="http://schemas.microsoft.com/office/powerpoint/2010/main" val="637991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B5A7F-ED41-A915-C6B5-224E14DE0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592" y="197417"/>
            <a:ext cx="11304815" cy="1391897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Syntactical</a:t>
            </a:r>
            <a:r>
              <a:rPr lang="zh-CN" altLang="en-US" sz="5400" dirty="0"/>
              <a:t> </a:t>
            </a:r>
            <a:r>
              <a:rPr lang="en-US" altLang="zh-CN" sz="5400" dirty="0"/>
              <a:t>Salt:</a:t>
            </a:r>
            <a:r>
              <a:rPr lang="zh-CN" altLang="en-US" sz="5400" dirty="0"/>
              <a:t> </a:t>
            </a:r>
            <a:r>
              <a:rPr lang="en-US" altLang="zh-CN" sz="5400" dirty="0"/>
              <a:t>Do</a:t>
            </a:r>
            <a:r>
              <a:rPr lang="zh-CN" altLang="en-US" sz="5400" dirty="0"/>
              <a:t> </a:t>
            </a:r>
            <a:r>
              <a:rPr lang="en-US" altLang="zh-CN" sz="5400" dirty="0"/>
              <a:t>(not)</a:t>
            </a:r>
            <a:r>
              <a:rPr lang="zh-CN" altLang="en-US" sz="5400" dirty="0"/>
              <a:t> </a:t>
            </a:r>
            <a:r>
              <a:rPr lang="en-US" altLang="zh-CN" sz="5400" dirty="0"/>
              <a:t>get</a:t>
            </a:r>
            <a:r>
              <a:rPr lang="zh-CN" altLang="en-US" sz="5400" dirty="0"/>
              <a:t> </a:t>
            </a:r>
            <a:r>
              <a:rPr lang="en-US" altLang="zh-CN" sz="5400" dirty="0"/>
              <a:t>addicted!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C98C8-C3B7-BCDB-E9C1-DCD35C10E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6836" y="1730659"/>
            <a:ext cx="5233307" cy="722142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You</a:t>
            </a:r>
            <a:r>
              <a:rPr lang="zh-CN" altLang="en-US" sz="3200" dirty="0"/>
              <a:t> </a:t>
            </a:r>
            <a:r>
              <a:rPr lang="en-US" altLang="zh-CN" sz="3200" dirty="0"/>
              <a:t>can</a:t>
            </a:r>
            <a:r>
              <a:rPr lang="zh-CN" altLang="en-US" sz="3200" dirty="0"/>
              <a:t> </a:t>
            </a:r>
            <a:r>
              <a:rPr lang="en-US" altLang="zh-CN" sz="3200" dirty="0"/>
              <a:t>even</a:t>
            </a:r>
            <a:r>
              <a:rPr lang="zh-CN" altLang="en-US" sz="3200" dirty="0"/>
              <a:t> </a:t>
            </a:r>
            <a:r>
              <a:rPr lang="en-US" altLang="zh-CN" sz="3200" dirty="0"/>
              <a:t>do</a:t>
            </a:r>
            <a:r>
              <a:rPr lang="zh-CN" altLang="en-US" sz="3200" dirty="0"/>
              <a:t> </a:t>
            </a:r>
            <a:r>
              <a:rPr lang="en-US" altLang="zh-CN" sz="3200" dirty="0"/>
              <a:t>this</a:t>
            </a:r>
            <a:r>
              <a:rPr lang="zh-CN" altLang="en-US" sz="3200" dirty="0"/>
              <a:t> </a:t>
            </a:r>
            <a:r>
              <a:rPr lang="en-US" altLang="zh-CN" sz="3200" dirty="0"/>
              <a:t>in</a:t>
            </a:r>
            <a:r>
              <a:rPr lang="zh-CN" altLang="en-US" sz="3200" dirty="0"/>
              <a:t> </a:t>
            </a:r>
            <a:r>
              <a:rPr lang="en-US" altLang="zh-CN" sz="3200" dirty="0"/>
              <a:t>JS!</a:t>
            </a:r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18A2F-F829-02F7-ABFE-5CA6BD93B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14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4958B6-6BCA-89AE-E338-C1CE48875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987" y="2420144"/>
            <a:ext cx="4495800" cy="3009900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32F58F5F-CD08-991E-1F53-EEE09D0C06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7" t="9013" r="10193" b="5757"/>
          <a:stretch>
            <a:fillRect/>
          </a:stretch>
        </p:blipFill>
        <p:spPr bwMode="auto">
          <a:xfrm>
            <a:off x="5706836" y="2309245"/>
            <a:ext cx="604157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0B0A9F6-5971-ECC0-0B51-1F1A99756476}"/>
              </a:ext>
            </a:extLst>
          </p:cNvPr>
          <p:cNvSpPr txBox="1">
            <a:spLocks/>
          </p:cNvSpPr>
          <p:nvPr/>
        </p:nvSpPr>
        <p:spPr>
          <a:xfrm>
            <a:off x="595992" y="1741714"/>
            <a:ext cx="4955722" cy="4604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/>
              <a:t>It</a:t>
            </a:r>
            <a:r>
              <a:rPr lang="zh-CN" altLang="en-US" sz="3200" dirty="0"/>
              <a:t> </a:t>
            </a:r>
            <a:r>
              <a:rPr lang="en-US" altLang="zh-CN" sz="3200" dirty="0"/>
              <a:t>is</a:t>
            </a:r>
            <a:r>
              <a:rPr lang="zh-CN" altLang="en-US" sz="3200" dirty="0"/>
              <a:t> </a:t>
            </a:r>
            <a:r>
              <a:rPr lang="en-US" altLang="zh-CN" sz="3200" dirty="0"/>
              <a:t>OK</a:t>
            </a:r>
            <a:r>
              <a:rPr lang="zh-CN" altLang="en-US" sz="3200" dirty="0"/>
              <a:t> </a:t>
            </a:r>
            <a:r>
              <a:rPr lang="en-US" altLang="zh-CN" sz="3200" dirty="0"/>
              <a:t>to</a:t>
            </a:r>
            <a:r>
              <a:rPr lang="zh-CN" altLang="en-US" sz="3200" dirty="0"/>
              <a:t> </a:t>
            </a:r>
            <a:r>
              <a:rPr lang="en-US" altLang="zh-CN" sz="3200" dirty="0"/>
              <a:t>do</a:t>
            </a:r>
            <a:r>
              <a:rPr lang="zh-CN" altLang="en-US" sz="3200" dirty="0"/>
              <a:t> </a:t>
            </a:r>
            <a:r>
              <a:rPr lang="en-US" altLang="zh-CN" sz="3200" dirty="0"/>
              <a:t>this</a:t>
            </a:r>
            <a:r>
              <a:rPr lang="zh-CN" altLang="en-US" sz="3200" dirty="0"/>
              <a:t> </a:t>
            </a:r>
            <a:r>
              <a:rPr lang="en-US" altLang="zh-CN" sz="3200" dirty="0"/>
              <a:t>in</a:t>
            </a:r>
            <a:r>
              <a:rPr lang="zh-CN" altLang="en-US" sz="3200" dirty="0"/>
              <a:t> </a:t>
            </a:r>
            <a:r>
              <a:rPr lang="en-US" altLang="zh-CN" sz="3200" dirty="0"/>
              <a:t>C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r>
              <a:rPr lang="en-US" altLang="zh-CN" sz="3200" dirty="0"/>
              <a:t>This</a:t>
            </a:r>
            <a:r>
              <a:rPr lang="zh-CN" altLang="en-US" sz="3200" dirty="0"/>
              <a:t> </a:t>
            </a:r>
            <a:r>
              <a:rPr lang="en-US" altLang="zh-CN" sz="3200" dirty="0"/>
              <a:t>makes</a:t>
            </a:r>
            <a:r>
              <a:rPr lang="zh-CN" altLang="en-US" sz="3200" dirty="0"/>
              <a:t> </a:t>
            </a:r>
            <a:r>
              <a:rPr lang="en-US" altLang="zh-CN" sz="3200" dirty="0"/>
              <a:t>code</a:t>
            </a:r>
            <a:r>
              <a:rPr lang="zh-CN" altLang="en-US" sz="3200" dirty="0"/>
              <a:t> </a:t>
            </a:r>
            <a:r>
              <a:rPr lang="en-US" altLang="zh-CN" sz="3200" dirty="0"/>
              <a:t>concise</a:t>
            </a:r>
            <a:endParaRPr lang="en-CN" sz="3200" dirty="0"/>
          </a:p>
        </p:txBody>
      </p:sp>
    </p:spTree>
    <p:extLst>
      <p:ext uri="{BB962C8B-B14F-4D97-AF65-F5344CB8AC3E}">
        <p14:creationId xmlns:p14="http://schemas.microsoft.com/office/powerpoint/2010/main" val="1009618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BE45A-0FBC-BA81-5402-A8202E836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Syntactical</a:t>
            </a:r>
            <a:r>
              <a:rPr lang="zh-CN" altLang="en-US" sz="5400" dirty="0"/>
              <a:t> </a:t>
            </a:r>
            <a:r>
              <a:rPr lang="en-US" altLang="zh-CN" sz="5400" dirty="0"/>
              <a:t>Salt</a:t>
            </a:r>
            <a:r>
              <a:rPr lang="zh-CN" altLang="en-US" sz="5400" dirty="0"/>
              <a:t> </a:t>
            </a:r>
            <a:r>
              <a:rPr lang="en-US" altLang="zh-CN" sz="5400" dirty="0"/>
              <a:t>(CONT’D)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5DDCC-395C-028E-A605-D79CCF789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You</a:t>
            </a:r>
            <a:r>
              <a:rPr lang="zh-CN" altLang="en-US" sz="3200" dirty="0"/>
              <a:t> </a:t>
            </a:r>
            <a:r>
              <a:rPr lang="en-US" altLang="zh-CN" sz="3200" dirty="0"/>
              <a:t>are</a:t>
            </a:r>
            <a:r>
              <a:rPr lang="zh-CN" altLang="en-US" sz="3200" dirty="0"/>
              <a:t> </a:t>
            </a:r>
            <a:r>
              <a:rPr lang="en-US" altLang="zh-CN" sz="3200" dirty="0"/>
              <a:t>not</a:t>
            </a:r>
            <a:r>
              <a:rPr lang="zh-CN" altLang="en-US" sz="3200" dirty="0"/>
              <a:t> </a:t>
            </a:r>
            <a:r>
              <a:rPr lang="en-US" altLang="zh-CN" sz="3200" dirty="0"/>
              <a:t>allowed</a:t>
            </a:r>
            <a:r>
              <a:rPr lang="zh-CN" altLang="en-US" sz="3200" dirty="0"/>
              <a:t> </a:t>
            </a:r>
            <a:r>
              <a:rPr lang="en-US" altLang="zh-CN" sz="3200" dirty="0"/>
              <a:t>to</a:t>
            </a:r>
            <a:r>
              <a:rPr lang="zh-CN" altLang="en-US" sz="3200" dirty="0"/>
              <a:t> </a:t>
            </a:r>
            <a:r>
              <a:rPr lang="en-US" altLang="zh-CN" sz="3200" dirty="0"/>
              <a:t>do</a:t>
            </a:r>
            <a:r>
              <a:rPr lang="zh-CN" altLang="en-US" sz="3200" dirty="0"/>
              <a:t> </a:t>
            </a:r>
            <a:r>
              <a:rPr lang="en-US" altLang="zh-CN" sz="3200" dirty="0"/>
              <a:t>this</a:t>
            </a:r>
            <a:r>
              <a:rPr lang="zh-CN" altLang="en-US" sz="3200" dirty="0"/>
              <a:t> </a:t>
            </a:r>
            <a:r>
              <a:rPr lang="en-US" altLang="zh-CN" sz="3200" dirty="0"/>
              <a:t>in</a:t>
            </a:r>
            <a:r>
              <a:rPr lang="zh-CN" altLang="en-US" sz="3200" dirty="0"/>
              <a:t> </a:t>
            </a:r>
            <a:r>
              <a:rPr lang="en-US" altLang="zh-CN" sz="3200" dirty="0"/>
              <a:t>Rust</a:t>
            </a:r>
            <a:r>
              <a:rPr lang="zh-CN" altLang="en-US" sz="3200" dirty="0"/>
              <a:t> </a:t>
            </a:r>
            <a:r>
              <a:rPr lang="en-US" altLang="zh-CN" sz="3200" dirty="0"/>
              <a:t>(that</a:t>
            </a:r>
            <a:r>
              <a:rPr lang="zh-CN" altLang="en-US" sz="3200" dirty="0"/>
              <a:t> </a:t>
            </a:r>
            <a:r>
              <a:rPr lang="en-US" altLang="zh-CN" sz="3200" dirty="0"/>
              <a:t>freely).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Make</a:t>
            </a:r>
            <a:r>
              <a:rPr lang="zh-CN" altLang="en-US" sz="3200" dirty="0"/>
              <a:t> </a:t>
            </a:r>
            <a:r>
              <a:rPr lang="en-US" altLang="zh-CN" sz="3200" dirty="0"/>
              <a:t>you</a:t>
            </a:r>
            <a:r>
              <a:rPr lang="zh-CN" altLang="en-US" sz="3200" dirty="0"/>
              <a:t> </a:t>
            </a:r>
            <a:r>
              <a:rPr lang="en-US" altLang="zh-CN" sz="3200" dirty="0"/>
              <a:t>program</a:t>
            </a:r>
            <a:r>
              <a:rPr lang="zh-CN" altLang="en-US" sz="3200" dirty="0"/>
              <a:t> </a:t>
            </a:r>
            <a:r>
              <a:rPr lang="en-US" altLang="zh-CN" sz="3200" dirty="0"/>
              <a:t>harder</a:t>
            </a:r>
            <a:r>
              <a:rPr lang="zh-CN" altLang="en-US" sz="3200" dirty="0"/>
              <a:t> </a:t>
            </a:r>
            <a:r>
              <a:rPr lang="en-US" altLang="zh-CN" sz="3200" dirty="0"/>
              <a:t>to</a:t>
            </a:r>
            <a:r>
              <a:rPr lang="zh-CN" altLang="en-US" sz="3200" dirty="0"/>
              <a:t> </a:t>
            </a:r>
            <a:r>
              <a:rPr lang="en-US" altLang="zh-CN" sz="3200" dirty="0"/>
              <a:t>avoid</a:t>
            </a:r>
            <a:r>
              <a:rPr lang="zh-CN" altLang="en-US" sz="3200" dirty="0"/>
              <a:t> </a:t>
            </a:r>
            <a:r>
              <a:rPr lang="en-US" altLang="zh-CN" sz="3200" dirty="0"/>
              <a:t>unnecessary</a:t>
            </a:r>
            <a:r>
              <a:rPr lang="zh-CN" altLang="en-US" sz="3200" dirty="0"/>
              <a:t> </a:t>
            </a:r>
            <a:r>
              <a:rPr lang="en-US" altLang="zh-CN" sz="3200" dirty="0"/>
              <a:t>errors.</a:t>
            </a:r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2B812-1AF2-826B-19A7-F2AEEE081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15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3AF0B9-705E-527C-6BDE-522AF9AFF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156" y="2471850"/>
            <a:ext cx="5938878" cy="171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004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DC942-E618-ED8D-C942-10045790B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08820" cy="1325563"/>
          </a:xfrm>
        </p:spPr>
        <p:txBody>
          <a:bodyPr/>
          <a:lstStyle/>
          <a:p>
            <a:r>
              <a:rPr lang="en-CN" dirty="0"/>
              <a:t>Dynamic/Static Type &amp; Weak/Strong Type are orthogonal!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DA38D-95B7-6F68-4F92-35EB98FA8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CN" sz="3600" dirty="0"/>
              <a:t>This is dynamic type in Python</a:t>
            </a:r>
          </a:p>
          <a:p>
            <a:endParaRPr lang="en-CN" sz="3600" dirty="0"/>
          </a:p>
          <a:p>
            <a:endParaRPr lang="en-CN" sz="3600" dirty="0"/>
          </a:p>
          <a:p>
            <a:r>
              <a:rPr lang="en-CN" sz="3600" dirty="0"/>
              <a:t>This is weak type in 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3BD06-C9DF-1FC2-BB69-BC6DB9977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16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725B3E-A973-8AD9-5552-64D66D6AC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389" y="2451805"/>
            <a:ext cx="3683000" cy="927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B3DE90-77E9-56D6-E775-4F5CF6F5E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389" y="4140022"/>
            <a:ext cx="3977827" cy="266312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C53AFB-14D8-20DD-514D-7ACF4808EC63}"/>
              </a:ext>
            </a:extLst>
          </p:cNvPr>
          <p:cNvSpPr txBox="1">
            <a:spLocks/>
          </p:cNvSpPr>
          <p:nvPr/>
        </p:nvSpPr>
        <p:spPr>
          <a:xfrm>
            <a:off x="5970954" y="2451805"/>
            <a:ext cx="5378807" cy="105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/>
              <a:t>This is both dynamic and weak typed in JS</a:t>
            </a:r>
            <a:endParaRPr lang="en-CN" sz="3200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A2E4550-BC47-37CC-E031-F6EEC60A10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7" t="9013" r="10193" b="5757"/>
          <a:stretch>
            <a:fillRect/>
          </a:stretch>
        </p:blipFill>
        <p:spPr bwMode="auto">
          <a:xfrm>
            <a:off x="5970954" y="3414398"/>
            <a:ext cx="4705069" cy="3388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7818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7B9F2-2267-B5CF-B0EC-1611F0E6C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65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Structs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84E89-701B-B82A-F12E-EC4048F43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830" y="1503680"/>
            <a:ext cx="9013521" cy="4491655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are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key</a:t>
            </a:r>
            <a:r>
              <a:rPr lang="zh-CN" altLang="en-US" sz="3600" dirty="0"/>
              <a:t> </a:t>
            </a:r>
            <a:r>
              <a:rPr lang="en-US" altLang="zh-CN" sz="3600" dirty="0"/>
              <a:t>differences</a:t>
            </a:r>
            <a:r>
              <a:rPr lang="zh-CN" altLang="en-US" sz="3600" dirty="0"/>
              <a:t> </a:t>
            </a:r>
            <a:r>
              <a:rPr lang="en-US" altLang="zh-CN" sz="3600" dirty="0"/>
              <a:t>between</a:t>
            </a:r>
            <a:r>
              <a:rPr lang="zh-CN" altLang="en-US" sz="3600" dirty="0"/>
              <a:t> </a:t>
            </a:r>
            <a:r>
              <a:rPr lang="en-US" altLang="zh-CN" sz="3600" dirty="0"/>
              <a:t>C</a:t>
            </a:r>
            <a:r>
              <a:rPr lang="zh-CN" altLang="en-US" sz="3600" dirty="0"/>
              <a:t> </a:t>
            </a:r>
            <a:r>
              <a:rPr lang="en-US" altLang="zh-CN" sz="3600" dirty="0"/>
              <a:t>and</a:t>
            </a:r>
            <a:r>
              <a:rPr lang="zh-CN" altLang="en-US" sz="3600" dirty="0"/>
              <a:t> </a:t>
            </a:r>
            <a:r>
              <a:rPr lang="en-US" altLang="zh-CN" sz="3600" dirty="0"/>
              <a:t>Python/Java</a:t>
            </a:r>
            <a:r>
              <a:rPr lang="zh-CN" altLang="en-US" sz="3600" dirty="0"/>
              <a:t> </a:t>
            </a:r>
            <a:r>
              <a:rPr lang="en-US" altLang="zh-CN" sz="3600" dirty="0"/>
              <a:t>on</a:t>
            </a:r>
            <a:r>
              <a:rPr lang="zh-CN" altLang="en-US" sz="3600" dirty="0"/>
              <a:t> </a:t>
            </a:r>
            <a:r>
              <a:rPr lang="en-US" altLang="zh-CN" sz="3600" dirty="0"/>
              <a:t>structs?</a:t>
            </a:r>
          </a:p>
          <a:p>
            <a:pPr lvl="1"/>
            <a:r>
              <a:rPr lang="en-US" altLang="zh-CN" sz="3200" dirty="0"/>
              <a:t>Pointer</a:t>
            </a:r>
            <a:r>
              <a:rPr lang="zh-CN" altLang="en-US" sz="3200" dirty="0"/>
              <a:t> </a:t>
            </a:r>
            <a:r>
              <a:rPr lang="en-US" altLang="zh-CN" sz="3200" dirty="0"/>
              <a:t>references</a:t>
            </a:r>
          </a:p>
          <a:p>
            <a:pPr lvl="1"/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148BF-BBEB-8B30-1C5E-2601C8BC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17</a:t>
            </a:fld>
            <a:endParaRPr lang="en-C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805EA8-ACAF-9C7E-5BC6-12D199C97CBC}"/>
              </a:ext>
            </a:extLst>
          </p:cNvPr>
          <p:cNvSpPr txBox="1"/>
          <p:nvPr/>
        </p:nvSpPr>
        <p:spPr>
          <a:xfrm>
            <a:off x="5498926" y="62630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6D52B7-6021-91E9-ECA1-7C3196578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493" y="3255226"/>
            <a:ext cx="4629798" cy="34202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F24DF8-1C90-83E8-7AE8-4097EA9EE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3653440"/>
            <a:ext cx="4384040" cy="262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467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20662-4869-1D3C-C7DF-4498DBE9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Summary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2B825-CCA9-E6A4-097D-D096ECE42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87346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Tradeoffs</a:t>
            </a:r>
          </a:p>
          <a:p>
            <a:pPr lvl="1"/>
            <a:r>
              <a:rPr lang="en-US" altLang="zh-CN" sz="3200" dirty="0"/>
              <a:t>Performance</a:t>
            </a:r>
            <a:r>
              <a:rPr lang="zh-CN" altLang="en-US" sz="3200" dirty="0"/>
              <a:t> </a:t>
            </a:r>
            <a:r>
              <a:rPr lang="en-US" altLang="zh-CN" sz="3200" dirty="0"/>
              <a:t>vs</a:t>
            </a:r>
            <a:r>
              <a:rPr lang="zh-CN" altLang="en-US" sz="3200" dirty="0"/>
              <a:t> </a:t>
            </a:r>
            <a:r>
              <a:rPr lang="en-US" altLang="zh-CN" sz="3200" dirty="0"/>
              <a:t>Developer</a:t>
            </a:r>
            <a:r>
              <a:rPr lang="zh-CN" altLang="en-US" sz="3200" dirty="0"/>
              <a:t> </a:t>
            </a:r>
            <a:r>
              <a:rPr lang="en-US" altLang="zh-CN" sz="3200" dirty="0"/>
              <a:t>Experience</a:t>
            </a:r>
          </a:p>
          <a:p>
            <a:pPr lvl="1"/>
            <a:r>
              <a:rPr lang="en-US" altLang="zh-CN" sz="3200" dirty="0"/>
              <a:t>Performance</a:t>
            </a:r>
            <a:r>
              <a:rPr lang="zh-CN" altLang="en-US" sz="3200" dirty="0"/>
              <a:t> </a:t>
            </a:r>
            <a:r>
              <a:rPr lang="en-US" altLang="zh-CN" sz="3200" dirty="0"/>
              <a:t>vs</a:t>
            </a:r>
            <a:r>
              <a:rPr lang="zh-CN" altLang="en-US" sz="3200" dirty="0"/>
              <a:t> </a:t>
            </a:r>
            <a:r>
              <a:rPr lang="en-US" altLang="zh-CN" sz="3200" dirty="0"/>
              <a:t>Expressiveness</a:t>
            </a:r>
          </a:p>
          <a:p>
            <a:r>
              <a:rPr lang="en-US" altLang="zh-CN" sz="3600" dirty="0"/>
              <a:t>Characterization</a:t>
            </a:r>
          </a:p>
          <a:p>
            <a:pPr lvl="1"/>
            <a:r>
              <a:rPr lang="en-US" altLang="zh-CN" sz="3200" dirty="0"/>
              <a:t>Expressiveness</a:t>
            </a:r>
          </a:p>
          <a:p>
            <a:pPr lvl="1"/>
            <a:r>
              <a:rPr lang="en-US" altLang="zh-CN" sz="3200" dirty="0"/>
              <a:t>Managed/Unmanaged</a:t>
            </a:r>
          </a:p>
          <a:p>
            <a:pPr lvl="1"/>
            <a:r>
              <a:rPr lang="en-US" altLang="zh-CN" sz="3200" dirty="0"/>
              <a:t>Compiled/Interpreted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B933B-7236-9BB2-FC93-EEECE311B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380211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B4D9F-32BD-8B0E-EFC0-665E74BAB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5C0D9-A983-7E5C-2E03-B0F99E5F8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Summary:</a:t>
            </a:r>
            <a:r>
              <a:rPr lang="zh-CN" altLang="en-US" sz="5400" dirty="0"/>
              <a:t> </a:t>
            </a:r>
            <a:r>
              <a:rPr lang="en-US" altLang="zh-CN" sz="5400" dirty="0"/>
              <a:t>Compiler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295AE-495A-5774-A8F9-0A8C235DD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87346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Tradeoffs</a:t>
            </a:r>
          </a:p>
          <a:p>
            <a:pPr lvl="1"/>
            <a:r>
              <a:rPr lang="en-US" altLang="zh-CN" sz="3200" dirty="0"/>
              <a:t>Performance</a:t>
            </a:r>
            <a:r>
              <a:rPr lang="zh-CN" altLang="en-US" sz="3200" dirty="0"/>
              <a:t> </a:t>
            </a:r>
            <a:r>
              <a:rPr lang="en-US" altLang="zh-CN" sz="3200" dirty="0"/>
              <a:t>vs</a:t>
            </a:r>
            <a:r>
              <a:rPr lang="zh-CN" altLang="en-US" sz="3200" dirty="0"/>
              <a:t> </a:t>
            </a:r>
            <a:r>
              <a:rPr lang="en-US" altLang="zh-CN" sz="3200" dirty="0"/>
              <a:t>Developer</a:t>
            </a:r>
            <a:r>
              <a:rPr lang="zh-CN" altLang="en-US" sz="3200" dirty="0"/>
              <a:t> </a:t>
            </a:r>
            <a:r>
              <a:rPr lang="en-US" altLang="zh-CN" sz="3200" dirty="0"/>
              <a:t>Experience</a:t>
            </a:r>
          </a:p>
          <a:p>
            <a:pPr lvl="1"/>
            <a:r>
              <a:rPr lang="en-US" altLang="zh-CN" sz="3200" dirty="0"/>
              <a:t>Performance</a:t>
            </a:r>
            <a:r>
              <a:rPr lang="zh-CN" altLang="en-US" sz="3200" dirty="0"/>
              <a:t> </a:t>
            </a:r>
            <a:r>
              <a:rPr lang="en-US" altLang="zh-CN" sz="3200" dirty="0"/>
              <a:t>vs</a:t>
            </a:r>
            <a:r>
              <a:rPr lang="zh-CN" altLang="en-US" sz="3200" dirty="0"/>
              <a:t> </a:t>
            </a:r>
            <a:r>
              <a:rPr lang="en-US" altLang="zh-CN" sz="3200" dirty="0"/>
              <a:t>Expressiveness</a:t>
            </a:r>
          </a:p>
          <a:p>
            <a:r>
              <a:rPr lang="en-US" altLang="zh-CN" sz="3600" dirty="0"/>
              <a:t>Characterization</a:t>
            </a:r>
          </a:p>
          <a:p>
            <a:pPr lvl="1"/>
            <a:r>
              <a:rPr lang="en-US" altLang="zh-CN" sz="3200" b="1" dirty="0"/>
              <a:t>Expressiveness: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General-purpose</a:t>
            </a:r>
          </a:p>
          <a:p>
            <a:pPr lvl="1"/>
            <a:r>
              <a:rPr lang="en-US" altLang="zh-CN" sz="3200" dirty="0"/>
              <a:t>Managed/</a:t>
            </a:r>
            <a:r>
              <a:rPr lang="en-US" altLang="zh-CN" sz="3200" b="1" dirty="0"/>
              <a:t>Unmanaged</a:t>
            </a:r>
          </a:p>
          <a:p>
            <a:pPr lvl="1"/>
            <a:r>
              <a:rPr lang="en-US" altLang="zh-CN" sz="3200" b="1" dirty="0"/>
              <a:t>Compiled</a:t>
            </a:r>
            <a:r>
              <a:rPr lang="en-US" altLang="zh-CN" sz="3200" dirty="0"/>
              <a:t>/Interpreted</a:t>
            </a:r>
          </a:p>
          <a:p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FC984-A125-D1AB-90BC-9E37BB79E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19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54485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6BD07-8CEE-92B5-2D49-1B47D6087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08516-8B0C-C967-28EE-721049267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6000" dirty="0"/>
              <a:t>R</a:t>
            </a:r>
            <a:r>
              <a:rPr lang="en-US" altLang="zh-CN" sz="6000" dirty="0" err="1"/>
              <a:t>oadmap</a:t>
            </a:r>
            <a:endParaRPr lang="en-C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5241A-C5D5-23A2-570E-A057F0DA2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chemeClr val="bg1">
                    <a:lumMod val="65000"/>
                  </a:schemeClr>
                </a:solidFill>
              </a:rPr>
              <a:t>Programming</a:t>
            </a:r>
            <a:r>
              <a:rPr lang="zh-CN" altLang="en-US" sz="3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3600" b="1" dirty="0">
                <a:solidFill>
                  <a:schemeClr val="bg1">
                    <a:lumMod val="65000"/>
                  </a:schemeClr>
                </a:solidFill>
              </a:rPr>
              <a:t>Language</a:t>
            </a:r>
          </a:p>
          <a:p>
            <a:r>
              <a:rPr lang="en-US" altLang="zh-CN" sz="3600" b="1" dirty="0"/>
              <a:t>Compiler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Pipeline</a:t>
            </a:r>
          </a:p>
          <a:p>
            <a:pPr lvl="1"/>
            <a:r>
              <a:rPr lang="en-US" altLang="zh-CN" sz="3200" b="1" dirty="0"/>
              <a:t>Frontend</a:t>
            </a:r>
          </a:p>
          <a:p>
            <a:pPr lvl="1"/>
            <a:r>
              <a:rPr lang="en-US" altLang="zh-CN" sz="3200" b="1" dirty="0"/>
              <a:t>Backend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37942-C97E-829C-7A29-C7DE924A3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20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2A6A79-731F-B229-4CBF-B6B289C37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209" y="0"/>
            <a:ext cx="5355791" cy="5018204"/>
          </a:xfrm>
          <a:prstGeom prst="rect">
            <a:avLst/>
          </a:prstGeom>
        </p:spPr>
      </p:pic>
      <p:sp>
        <p:nvSpPr>
          <p:cNvPr id="6" name="AutoShape 2" descr="Image from iOS">
            <a:extLst>
              <a:ext uri="{FF2B5EF4-FFF2-40B4-BE49-F238E27FC236}">
                <a16:creationId xmlns:a16="http://schemas.microsoft.com/office/drawing/2014/main" id="{7C63849C-F9B5-2868-6D7F-ABB6F4004F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N"/>
          </a:p>
        </p:txBody>
      </p:sp>
      <p:sp>
        <p:nvSpPr>
          <p:cNvPr id="7" name="AutoShape 4" descr="Image from iOS">
            <a:extLst>
              <a:ext uri="{FF2B5EF4-FFF2-40B4-BE49-F238E27FC236}">
                <a16:creationId xmlns:a16="http://schemas.microsoft.com/office/drawing/2014/main" id="{AD559219-93BE-065F-F1A0-63469E28C3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B7794D-B127-BF1E-3442-3956CF51B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872" y="3079805"/>
            <a:ext cx="3173337" cy="374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7244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86E02-9A9B-B8DE-FE99-68A6A211F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95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LLVM:</a:t>
            </a:r>
            <a:r>
              <a:rPr lang="zh-CN" altLang="en-US" sz="5400" dirty="0"/>
              <a:t> </a:t>
            </a:r>
            <a:r>
              <a:rPr lang="en-US" altLang="zh-CN" sz="5400" dirty="0"/>
              <a:t>Compiler</a:t>
            </a:r>
            <a:r>
              <a:rPr lang="zh-CN" altLang="en-US" sz="5400" dirty="0"/>
              <a:t> </a:t>
            </a:r>
            <a:r>
              <a:rPr lang="en-US" altLang="zh-CN" sz="5400" dirty="0"/>
              <a:t>Infrastructure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EF962-A39E-6B57-E76D-AD3D52B18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0638"/>
            <a:ext cx="10906125" cy="5924550"/>
          </a:xfrm>
        </p:spPr>
        <p:txBody>
          <a:bodyPr>
            <a:normAutofit lnSpcReduction="10000"/>
          </a:bodyPr>
          <a:lstStyle/>
          <a:p>
            <a:r>
              <a:rPr lang="en-US" altLang="zh-CN" sz="4000" dirty="0"/>
              <a:t>LLVM:</a:t>
            </a:r>
            <a:r>
              <a:rPr lang="zh-CN" altLang="en-US" sz="4000" dirty="0"/>
              <a:t> </a:t>
            </a:r>
            <a:r>
              <a:rPr lang="en-US" altLang="zh-CN" sz="4000" dirty="0"/>
              <a:t>Low-level</a:t>
            </a:r>
            <a:r>
              <a:rPr lang="zh-CN" altLang="en-US" sz="4000" dirty="0"/>
              <a:t> </a:t>
            </a:r>
            <a:r>
              <a:rPr lang="en-US" altLang="zh-CN" sz="4000" dirty="0"/>
              <a:t>Virtual</a:t>
            </a:r>
            <a:r>
              <a:rPr lang="zh-CN" altLang="en-US" sz="4000" dirty="0"/>
              <a:t> </a:t>
            </a:r>
            <a:r>
              <a:rPr lang="en-US" altLang="zh-CN" sz="4000" dirty="0"/>
              <a:t>Machine</a:t>
            </a:r>
          </a:p>
          <a:p>
            <a:pPr lvl="1"/>
            <a:r>
              <a:rPr lang="en-US" sz="3600" dirty="0">
                <a:hlinkClick r:id="rId2"/>
              </a:rPr>
              <a:t>https://www.llvm.org/</a:t>
            </a:r>
            <a:endParaRPr lang="en-US" sz="3600" dirty="0"/>
          </a:p>
          <a:p>
            <a:r>
              <a:rPr lang="en-US" sz="4000" dirty="0">
                <a:hlinkClick r:id="rId3"/>
              </a:rPr>
              <a:t>https://releases.llvm.org/</a:t>
            </a:r>
            <a:endParaRPr lang="en-US" altLang="zh-CN" sz="4000" dirty="0"/>
          </a:p>
          <a:p>
            <a:pPr lvl="1"/>
            <a:r>
              <a:rPr lang="en-US" altLang="zh-CN" sz="3600" dirty="0"/>
              <a:t>Download</a:t>
            </a:r>
            <a:r>
              <a:rPr lang="zh-CN" altLang="en-US" sz="3600" dirty="0"/>
              <a:t> </a:t>
            </a:r>
            <a:r>
              <a:rPr lang="en-US" altLang="zh-CN" sz="3600" dirty="0"/>
              <a:t>one!</a:t>
            </a:r>
            <a:endParaRPr lang="en-US" sz="3600" dirty="0"/>
          </a:p>
          <a:p>
            <a:r>
              <a:rPr lang="en-US" sz="4000" dirty="0">
                <a:hlinkClick r:id="rId4"/>
              </a:rPr>
              <a:t>https://llvm.org/docs/GettingStarted.html</a:t>
            </a:r>
            <a:endParaRPr lang="en-US" sz="4000" dirty="0"/>
          </a:p>
          <a:p>
            <a:pPr lvl="1"/>
            <a:r>
              <a:rPr lang="en-US" altLang="zh-CN" sz="3600" dirty="0"/>
              <a:t>Build</a:t>
            </a:r>
            <a:r>
              <a:rPr lang="zh-CN" altLang="en-US" sz="3600" dirty="0"/>
              <a:t> </a:t>
            </a:r>
            <a:r>
              <a:rPr lang="en-US" altLang="zh-CN" sz="3600" dirty="0"/>
              <a:t>your</a:t>
            </a:r>
            <a:r>
              <a:rPr lang="zh-CN" altLang="en-US" sz="3600" dirty="0"/>
              <a:t> </a:t>
            </a:r>
            <a:r>
              <a:rPr lang="en-US" altLang="zh-CN" sz="3600" dirty="0"/>
              <a:t>own</a:t>
            </a:r>
            <a:endParaRPr lang="en-US" sz="3600" dirty="0"/>
          </a:p>
          <a:p>
            <a:r>
              <a:rPr lang="en-US" altLang="zh-CN" sz="4000" dirty="0"/>
              <a:t>It</a:t>
            </a:r>
            <a:r>
              <a:rPr lang="zh-CN" altLang="en-US" sz="4000" dirty="0"/>
              <a:t> </a:t>
            </a:r>
            <a:r>
              <a:rPr lang="en-US" altLang="zh-CN" sz="4000" dirty="0"/>
              <a:t>is</a:t>
            </a:r>
            <a:r>
              <a:rPr lang="zh-CN" altLang="en-US" sz="4000" dirty="0"/>
              <a:t> </a:t>
            </a:r>
            <a:r>
              <a:rPr lang="en-US" altLang="zh-CN" sz="4000" dirty="0"/>
              <a:t>high</a:t>
            </a:r>
            <a:r>
              <a:rPr lang="zh-CN" altLang="en-US" sz="4000" dirty="0"/>
              <a:t> </a:t>
            </a:r>
            <a:r>
              <a:rPr lang="en-US" altLang="zh-CN" sz="4000" dirty="0"/>
              <a:t>recommended</a:t>
            </a:r>
            <a:r>
              <a:rPr lang="zh-CN" altLang="en-US" sz="4000" dirty="0"/>
              <a:t> </a:t>
            </a:r>
            <a:r>
              <a:rPr lang="en-US" altLang="zh-CN" sz="4000" dirty="0"/>
              <a:t>to</a:t>
            </a:r>
            <a:r>
              <a:rPr lang="zh-CN" altLang="en-US" sz="4000" dirty="0"/>
              <a:t> </a:t>
            </a:r>
            <a:r>
              <a:rPr lang="en-US" altLang="zh-CN" sz="4000" dirty="0"/>
              <a:t>have</a:t>
            </a:r>
            <a:r>
              <a:rPr lang="zh-CN" altLang="en-US" sz="4000" dirty="0"/>
              <a:t> </a:t>
            </a:r>
            <a:r>
              <a:rPr lang="en-US" altLang="zh-CN" sz="4000" dirty="0"/>
              <a:t>LLVM</a:t>
            </a:r>
            <a:r>
              <a:rPr lang="zh-CN" altLang="en-US" sz="4000" dirty="0"/>
              <a:t> </a:t>
            </a:r>
            <a:r>
              <a:rPr lang="en-US" altLang="zh-CN" sz="4000" dirty="0"/>
              <a:t>infrastructure</a:t>
            </a:r>
            <a:r>
              <a:rPr lang="zh-CN" altLang="en-US" sz="4000" dirty="0"/>
              <a:t> </a:t>
            </a:r>
            <a:r>
              <a:rPr lang="en-US" altLang="zh-CN" sz="4000" dirty="0"/>
              <a:t>setup</a:t>
            </a:r>
            <a:r>
              <a:rPr lang="zh-CN" altLang="en-US" sz="4000" dirty="0"/>
              <a:t> </a:t>
            </a:r>
            <a:r>
              <a:rPr lang="en-US" altLang="zh-CN" sz="4000" dirty="0"/>
              <a:t>to</a:t>
            </a:r>
            <a:r>
              <a:rPr lang="zh-CN" altLang="en-US" sz="4000" dirty="0"/>
              <a:t> </a:t>
            </a:r>
            <a:r>
              <a:rPr lang="en-US" altLang="zh-CN" sz="4000" dirty="0"/>
              <a:t>run</a:t>
            </a:r>
            <a:r>
              <a:rPr lang="zh-CN" altLang="en-US" sz="4000" dirty="0"/>
              <a:t> </a:t>
            </a:r>
            <a:r>
              <a:rPr lang="en-US" altLang="zh-CN" sz="4000" dirty="0"/>
              <a:t>the</a:t>
            </a:r>
            <a:r>
              <a:rPr lang="zh-CN" altLang="en-US" sz="4000" dirty="0"/>
              <a:t> </a:t>
            </a:r>
            <a:r>
              <a:rPr lang="en-US" altLang="zh-CN" sz="4000" dirty="0"/>
              <a:t>examples</a:t>
            </a:r>
          </a:p>
          <a:p>
            <a:r>
              <a:rPr lang="en-US" altLang="zh-CN" sz="4000" dirty="0"/>
              <a:t>If</a:t>
            </a:r>
            <a:r>
              <a:rPr lang="zh-CN" altLang="en-US" sz="4000" dirty="0"/>
              <a:t> </a:t>
            </a:r>
            <a:r>
              <a:rPr lang="en-US" altLang="zh-CN" sz="4000" dirty="0"/>
              <a:t>you</a:t>
            </a:r>
            <a:r>
              <a:rPr lang="zh-CN" altLang="en-US" sz="4000" dirty="0"/>
              <a:t> </a:t>
            </a:r>
            <a:r>
              <a:rPr lang="en-US" altLang="zh-CN" sz="4000" dirty="0"/>
              <a:t>build</a:t>
            </a:r>
            <a:r>
              <a:rPr lang="zh-CN" altLang="en-US" sz="4000" dirty="0"/>
              <a:t> </a:t>
            </a:r>
            <a:r>
              <a:rPr lang="en-US" altLang="zh-CN" sz="4000" dirty="0"/>
              <a:t>it,</a:t>
            </a:r>
            <a:r>
              <a:rPr lang="zh-CN" altLang="en-US" sz="4000" dirty="0"/>
              <a:t> </a:t>
            </a:r>
            <a:r>
              <a:rPr lang="en-US" altLang="zh-CN" sz="4000" dirty="0"/>
              <a:t>be</a:t>
            </a:r>
            <a:r>
              <a:rPr lang="zh-CN" altLang="en-US" sz="4000" dirty="0"/>
              <a:t> </a:t>
            </a:r>
            <a:r>
              <a:rPr lang="en-US" altLang="zh-CN" sz="4000" dirty="0"/>
              <a:t>careful</a:t>
            </a:r>
            <a:r>
              <a:rPr lang="zh-CN" altLang="en-US" sz="4000" dirty="0"/>
              <a:t> </a:t>
            </a:r>
            <a:r>
              <a:rPr lang="en-US" altLang="zh-CN" sz="4000" dirty="0"/>
              <a:t>with</a:t>
            </a:r>
            <a:r>
              <a:rPr lang="zh-CN" altLang="en-US" sz="4000" dirty="0"/>
              <a:t> </a:t>
            </a:r>
            <a:r>
              <a:rPr lang="en-US" altLang="zh-CN" sz="4000" dirty="0"/>
              <a:t>the</a:t>
            </a:r>
            <a:r>
              <a:rPr lang="zh-CN" altLang="en-US" sz="4000" dirty="0"/>
              <a:t> </a:t>
            </a:r>
            <a:r>
              <a:rPr lang="en-US" altLang="zh-CN" sz="4000" dirty="0"/>
              <a:t>parallelism</a:t>
            </a:r>
          </a:p>
          <a:p>
            <a:pPr lvl="1"/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-DLLVM_PARALLEL_{COMPILE,LINK,TABLEGEN}_JOBS=N</a:t>
            </a:r>
            <a:endParaRPr lang="en-US" altLang="zh-CN" sz="4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A4B46-84BD-3BCD-6C41-984B5BDB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49885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DA9FE-D16E-9558-C84E-A89B456B4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7DDDF-C295-6183-CC03-A295DEE26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95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LLVM:</a:t>
            </a:r>
            <a:r>
              <a:rPr lang="zh-CN" altLang="en-US" sz="5400" dirty="0"/>
              <a:t> </a:t>
            </a:r>
            <a:r>
              <a:rPr lang="en-US" altLang="zh-CN" sz="5400" dirty="0"/>
              <a:t>Compiler</a:t>
            </a:r>
            <a:r>
              <a:rPr lang="zh-CN" altLang="en-US" sz="5400" dirty="0"/>
              <a:t> </a:t>
            </a:r>
            <a:r>
              <a:rPr lang="en-US" altLang="zh-CN" sz="5400" dirty="0"/>
              <a:t>Infrastructure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28740-61CC-4DDC-0FB0-71224E774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3512"/>
            <a:ext cx="10906125" cy="5316537"/>
          </a:xfrm>
        </p:spPr>
        <p:txBody>
          <a:bodyPr>
            <a:normAutofit/>
          </a:bodyPr>
          <a:lstStyle/>
          <a:p>
            <a:r>
              <a:rPr lang="en-CN" altLang="zh-CN" sz="4000" dirty="0"/>
              <a:t>Spoil</a:t>
            </a:r>
            <a:r>
              <a:rPr lang="en-US" altLang="zh-CN" sz="4000" dirty="0"/>
              <a:t>er:</a:t>
            </a:r>
            <a:r>
              <a:rPr lang="zh-CN" altLang="en-US" sz="4000" dirty="0"/>
              <a:t> </a:t>
            </a:r>
            <a:r>
              <a:rPr lang="en-US" altLang="zh-CN" sz="4000" dirty="0"/>
              <a:t>You</a:t>
            </a:r>
            <a:r>
              <a:rPr lang="zh-CN" altLang="en-US" sz="4000" dirty="0"/>
              <a:t> </a:t>
            </a:r>
            <a:r>
              <a:rPr lang="en-US" altLang="zh-CN" sz="4000" dirty="0"/>
              <a:t>need</a:t>
            </a:r>
            <a:r>
              <a:rPr lang="zh-CN" altLang="en-US" sz="4000" dirty="0"/>
              <a:t> </a:t>
            </a:r>
            <a:r>
              <a:rPr lang="en-US" altLang="zh-CN" sz="4000" dirty="0" err="1"/>
              <a:t>CMake</a:t>
            </a:r>
            <a:r>
              <a:rPr lang="zh-CN" altLang="en-US" sz="4000" dirty="0"/>
              <a:t> </a:t>
            </a:r>
            <a:r>
              <a:rPr lang="en-US" altLang="zh-CN" sz="4000" dirty="0"/>
              <a:t>to</a:t>
            </a:r>
            <a:r>
              <a:rPr lang="zh-CN" altLang="en-US" sz="4000" dirty="0"/>
              <a:t> </a:t>
            </a:r>
            <a:r>
              <a:rPr lang="en-US" altLang="zh-CN" sz="4000" dirty="0"/>
              <a:t>build</a:t>
            </a:r>
            <a:r>
              <a:rPr lang="zh-CN" altLang="en-US" sz="4000" dirty="0"/>
              <a:t> </a:t>
            </a:r>
            <a:r>
              <a:rPr lang="en-US" altLang="zh-CN" sz="4000" dirty="0"/>
              <a:t>LLVM,</a:t>
            </a:r>
            <a:r>
              <a:rPr lang="zh-CN" altLang="en-US" sz="4000" dirty="0"/>
              <a:t> </a:t>
            </a:r>
            <a:r>
              <a:rPr lang="en-US" altLang="zh-CN" sz="4000" dirty="0"/>
              <a:t>but</a:t>
            </a:r>
            <a:r>
              <a:rPr lang="zh-CN" altLang="en-US" sz="4000" dirty="0"/>
              <a:t> </a:t>
            </a:r>
            <a:r>
              <a:rPr lang="en-US" altLang="zh-CN" sz="4000" dirty="0"/>
              <a:t>I</a:t>
            </a:r>
            <a:r>
              <a:rPr lang="zh-CN" altLang="en-US" sz="4000" dirty="0"/>
              <a:t> </a:t>
            </a:r>
            <a:r>
              <a:rPr lang="en-US" altLang="zh-CN" sz="4000" dirty="0"/>
              <a:t>will</a:t>
            </a:r>
            <a:r>
              <a:rPr lang="zh-CN" altLang="en-US" sz="4000" dirty="0"/>
              <a:t> </a:t>
            </a:r>
            <a:r>
              <a:rPr lang="en-US" altLang="zh-CN" sz="4000" dirty="0"/>
              <a:t>talk</a:t>
            </a:r>
            <a:r>
              <a:rPr lang="zh-CN" altLang="en-US" sz="4000" dirty="0"/>
              <a:t> </a:t>
            </a:r>
            <a:r>
              <a:rPr lang="en-US" altLang="zh-CN" sz="4000" dirty="0"/>
              <a:t>about</a:t>
            </a:r>
            <a:r>
              <a:rPr lang="zh-CN" altLang="en-US" sz="4000" dirty="0"/>
              <a:t> </a:t>
            </a:r>
            <a:r>
              <a:rPr lang="en-US" altLang="zh-CN" sz="4000" dirty="0"/>
              <a:t>C</a:t>
            </a:r>
            <a:r>
              <a:rPr lang="zh-CN" altLang="en-US" sz="4000" dirty="0"/>
              <a:t> </a:t>
            </a:r>
            <a:r>
              <a:rPr lang="en-US" altLang="zh-CN" sz="4000" dirty="0"/>
              <a:t>build</a:t>
            </a:r>
            <a:r>
              <a:rPr lang="zh-CN" altLang="en-US" sz="4000" dirty="0"/>
              <a:t> </a:t>
            </a:r>
            <a:r>
              <a:rPr lang="en-US" altLang="zh-CN" sz="4000" dirty="0"/>
              <a:t>system</a:t>
            </a:r>
            <a:r>
              <a:rPr lang="zh-CN" altLang="en-US" sz="4000" dirty="0"/>
              <a:t> </a:t>
            </a:r>
            <a:r>
              <a:rPr lang="en-US" altLang="zh-CN" sz="4000" dirty="0"/>
              <a:t>next</a:t>
            </a:r>
            <a:r>
              <a:rPr lang="zh-CN" altLang="en-US" sz="4000" dirty="0"/>
              <a:t> </a:t>
            </a:r>
            <a:r>
              <a:rPr lang="en-US" altLang="zh-CN" sz="4000" dirty="0"/>
              <a:t>class…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AF88A-AD3D-751C-51C5-6A30CFB0A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22</a:t>
            </a:fld>
            <a:endParaRPr lang="en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BD498D-6EC1-58C5-A0EB-DE9EF6440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2278" y="2656720"/>
            <a:ext cx="3413988" cy="109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134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5DCC8-52BB-CE15-1A8D-B194F3347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Compiler</a:t>
            </a:r>
            <a:r>
              <a:rPr lang="zh-CN" altLang="en-US" sz="5400" dirty="0"/>
              <a:t> </a:t>
            </a:r>
            <a:r>
              <a:rPr lang="en-US" altLang="zh-CN" sz="5400" dirty="0"/>
              <a:t>Pipeline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EDED6-926C-4678-18CF-EACDC4CF3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happens</a:t>
            </a:r>
            <a:r>
              <a:rPr lang="zh-CN" altLang="en-US" sz="3600" dirty="0"/>
              <a:t> </a:t>
            </a:r>
            <a:r>
              <a:rPr lang="en-US" altLang="zh-CN" sz="3600" dirty="0"/>
              <a:t>after</a:t>
            </a:r>
            <a:r>
              <a:rPr lang="zh-CN" altLang="en-US" sz="3600" dirty="0"/>
              <a:t> </a:t>
            </a:r>
            <a:r>
              <a:rPr lang="en-US" altLang="zh-CN" sz="3600" dirty="0"/>
              <a:t>typing</a:t>
            </a:r>
            <a:r>
              <a:rPr lang="zh-CN" altLang="en-US" sz="3600" dirty="0"/>
              <a:t> </a:t>
            </a:r>
            <a:r>
              <a:rPr lang="en-US" altLang="zh-CN" sz="3600" dirty="0"/>
              <a:t>this?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9B71C-C185-DFAE-56B8-1DE509E1F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23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1A6149-30EC-1B89-C91B-7B67E2A6581C}"/>
              </a:ext>
            </a:extLst>
          </p:cNvPr>
          <p:cNvSpPr txBox="1"/>
          <p:nvPr/>
        </p:nvSpPr>
        <p:spPr>
          <a:xfrm>
            <a:off x="1615440" y="2468880"/>
            <a:ext cx="66030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clang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main.c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-o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-O3</a:t>
            </a:r>
            <a:endParaRPr lang="en-CN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B13FA4-3BB7-EFBB-FC0E-9F32B1E96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120" y="3290192"/>
            <a:ext cx="5534446" cy="228256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99CDC63-E850-62EA-A4DD-D61254FA7EE2}"/>
              </a:ext>
            </a:extLst>
          </p:cNvPr>
          <p:cNvSpPr/>
          <p:nvPr/>
        </p:nvSpPr>
        <p:spPr>
          <a:xfrm>
            <a:off x="113059" y="5987143"/>
            <a:ext cx="480500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PP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8204D8-F709-0FE7-1BDD-C2EABE75B68E}"/>
              </a:ext>
            </a:extLst>
          </p:cNvPr>
          <p:cNvSpPr/>
          <p:nvPr/>
        </p:nvSpPr>
        <p:spPr>
          <a:xfrm>
            <a:off x="785197" y="5987142"/>
            <a:ext cx="1110342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Tokenizer</a:t>
            </a:r>
            <a:endParaRPr lang="en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EDB9D8-CCD7-CFAE-740A-E8AC614CFD30}"/>
              </a:ext>
            </a:extLst>
          </p:cNvPr>
          <p:cNvSpPr/>
          <p:nvPr/>
        </p:nvSpPr>
        <p:spPr>
          <a:xfrm>
            <a:off x="1997013" y="5987142"/>
            <a:ext cx="1028977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Parser</a:t>
            </a:r>
            <a:endParaRPr lang="en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3B3507-CB6B-92C7-175A-0FA8314155B3}"/>
              </a:ext>
            </a:extLst>
          </p:cNvPr>
          <p:cNvSpPr/>
          <p:nvPr/>
        </p:nvSpPr>
        <p:spPr>
          <a:xfrm>
            <a:off x="3134846" y="5987142"/>
            <a:ext cx="1140907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IR</a:t>
            </a:r>
            <a:r>
              <a:rPr lang="zh-CN" altLang="en-US" dirty="0"/>
              <a:t> </a:t>
            </a:r>
            <a:r>
              <a:rPr lang="en-US" altLang="zh-CN" dirty="0" err="1"/>
              <a:t>CodeGen</a:t>
            </a:r>
            <a:endParaRPr lang="en-C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1F33EA-55BE-62F3-8039-AA1409D6E191}"/>
              </a:ext>
            </a:extLst>
          </p:cNvPr>
          <p:cNvSpPr/>
          <p:nvPr/>
        </p:nvSpPr>
        <p:spPr>
          <a:xfrm>
            <a:off x="4379840" y="5987142"/>
            <a:ext cx="1215571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Optimizer</a:t>
            </a:r>
            <a:endParaRPr lang="en-C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F96112-1663-5A8D-0E57-9B7F347D3D07}"/>
              </a:ext>
            </a:extLst>
          </p:cNvPr>
          <p:cNvSpPr/>
          <p:nvPr/>
        </p:nvSpPr>
        <p:spPr>
          <a:xfrm>
            <a:off x="5821279" y="5987142"/>
            <a:ext cx="895110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Inst</a:t>
            </a:r>
            <a:r>
              <a:rPr lang="zh-CN" altLang="en-US" dirty="0"/>
              <a:t> </a:t>
            </a:r>
            <a:r>
              <a:rPr lang="en-US" altLang="zh-CN" dirty="0"/>
              <a:t>Select</a:t>
            </a:r>
            <a:endParaRPr lang="en-CN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4D8BDA8-1C04-803D-901D-C6EC4B20E5A7}"/>
              </a:ext>
            </a:extLst>
          </p:cNvPr>
          <p:cNvCxnSpPr/>
          <p:nvPr/>
        </p:nvCxnSpPr>
        <p:spPr>
          <a:xfrm>
            <a:off x="5712327" y="5646057"/>
            <a:ext cx="0" cy="12119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C01C09D-5154-9E69-C65E-696AD40410DB}"/>
              </a:ext>
            </a:extLst>
          </p:cNvPr>
          <p:cNvSpPr txBox="1"/>
          <p:nvPr/>
        </p:nvSpPr>
        <p:spPr>
          <a:xfrm>
            <a:off x="1873317" y="6492874"/>
            <a:ext cx="1084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Frontend</a:t>
            </a:r>
            <a:endParaRPr lang="en-C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9F7372-FCEC-9A86-3E12-9D6D2A3765AE}"/>
              </a:ext>
            </a:extLst>
          </p:cNvPr>
          <p:cNvSpPr txBox="1"/>
          <p:nvPr/>
        </p:nvSpPr>
        <p:spPr>
          <a:xfrm>
            <a:off x="7132765" y="6537924"/>
            <a:ext cx="1054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Backend</a:t>
            </a:r>
            <a:endParaRPr lang="en-C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922D44-0776-4DA8-FC83-EE97DCD576D4}"/>
              </a:ext>
            </a:extLst>
          </p:cNvPr>
          <p:cNvCxnSpPr/>
          <p:nvPr/>
        </p:nvCxnSpPr>
        <p:spPr>
          <a:xfrm>
            <a:off x="683722" y="5646057"/>
            <a:ext cx="0" cy="12119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EDFE337-D808-DA14-F25A-C791906E3E9E}"/>
              </a:ext>
            </a:extLst>
          </p:cNvPr>
          <p:cNvSpPr/>
          <p:nvPr/>
        </p:nvSpPr>
        <p:spPr>
          <a:xfrm>
            <a:off x="6831887" y="5987142"/>
            <a:ext cx="1215571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Register</a:t>
            </a:r>
            <a:r>
              <a:rPr lang="zh-CN" altLang="en-US" dirty="0"/>
              <a:t> </a:t>
            </a:r>
            <a:r>
              <a:rPr lang="en-US" altLang="zh-CN" dirty="0"/>
              <a:t>Allocation</a:t>
            </a:r>
            <a:endParaRPr lang="en-C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00DF26-7DB8-07DA-E494-390D5659C15E}"/>
              </a:ext>
            </a:extLst>
          </p:cNvPr>
          <p:cNvSpPr/>
          <p:nvPr/>
        </p:nvSpPr>
        <p:spPr>
          <a:xfrm>
            <a:off x="8162956" y="5987142"/>
            <a:ext cx="1215571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Machine</a:t>
            </a:r>
            <a:r>
              <a:rPr lang="zh-CN" altLang="en-US" dirty="0"/>
              <a:t> </a:t>
            </a:r>
            <a:r>
              <a:rPr lang="en-US" altLang="zh-CN" dirty="0"/>
              <a:t>Rel.</a:t>
            </a:r>
            <a:r>
              <a:rPr lang="zh-CN" altLang="en-US" dirty="0"/>
              <a:t> </a:t>
            </a:r>
            <a:r>
              <a:rPr lang="en-US" altLang="zh-CN" dirty="0"/>
              <a:t>Opt.</a:t>
            </a:r>
            <a:endParaRPr lang="en-CN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05281C7-C55A-9422-A178-BB1793C20193}"/>
              </a:ext>
            </a:extLst>
          </p:cNvPr>
          <p:cNvCxnSpPr/>
          <p:nvPr/>
        </p:nvCxnSpPr>
        <p:spPr>
          <a:xfrm>
            <a:off x="9500939" y="5646057"/>
            <a:ext cx="0" cy="12119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9C51042-350F-2F67-0D80-F221E52E24C1}"/>
              </a:ext>
            </a:extLst>
          </p:cNvPr>
          <p:cNvSpPr/>
          <p:nvPr/>
        </p:nvSpPr>
        <p:spPr>
          <a:xfrm>
            <a:off x="9603788" y="5987142"/>
            <a:ext cx="1282212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Assembler</a:t>
            </a:r>
            <a:endParaRPr lang="en-C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D29CF1-F1D7-6081-FF7F-1AC3F788FBF2}"/>
              </a:ext>
            </a:extLst>
          </p:cNvPr>
          <p:cNvSpPr/>
          <p:nvPr/>
        </p:nvSpPr>
        <p:spPr>
          <a:xfrm>
            <a:off x="11008411" y="5987142"/>
            <a:ext cx="935601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Link</a:t>
            </a:r>
            <a:r>
              <a:rPr lang="zh-CN" altLang="en-US" dirty="0"/>
              <a:t> </a:t>
            </a:r>
            <a:r>
              <a:rPr lang="en-US" altLang="zh-CN" dirty="0"/>
              <a:t>Lib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7304438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C1B8D-5ECA-B28C-68A4-4825FFE90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Preprocessor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04528-0408-5921-7F10-0D8019E34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Resolve</a:t>
            </a:r>
            <a:r>
              <a:rPr lang="zh-CN" altLang="en-US" sz="3600" dirty="0"/>
              <a:t> </a:t>
            </a:r>
            <a:r>
              <a:rPr lang="en-US" altLang="zh-CN" sz="3600" dirty="0"/>
              <a:t>all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macros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92073-8989-7DE8-D255-27C44A032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24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3D9C59-0950-B4B7-9C91-EE743927A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634" y="3188592"/>
            <a:ext cx="5534446" cy="22825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8E19D2D-F736-8257-C7BD-4020A1FE8304}"/>
              </a:ext>
            </a:extLst>
          </p:cNvPr>
          <p:cNvSpPr/>
          <p:nvPr/>
        </p:nvSpPr>
        <p:spPr>
          <a:xfrm>
            <a:off x="1767840" y="3238921"/>
            <a:ext cx="3515360" cy="322206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BB5107-AE55-C04D-9B8E-7DDDE541FE43}"/>
              </a:ext>
            </a:extLst>
          </p:cNvPr>
          <p:cNvSpPr txBox="1"/>
          <p:nvPr/>
        </p:nvSpPr>
        <p:spPr>
          <a:xfrm>
            <a:off x="1615440" y="2468880"/>
            <a:ext cx="43813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clang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main.c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-E</a:t>
            </a:r>
            <a:endParaRPr lang="en-CN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CFFE4E-5269-F321-3620-27BAC2515A36}"/>
              </a:ext>
            </a:extLst>
          </p:cNvPr>
          <p:cNvSpPr/>
          <p:nvPr/>
        </p:nvSpPr>
        <p:spPr>
          <a:xfrm>
            <a:off x="113059" y="5987143"/>
            <a:ext cx="480500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PP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A69EED1-A163-3B0F-5E98-1C49F8C07F1F}"/>
              </a:ext>
            </a:extLst>
          </p:cNvPr>
          <p:cNvCxnSpPr/>
          <p:nvPr/>
        </p:nvCxnSpPr>
        <p:spPr>
          <a:xfrm>
            <a:off x="683722" y="5646057"/>
            <a:ext cx="0" cy="12119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04632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AEA8A-DBAA-A657-F6AD-8C3BD7132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74" y="12735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altLang="zh-CN" sz="5400" dirty="0"/>
              <a:t>Tokenizer:</a:t>
            </a:r>
            <a:r>
              <a:rPr lang="zh-CN" altLang="en-US" sz="5400" dirty="0"/>
              <a:t> </a:t>
            </a:r>
            <a:r>
              <a:rPr lang="en-US" altLang="zh-CN" sz="5400" dirty="0"/>
              <a:t>Split</a:t>
            </a:r>
            <a:r>
              <a:rPr lang="zh-CN" altLang="en-US" sz="5400" dirty="0"/>
              <a:t> </a:t>
            </a:r>
            <a:r>
              <a:rPr lang="en-US" altLang="zh-CN" sz="5400" dirty="0"/>
              <a:t>the</a:t>
            </a:r>
            <a:r>
              <a:rPr lang="zh-CN" altLang="en-US" sz="5400" dirty="0"/>
              <a:t> </a:t>
            </a:r>
            <a:r>
              <a:rPr lang="en-US" altLang="zh-CN" sz="5400" dirty="0"/>
              <a:t>program</a:t>
            </a:r>
            <a:r>
              <a:rPr lang="zh-CN" altLang="en-US" sz="5400" dirty="0"/>
              <a:t> </a:t>
            </a:r>
            <a:r>
              <a:rPr lang="en-US" altLang="zh-CN" sz="5400" dirty="0"/>
              <a:t>in</a:t>
            </a:r>
            <a:r>
              <a:rPr lang="zh-CN" altLang="en-US" sz="5400" dirty="0"/>
              <a:t> </a:t>
            </a:r>
            <a:r>
              <a:rPr lang="en-US" altLang="zh-CN" sz="5400" dirty="0"/>
              <a:t>"words"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1FDA6-742C-C1CE-91F1-76CC80435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029" y="2103438"/>
            <a:ext cx="4339771" cy="1056522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Sorry,</a:t>
            </a:r>
            <a:r>
              <a:rPr lang="zh-CN" altLang="en-US" sz="3200" dirty="0"/>
              <a:t> </a:t>
            </a:r>
            <a:r>
              <a:rPr lang="en-US" altLang="zh-CN" sz="3200" dirty="0"/>
              <a:t>we</a:t>
            </a:r>
            <a:r>
              <a:rPr lang="zh-CN" altLang="en-US" sz="3200" dirty="0"/>
              <a:t> </a:t>
            </a:r>
            <a:r>
              <a:rPr lang="en-US" altLang="zh-CN" sz="3200" dirty="0"/>
              <a:t>do</a:t>
            </a:r>
            <a:r>
              <a:rPr lang="zh-CN" altLang="en-US" sz="3200" dirty="0"/>
              <a:t> </a:t>
            </a:r>
            <a:r>
              <a:rPr lang="en-US" altLang="zh-CN" sz="3200" dirty="0"/>
              <a:t>not</a:t>
            </a:r>
            <a:r>
              <a:rPr lang="zh-CN" altLang="en-US" sz="3200" dirty="0"/>
              <a:t> </a:t>
            </a:r>
            <a:r>
              <a:rPr lang="en-US" altLang="zh-CN" sz="3200" dirty="0"/>
              <a:t>have</a:t>
            </a:r>
            <a:r>
              <a:rPr lang="zh-CN" altLang="en-US" sz="3200" dirty="0"/>
              <a:t> </a:t>
            </a:r>
            <a:r>
              <a:rPr lang="en-US" altLang="zh-CN" sz="3200" dirty="0"/>
              <a:t>a</a:t>
            </a:r>
            <a:r>
              <a:rPr lang="zh-CN" altLang="en-US" sz="3200" dirty="0"/>
              <a:t> </a:t>
            </a:r>
            <a:r>
              <a:rPr lang="en-US" altLang="zh-CN" sz="3200" dirty="0"/>
              <a:t>command</a:t>
            </a:r>
            <a:r>
              <a:rPr lang="zh-CN" altLang="en-US" sz="3200" dirty="0"/>
              <a:t> </a:t>
            </a:r>
            <a:r>
              <a:rPr lang="en-US" altLang="zh-CN" sz="3200" dirty="0"/>
              <a:t>here</a:t>
            </a:r>
          </a:p>
          <a:p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2D9F3-087B-238D-7DCB-A3D71A1D6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25</a:t>
            </a:fld>
            <a:endParaRPr lang="en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743845-DE8D-CBF7-134F-7EF9182F2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28" y="3698041"/>
            <a:ext cx="5534446" cy="22825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838761-3D88-81B1-4186-5D48C84BDAC1}"/>
              </a:ext>
            </a:extLst>
          </p:cNvPr>
          <p:cNvSpPr txBox="1"/>
          <p:nvPr/>
        </p:nvSpPr>
        <p:spPr>
          <a:xfrm>
            <a:off x="6086382" y="1264186"/>
            <a:ext cx="5908990" cy="5262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Keyword int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Identifier main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LeftPran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RightPran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LeftBrace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Identifier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LeftPran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StringLiteral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/>
              <a:t>"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Hello, World!\n</a:t>
            </a:r>
            <a:r>
              <a:rPr lang="en-US" altLang="zh-CN" sz="2400" dirty="0"/>
              <a:t> "</a:t>
            </a:r>
          </a:p>
          <a:p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RightPran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Semicolon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Keyword return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IntLiteral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0</a:t>
            </a:r>
          </a:p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Semicolon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RightBrace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A99BE6-3199-A576-B047-7EB3F816C866}"/>
              </a:ext>
            </a:extLst>
          </p:cNvPr>
          <p:cNvSpPr/>
          <p:nvPr/>
        </p:nvSpPr>
        <p:spPr>
          <a:xfrm>
            <a:off x="145332" y="6103720"/>
            <a:ext cx="480500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PP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1B73DB-2E81-4814-1F07-08CD54CB5E85}"/>
              </a:ext>
            </a:extLst>
          </p:cNvPr>
          <p:cNvSpPr/>
          <p:nvPr/>
        </p:nvSpPr>
        <p:spPr>
          <a:xfrm>
            <a:off x="817470" y="6103719"/>
            <a:ext cx="1110342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Tokenizer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5707919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B805D-EE1B-B0B7-8DF8-1C8B59D1E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67948-480F-33BC-55A3-A2A2492D5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029" y="30548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Tokenizer:</a:t>
            </a:r>
            <a:r>
              <a:rPr lang="zh-CN" altLang="en-US" sz="5400" dirty="0"/>
              <a:t> </a:t>
            </a:r>
            <a:r>
              <a:rPr lang="en-US" altLang="zh-CN" sz="5400" dirty="0"/>
              <a:t>Regex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52C46-E8DA-56DE-1BDA-7C7ABE9F5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665" y="1726672"/>
            <a:ext cx="10499964" cy="1325564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Regex:</a:t>
            </a:r>
            <a:r>
              <a:rPr lang="zh-CN" altLang="en-US" sz="3200" dirty="0"/>
              <a:t> </a:t>
            </a:r>
            <a:r>
              <a:rPr lang="en-US" altLang="zh-CN" sz="3200" dirty="0"/>
              <a:t>Regular</a:t>
            </a:r>
            <a:r>
              <a:rPr lang="zh-CN" altLang="en-US" sz="3200" dirty="0"/>
              <a:t> </a:t>
            </a:r>
            <a:r>
              <a:rPr lang="en-US" altLang="zh-CN" sz="3200" dirty="0"/>
              <a:t>Expression</a:t>
            </a:r>
          </a:p>
          <a:p>
            <a:r>
              <a:rPr lang="en-US" altLang="zh-CN" sz="3200" dirty="0"/>
              <a:t>Skip</a:t>
            </a:r>
            <a:r>
              <a:rPr lang="zh-CN" altLang="en-US" sz="3200" dirty="0"/>
              <a:t> </a:t>
            </a:r>
            <a:r>
              <a:rPr lang="en-US" altLang="zh-CN" sz="3200" dirty="0"/>
              <a:t>all</a:t>
            </a:r>
            <a:r>
              <a:rPr lang="zh-CN" altLang="en-US" sz="3200" dirty="0"/>
              <a:t> </a:t>
            </a: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white</a:t>
            </a:r>
            <a:r>
              <a:rPr lang="zh-CN" altLang="en-US" sz="3200" dirty="0"/>
              <a:t> </a:t>
            </a:r>
            <a:r>
              <a:rPr lang="en-US" altLang="zh-CN" sz="3200" dirty="0"/>
              <a:t>spaces</a:t>
            </a:r>
            <a:r>
              <a:rPr lang="zh-CN" altLang="en-US" sz="3200" dirty="0"/>
              <a:t> </a:t>
            </a:r>
            <a:r>
              <a:rPr lang="en-US" altLang="zh-CN" sz="3200" dirty="0"/>
              <a:t>and</a:t>
            </a:r>
            <a:r>
              <a:rPr lang="zh-CN" altLang="en-US" sz="3200" dirty="0"/>
              <a:t> </a:t>
            </a:r>
            <a:r>
              <a:rPr lang="en-US" altLang="zh-CN" sz="3200" dirty="0"/>
              <a:t>match</a:t>
            </a:r>
            <a:r>
              <a:rPr lang="zh-CN" altLang="en-US" sz="3200" dirty="0"/>
              <a:t> </a:t>
            </a: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longest</a:t>
            </a:r>
            <a:r>
              <a:rPr lang="zh-CN" altLang="en-US" sz="3200" dirty="0"/>
              <a:t> </a:t>
            </a:r>
            <a:r>
              <a:rPr lang="en-US" altLang="zh-CN" sz="3200" dirty="0"/>
              <a:t>Regex</a:t>
            </a:r>
          </a:p>
          <a:p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445D3-48FD-AA31-F6F7-D1B606C0D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26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2BF68B-B889-AC88-3B17-1054BD43E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1" y="3052236"/>
            <a:ext cx="6281737" cy="35093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85B19A-0659-5B24-D232-2A951F8AD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665" y="3325019"/>
            <a:ext cx="3947697" cy="272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4811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4F13F-3BE3-568D-B29E-1E18DBCBB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70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Parser:</a:t>
            </a:r>
            <a:r>
              <a:rPr lang="zh-CN" altLang="en-US" sz="5400" dirty="0"/>
              <a:t> </a:t>
            </a:r>
            <a:r>
              <a:rPr lang="en-US" altLang="zh-CN" sz="5400" dirty="0"/>
              <a:t>Organize</a:t>
            </a:r>
            <a:r>
              <a:rPr lang="zh-CN" altLang="en-US" sz="5400" dirty="0"/>
              <a:t> </a:t>
            </a:r>
            <a:r>
              <a:rPr lang="en-US" altLang="zh-CN" sz="5400" dirty="0"/>
              <a:t>the</a:t>
            </a:r>
            <a:r>
              <a:rPr lang="zh-CN" altLang="en-US" sz="5400" dirty="0"/>
              <a:t> </a:t>
            </a:r>
            <a:r>
              <a:rPr lang="en-US" altLang="zh-CN" sz="5400" dirty="0"/>
              <a:t>tokens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7E800-C682-4DEC-B3D9-325106EBD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314" y="1462269"/>
            <a:ext cx="8349343" cy="72213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Formal</a:t>
            </a:r>
            <a:r>
              <a:rPr lang="zh-CN" altLang="en-US" sz="3600" dirty="0"/>
              <a:t> </a:t>
            </a:r>
            <a:r>
              <a:rPr lang="en-US" altLang="zh-CN" sz="3600" dirty="0"/>
              <a:t>Rule:</a:t>
            </a:r>
            <a:r>
              <a:rPr lang="zh-CN" altLang="en-US" sz="3600" dirty="0"/>
              <a:t> </a:t>
            </a:r>
            <a:r>
              <a:rPr lang="en-US" altLang="zh-CN" sz="3600" dirty="0"/>
              <a:t>Context</a:t>
            </a:r>
            <a:r>
              <a:rPr lang="zh-CN" altLang="en-US" sz="3600" dirty="0"/>
              <a:t> </a:t>
            </a:r>
            <a:r>
              <a:rPr lang="en-US" altLang="zh-CN" sz="3600" dirty="0"/>
              <a:t>Free</a:t>
            </a:r>
            <a:r>
              <a:rPr lang="zh-CN" altLang="en-US" sz="3600" dirty="0"/>
              <a:t> </a:t>
            </a:r>
            <a:r>
              <a:rPr lang="en-US" altLang="zh-CN" sz="3600" dirty="0"/>
              <a:t>Grammar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1B204-73F2-3425-241E-09254267C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27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918118-CD78-F683-D0A2-F462C4AD4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40280"/>
            <a:ext cx="7772400" cy="425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4903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25B04-60F1-07D4-ACAC-DC89E19DE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Tokenizer</a:t>
            </a:r>
            <a:r>
              <a:rPr lang="zh-CN" altLang="en-US" sz="5400" dirty="0"/>
              <a:t> </a:t>
            </a:r>
            <a:r>
              <a:rPr lang="en-US" altLang="zh-CN" sz="5400" dirty="0"/>
              <a:t>&amp;</a:t>
            </a:r>
            <a:r>
              <a:rPr lang="zh-CN" altLang="en-US" sz="5400" dirty="0"/>
              <a:t> </a:t>
            </a:r>
            <a:r>
              <a:rPr lang="en-US" altLang="zh-CN" sz="5400" dirty="0"/>
              <a:t>Parser:</a:t>
            </a:r>
            <a:r>
              <a:rPr lang="zh-CN" altLang="en-US" sz="5400" dirty="0"/>
              <a:t> </a:t>
            </a:r>
            <a:r>
              <a:rPr lang="en-US" altLang="zh-CN" sz="5400" dirty="0"/>
              <a:t>A</a:t>
            </a:r>
            <a:r>
              <a:rPr lang="zh-CN" altLang="en-US" sz="5400" dirty="0"/>
              <a:t> </a:t>
            </a:r>
            <a:r>
              <a:rPr lang="en-US" altLang="zh-CN" sz="5400" dirty="0"/>
              <a:t>Demonstration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EB6AD-E259-59CE-8774-7CD6F1C9E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6229"/>
            <a:ext cx="10515600" cy="4420734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How</a:t>
            </a:r>
            <a:r>
              <a:rPr lang="zh-CN" altLang="en-US" sz="3200" dirty="0"/>
              <a:t> </a:t>
            </a:r>
            <a:r>
              <a:rPr lang="en-US" altLang="zh-CN" sz="3200" dirty="0"/>
              <a:t>it</a:t>
            </a:r>
            <a:r>
              <a:rPr lang="zh-CN" altLang="en-US" sz="3200" dirty="0"/>
              <a:t> </a:t>
            </a:r>
            <a:r>
              <a:rPr lang="en-US" altLang="zh-CN" sz="3200" dirty="0"/>
              <a:t>works</a:t>
            </a:r>
            <a:r>
              <a:rPr lang="zh-CN" altLang="en-US" sz="3200" dirty="0"/>
              <a:t> </a:t>
            </a:r>
            <a:r>
              <a:rPr lang="en-US" altLang="zh-CN" sz="3200" dirty="0"/>
              <a:t>in</a:t>
            </a:r>
            <a:r>
              <a:rPr lang="zh-CN" altLang="en-US" sz="3200" dirty="0"/>
              <a:t> </a:t>
            </a:r>
            <a:r>
              <a:rPr lang="en-US" altLang="zh-CN" sz="3200" dirty="0"/>
              <a:t>a</a:t>
            </a:r>
            <a:r>
              <a:rPr lang="zh-CN" altLang="en-US" sz="3200" dirty="0"/>
              <a:t> </a:t>
            </a:r>
            <a:r>
              <a:rPr lang="en-US" altLang="zh-CN" sz="3200" dirty="0"/>
              <a:t>commercial</a:t>
            </a:r>
            <a:r>
              <a:rPr lang="zh-CN" altLang="en-US" sz="3200" dirty="0"/>
              <a:t> </a:t>
            </a:r>
            <a:r>
              <a:rPr lang="en-US" altLang="zh-CN" sz="3200" dirty="0"/>
              <a:t>compiler?</a:t>
            </a:r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3998F-1B9A-84B9-4650-83108576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28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6582D4-9168-1875-5440-6D9E758C8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66304"/>
            <a:ext cx="12039601" cy="18839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08292F-8FFA-9FB3-F514-0D02C53088A5}"/>
              </a:ext>
            </a:extLst>
          </p:cNvPr>
          <p:cNvSpPr txBox="1"/>
          <p:nvPr/>
        </p:nvSpPr>
        <p:spPr>
          <a:xfrm>
            <a:off x="1615440" y="2468880"/>
            <a:ext cx="78374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clang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–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Xclang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–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ast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-dump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main.c</a:t>
            </a:r>
            <a:endParaRPr lang="en-CN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13F05A-AFF9-626C-9ED5-06C3145C1183}"/>
              </a:ext>
            </a:extLst>
          </p:cNvPr>
          <p:cNvSpPr/>
          <p:nvPr/>
        </p:nvSpPr>
        <p:spPr>
          <a:xfrm>
            <a:off x="3098800" y="2383895"/>
            <a:ext cx="4288972" cy="7547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6540BD-1FEC-0BC8-7A61-E2A746201997}"/>
              </a:ext>
            </a:extLst>
          </p:cNvPr>
          <p:cNvSpPr txBox="1"/>
          <p:nvPr/>
        </p:nvSpPr>
        <p:spPr>
          <a:xfrm>
            <a:off x="3098800" y="3286922"/>
            <a:ext cx="72513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This</a:t>
            </a:r>
            <a:r>
              <a:rPr lang="zh-CN" altLang="en-US" sz="2400" dirty="0"/>
              <a:t> </a:t>
            </a:r>
            <a:r>
              <a:rPr lang="en-US" altLang="zh-CN" sz="2400" dirty="0"/>
              <a:t>is</a:t>
            </a:r>
            <a:r>
              <a:rPr lang="zh-CN" altLang="en-US" sz="2400" dirty="0"/>
              <a:t> </a:t>
            </a:r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altLang="zh-CN" sz="2400" dirty="0"/>
              <a:t>sub-option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clang,</a:t>
            </a:r>
            <a:r>
              <a:rPr lang="zh-CN" altLang="en-US" sz="2400" dirty="0"/>
              <a:t> </a:t>
            </a:r>
            <a:r>
              <a:rPr lang="en-US" altLang="zh-CN" sz="2400" dirty="0"/>
              <a:t>not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compiler</a:t>
            </a:r>
            <a:r>
              <a:rPr lang="zh-CN" altLang="en-US" sz="2400" dirty="0"/>
              <a:t> </a:t>
            </a:r>
            <a:r>
              <a:rPr lang="en-US" altLang="zh-CN" sz="2400" dirty="0"/>
              <a:t>itself</a:t>
            </a:r>
            <a:endParaRPr lang="en-CN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31B1B4-0969-5E0D-DEE1-E4976639B087}"/>
              </a:ext>
            </a:extLst>
          </p:cNvPr>
          <p:cNvSpPr/>
          <p:nvPr/>
        </p:nvSpPr>
        <p:spPr>
          <a:xfrm>
            <a:off x="113059" y="5987143"/>
            <a:ext cx="480500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PP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790A99-28D8-BA9D-EC3A-9485B6A4BB90}"/>
              </a:ext>
            </a:extLst>
          </p:cNvPr>
          <p:cNvSpPr/>
          <p:nvPr/>
        </p:nvSpPr>
        <p:spPr>
          <a:xfrm>
            <a:off x="785197" y="5987142"/>
            <a:ext cx="1110342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Tokenizer</a:t>
            </a:r>
            <a:endParaRPr lang="en-C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2ADA7A-01C8-0F8A-F283-B7030DA3C983}"/>
              </a:ext>
            </a:extLst>
          </p:cNvPr>
          <p:cNvSpPr/>
          <p:nvPr/>
        </p:nvSpPr>
        <p:spPr>
          <a:xfrm>
            <a:off x="1997013" y="5987142"/>
            <a:ext cx="1028977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Parser</a:t>
            </a:r>
            <a:endParaRPr lang="en-C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01A286-85F6-91DB-B45F-A215C2F93AC7}"/>
              </a:ext>
            </a:extLst>
          </p:cNvPr>
          <p:cNvSpPr txBox="1"/>
          <p:nvPr/>
        </p:nvSpPr>
        <p:spPr>
          <a:xfrm>
            <a:off x="1873317" y="6492874"/>
            <a:ext cx="1084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Frontend</a:t>
            </a:r>
            <a:endParaRPr lang="en-CN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80FF77B-460B-F41E-28D1-3B4EC0D913CD}"/>
              </a:ext>
            </a:extLst>
          </p:cNvPr>
          <p:cNvCxnSpPr/>
          <p:nvPr/>
        </p:nvCxnSpPr>
        <p:spPr>
          <a:xfrm>
            <a:off x="683722" y="5646057"/>
            <a:ext cx="0" cy="12119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1037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BED61-96AF-0303-AF42-26DF8D899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5259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Tokenizer</a:t>
            </a:r>
            <a:r>
              <a:rPr lang="zh-CN" altLang="en-US" sz="5400" dirty="0"/>
              <a:t> </a:t>
            </a:r>
            <a:r>
              <a:rPr lang="en-US" altLang="zh-CN" sz="5400" dirty="0"/>
              <a:t>&amp;</a:t>
            </a:r>
            <a:r>
              <a:rPr lang="zh-CN" altLang="en-US" sz="5400" dirty="0"/>
              <a:t> </a:t>
            </a:r>
            <a:r>
              <a:rPr lang="en-US" altLang="zh-CN" sz="5400" dirty="0"/>
              <a:t>Parser:</a:t>
            </a:r>
            <a:r>
              <a:rPr lang="zh-CN" altLang="en-US" sz="5400" dirty="0"/>
              <a:t> </a:t>
            </a:r>
            <a:r>
              <a:rPr lang="en-US" altLang="zh-CN" sz="5400" dirty="0"/>
              <a:t>Implementation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849E5-BDD1-249C-65E6-2C0179AEE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550822"/>
            <a:ext cx="10515600" cy="4706382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Generator</a:t>
            </a:r>
            <a:r>
              <a:rPr lang="zh-CN" altLang="en-US" sz="3200" dirty="0"/>
              <a:t> </a:t>
            </a:r>
            <a:r>
              <a:rPr lang="en-US" altLang="zh-CN" sz="3200" dirty="0"/>
              <a:t>(99%</a:t>
            </a:r>
            <a:r>
              <a:rPr lang="zh-CN" altLang="en-US" sz="3200" dirty="0"/>
              <a:t> </a:t>
            </a:r>
            <a:r>
              <a:rPr lang="en-US" altLang="zh-CN" sz="3200" dirty="0"/>
              <a:t>textbook</a:t>
            </a:r>
            <a:r>
              <a:rPr lang="zh-CN" altLang="en-US" sz="3200" dirty="0"/>
              <a:t> </a:t>
            </a:r>
            <a:r>
              <a:rPr lang="en-US" altLang="zh-CN" sz="3200" dirty="0"/>
              <a:t>will</a:t>
            </a:r>
            <a:r>
              <a:rPr lang="zh-CN" altLang="en-US" sz="3200" dirty="0"/>
              <a:t> </a:t>
            </a:r>
            <a:r>
              <a:rPr lang="en-US" altLang="zh-CN" sz="3200" dirty="0"/>
              <a:t>tell</a:t>
            </a:r>
            <a:r>
              <a:rPr lang="zh-CN" altLang="en-US" sz="3200" dirty="0"/>
              <a:t> </a:t>
            </a:r>
            <a:r>
              <a:rPr lang="en-US" altLang="zh-CN" sz="3200" dirty="0"/>
              <a:t>you</a:t>
            </a:r>
            <a:r>
              <a:rPr lang="zh-CN" altLang="en-US" sz="3200" dirty="0"/>
              <a:t> </a:t>
            </a:r>
            <a:r>
              <a:rPr lang="en-US" altLang="zh-CN" sz="3200" dirty="0"/>
              <a:t>to</a:t>
            </a:r>
            <a:r>
              <a:rPr lang="zh-CN" altLang="en-US" sz="3200" dirty="0"/>
              <a:t> </a:t>
            </a:r>
            <a:r>
              <a:rPr lang="en-US" altLang="zh-CN" sz="3200" dirty="0"/>
              <a:t>do</a:t>
            </a:r>
            <a:r>
              <a:rPr lang="zh-CN" altLang="en-US" sz="3200" dirty="0"/>
              <a:t> </a:t>
            </a:r>
            <a:r>
              <a:rPr lang="en-US" altLang="zh-CN" sz="3200" dirty="0"/>
              <a:t>this)</a:t>
            </a:r>
          </a:p>
          <a:p>
            <a:pPr lvl="1"/>
            <a:r>
              <a:rPr lang="en-US" altLang="zh-CN" sz="2800" dirty="0"/>
              <a:t>C-family:</a:t>
            </a:r>
            <a:r>
              <a:rPr lang="zh-CN" altLang="en-US" sz="2800" dirty="0"/>
              <a:t> </a:t>
            </a:r>
            <a:r>
              <a:rPr lang="en-US" altLang="zh-CN" sz="2800" dirty="0"/>
              <a:t>flex</a:t>
            </a:r>
            <a:r>
              <a:rPr lang="zh-CN" altLang="en-US" sz="2800" dirty="0"/>
              <a:t> </a:t>
            </a:r>
            <a:r>
              <a:rPr lang="en-US" altLang="zh-CN" sz="2800" dirty="0"/>
              <a:t>(</a:t>
            </a:r>
            <a:r>
              <a:rPr lang="en-US" altLang="zh-CN" sz="2800" dirty="0" err="1"/>
              <a:t>regex+token</a:t>
            </a:r>
            <a:r>
              <a:rPr lang="en-US" altLang="zh-CN" sz="2800" dirty="0"/>
              <a:t>)</a:t>
            </a:r>
            <a:r>
              <a:rPr lang="zh-CN" altLang="en-US" sz="2800" dirty="0"/>
              <a:t> </a:t>
            </a:r>
            <a:r>
              <a:rPr lang="en-US" altLang="zh-CN" sz="2800" dirty="0"/>
              <a:t>&amp;</a:t>
            </a:r>
            <a:r>
              <a:rPr lang="zh-CN" altLang="en-US" sz="2800" dirty="0"/>
              <a:t> </a:t>
            </a:r>
            <a:r>
              <a:rPr lang="en-US" altLang="zh-CN" sz="2800" dirty="0"/>
              <a:t>bison</a:t>
            </a:r>
            <a:r>
              <a:rPr lang="zh-CN" altLang="en-US" sz="2800" dirty="0"/>
              <a:t> </a:t>
            </a:r>
            <a:r>
              <a:rPr lang="en-US" altLang="zh-CN" sz="2800" dirty="0"/>
              <a:t>(grammar)</a:t>
            </a:r>
          </a:p>
          <a:p>
            <a:r>
              <a:rPr lang="en-US" altLang="zh-CN" sz="3200" dirty="0"/>
              <a:t>Decedent</a:t>
            </a:r>
            <a:r>
              <a:rPr lang="zh-CN" altLang="en-US" sz="3200" dirty="0"/>
              <a:t> </a:t>
            </a:r>
            <a:r>
              <a:rPr lang="en-US" altLang="zh-CN" sz="3200" dirty="0"/>
              <a:t>Recursion</a:t>
            </a:r>
          </a:p>
          <a:p>
            <a:pPr lvl="1"/>
            <a:r>
              <a:rPr lang="en-US" altLang="zh-CN" sz="2800" dirty="0"/>
              <a:t>But</a:t>
            </a:r>
            <a:r>
              <a:rPr lang="zh-CN" altLang="en-US" sz="2800" dirty="0"/>
              <a:t> </a:t>
            </a:r>
            <a:r>
              <a:rPr lang="en-US" altLang="zh-CN" sz="2800" dirty="0"/>
              <a:t>actually</a:t>
            </a:r>
            <a:r>
              <a:rPr lang="zh-CN" altLang="en-US" sz="2800" dirty="0"/>
              <a:t> </a:t>
            </a:r>
            <a:r>
              <a:rPr lang="en-US" altLang="zh-CN" sz="2800" dirty="0"/>
              <a:t>99%</a:t>
            </a:r>
            <a:r>
              <a:rPr lang="zh-CN" altLang="en-US" sz="2800" dirty="0"/>
              <a:t> </a:t>
            </a:r>
            <a:r>
              <a:rPr lang="en-US" altLang="zh-CN" sz="2800" dirty="0"/>
              <a:t>compiler</a:t>
            </a:r>
            <a:r>
              <a:rPr lang="zh-CN" altLang="en-US" sz="2800" dirty="0"/>
              <a:t> </a:t>
            </a:r>
            <a:r>
              <a:rPr lang="en-US" altLang="zh-CN" sz="2800" dirty="0"/>
              <a:t>projects</a:t>
            </a:r>
            <a:r>
              <a:rPr lang="zh-CN" altLang="en-US" sz="2800" dirty="0"/>
              <a:t> </a:t>
            </a:r>
            <a:r>
              <a:rPr lang="en-US" altLang="zh-CN" sz="2800" dirty="0"/>
              <a:t>does</a:t>
            </a:r>
            <a:r>
              <a:rPr lang="zh-CN" altLang="en-US" sz="2800" dirty="0"/>
              <a:t> </a:t>
            </a:r>
            <a:r>
              <a:rPr lang="en-US" altLang="zh-CN" sz="2800" dirty="0"/>
              <a:t>this</a:t>
            </a:r>
            <a:endParaRPr lang="en-CN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EEC0A-E1DC-6D0B-C557-9940A2398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29</a:t>
            </a:fld>
            <a:endParaRPr lang="en-CN"/>
          </a:p>
        </p:txBody>
      </p:sp>
      <p:pic>
        <p:nvPicPr>
          <p:cNvPr id="13" name="Picture 12" descr="A group of animals in a field&#10;&#10;AI-generated content may be incorrect.">
            <a:extLst>
              <a:ext uri="{FF2B5EF4-FFF2-40B4-BE49-F238E27FC236}">
                <a16:creationId xmlns:a16="http://schemas.microsoft.com/office/drawing/2014/main" id="{23A1A138-3970-3CAE-90CF-E6946BA4D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7962" y="2687214"/>
            <a:ext cx="3972379" cy="36878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232A488-FCED-82A5-0202-662FF35AC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29" y="3683492"/>
            <a:ext cx="7229762" cy="263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2778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7E5BE-210B-721C-9E7A-91E609C3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Why?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DEFEF-E8E8-4D77-CAA3-620D444F9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Modern</a:t>
            </a:r>
            <a:r>
              <a:rPr lang="zh-CN" altLang="en-US" sz="3600" dirty="0"/>
              <a:t> </a:t>
            </a:r>
            <a:r>
              <a:rPr lang="en-US" altLang="zh-CN" sz="3600" dirty="0"/>
              <a:t>languages</a:t>
            </a:r>
            <a:r>
              <a:rPr lang="zh-CN" altLang="en-US" sz="3600" dirty="0"/>
              <a:t> </a:t>
            </a:r>
            <a:r>
              <a:rPr lang="en-US" altLang="zh-CN" sz="3600" dirty="0"/>
              <a:t>are</a:t>
            </a:r>
            <a:r>
              <a:rPr lang="zh-CN" altLang="en-US" sz="3600" dirty="0"/>
              <a:t> </a:t>
            </a:r>
            <a:r>
              <a:rPr lang="en-US" altLang="zh-CN" sz="3600" dirty="0"/>
              <a:t>no</a:t>
            </a:r>
            <a:r>
              <a:rPr lang="zh-CN" altLang="en-US" sz="3600" dirty="0"/>
              <a:t> </a:t>
            </a:r>
            <a:r>
              <a:rPr lang="en-US" altLang="zh-CN" sz="3600" dirty="0"/>
              <a:t>long</a:t>
            </a:r>
            <a:r>
              <a:rPr lang="zh-CN" altLang="en-US" sz="3600" dirty="0"/>
              <a:t> </a:t>
            </a:r>
            <a:r>
              <a:rPr lang="en-US" altLang="zh-CN" sz="3600" dirty="0"/>
              <a:t>that</a:t>
            </a:r>
            <a:r>
              <a:rPr lang="zh-CN" altLang="en-US" sz="3600" dirty="0"/>
              <a:t> </a:t>
            </a:r>
            <a:r>
              <a:rPr lang="en-US" altLang="zh-CN" sz="3600" dirty="0"/>
              <a:t>context-free.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174B4-39DA-5A32-CA13-28451A8F1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30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6B656E-BD07-2B2E-EFDD-86AE5C0D9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937" y="3429000"/>
            <a:ext cx="2984500" cy="1841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A50B87-9220-A235-D910-AADBDC1EEF4F}"/>
              </a:ext>
            </a:extLst>
          </p:cNvPr>
          <p:cNvSpPr txBox="1"/>
          <p:nvPr/>
        </p:nvSpPr>
        <p:spPr>
          <a:xfrm>
            <a:off x="1121789" y="2603435"/>
            <a:ext cx="598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decl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initializer</a:t>
            </a:r>
            <a:endParaRPr lang="en-C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477E12-BF51-2868-711F-217B50EBD260}"/>
              </a:ext>
            </a:extLst>
          </p:cNvPr>
          <p:cNvSpPr txBox="1"/>
          <p:nvPr/>
        </p:nvSpPr>
        <p:spPr>
          <a:xfrm>
            <a:off x="4820174" y="3587666"/>
            <a:ext cx="53890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You</a:t>
            </a:r>
            <a:r>
              <a:rPr lang="zh-CN" altLang="en-US" sz="2800" dirty="0"/>
              <a:t> </a:t>
            </a:r>
            <a:r>
              <a:rPr lang="en-US" altLang="zh-CN" sz="2800" dirty="0"/>
              <a:t>can</a:t>
            </a:r>
            <a:r>
              <a:rPr lang="zh-CN" altLang="en-US" sz="2800" dirty="0"/>
              <a:t> </a:t>
            </a:r>
            <a:r>
              <a:rPr lang="en-US" altLang="zh-CN" sz="2800" dirty="0"/>
              <a:t>hardly</a:t>
            </a:r>
            <a:r>
              <a:rPr lang="zh-CN" altLang="en-US" sz="2800" dirty="0"/>
              <a:t> </a:t>
            </a:r>
            <a:r>
              <a:rPr lang="en-US" altLang="zh-CN" sz="2800" dirty="0"/>
              <a:t>know</a:t>
            </a:r>
            <a:r>
              <a:rPr lang="zh-CN" altLang="en-US" sz="2800" dirty="0"/>
              <a:t> </a:t>
            </a:r>
            <a:r>
              <a:rPr lang="en-US" altLang="zh-CN" sz="2800" dirty="0"/>
              <a:t>an</a:t>
            </a:r>
            <a:r>
              <a:rPr lang="zh-CN" altLang="en-US" sz="2800" dirty="0"/>
              <a:t> </a:t>
            </a:r>
            <a:r>
              <a:rPr lang="en-US" altLang="zh-CN" sz="2800" dirty="0"/>
              <a:t>Identifier</a:t>
            </a:r>
            <a:r>
              <a:rPr lang="zh-CN" altLang="en-US" sz="2800" dirty="0"/>
              <a:t> </a:t>
            </a:r>
            <a:r>
              <a:rPr lang="en-US" altLang="zh-CN" sz="2800" dirty="0"/>
              <a:t>is</a:t>
            </a:r>
            <a:r>
              <a:rPr lang="zh-CN" altLang="en-US" sz="2800" dirty="0"/>
              <a:t> </a:t>
            </a:r>
            <a:r>
              <a:rPr lang="en-US" altLang="zh-CN" sz="2800" dirty="0"/>
              <a:t>a</a:t>
            </a:r>
            <a:r>
              <a:rPr lang="zh-CN" altLang="en-US" sz="2800" dirty="0"/>
              <a:t> </a:t>
            </a:r>
            <a:r>
              <a:rPr lang="en-US" altLang="zh-CN" sz="2800" dirty="0"/>
              <a:t>type</a:t>
            </a:r>
            <a:r>
              <a:rPr lang="zh-CN" altLang="en-US" sz="2800" dirty="0"/>
              <a:t> </a:t>
            </a:r>
            <a:r>
              <a:rPr lang="en-US" altLang="zh-CN" sz="2800" dirty="0"/>
              <a:t>or</a:t>
            </a:r>
            <a:r>
              <a:rPr lang="zh-CN" altLang="en-US" sz="2800" dirty="0"/>
              <a:t> </a:t>
            </a:r>
            <a:r>
              <a:rPr lang="en-US" altLang="zh-CN" sz="2800" dirty="0"/>
              <a:t>a</a:t>
            </a:r>
            <a:r>
              <a:rPr lang="zh-CN" altLang="en-US" sz="2800" dirty="0"/>
              <a:t> </a:t>
            </a:r>
            <a:r>
              <a:rPr lang="en-US" altLang="zh-CN" sz="2800" dirty="0"/>
              <a:t>variable</a:t>
            </a:r>
            <a:r>
              <a:rPr lang="zh-CN" altLang="en-US" sz="2800" dirty="0"/>
              <a:t> </a:t>
            </a:r>
            <a:r>
              <a:rPr lang="en-US" altLang="zh-CN" sz="2800" dirty="0"/>
              <a:t>identifier</a:t>
            </a:r>
            <a:r>
              <a:rPr lang="zh-CN" altLang="en-US" sz="2800" dirty="0"/>
              <a:t> </a:t>
            </a:r>
            <a:r>
              <a:rPr lang="en-US" altLang="zh-CN" sz="2800" dirty="0"/>
              <a:t>w/o</a:t>
            </a:r>
            <a:r>
              <a:rPr lang="zh-CN" altLang="en-US" sz="2800" dirty="0"/>
              <a:t> </a:t>
            </a:r>
            <a:r>
              <a:rPr lang="en-US" altLang="zh-CN" sz="2800" dirty="0"/>
              <a:t>context</a:t>
            </a:r>
            <a:r>
              <a:rPr lang="zh-CN" altLang="en-US" sz="2800" dirty="0"/>
              <a:t> </a:t>
            </a:r>
            <a:r>
              <a:rPr lang="en-US" altLang="zh-CN" sz="2800" dirty="0"/>
              <a:t>knowledge.</a:t>
            </a:r>
            <a:endParaRPr lang="en-CN" sz="2800" dirty="0"/>
          </a:p>
        </p:txBody>
      </p:sp>
    </p:spTree>
    <p:extLst>
      <p:ext uri="{BB962C8B-B14F-4D97-AF65-F5344CB8AC3E}">
        <p14:creationId xmlns:p14="http://schemas.microsoft.com/office/powerpoint/2010/main" val="9845176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D2541-F3B0-475B-00CD-CA36D786B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09"/>
            <a:ext cx="10515600" cy="1325563"/>
          </a:xfrm>
        </p:spPr>
        <p:txBody>
          <a:bodyPr/>
          <a:lstStyle/>
          <a:p>
            <a:r>
              <a:rPr lang="en-US" altLang="zh-CN" dirty="0"/>
              <a:t>Ad:</a:t>
            </a:r>
            <a:r>
              <a:rPr lang="zh-CN" altLang="en-US" dirty="0"/>
              <a:t> </a:t>
            </a:r>
            <a:r>
              <a:rPr lang="en-US" altLang="zh-CN" dirty="0"/>
              <a:t>Rust</a:t>
            </a:r>
            <a:r>
              <a:rPr lang="zh-CN" altLang="en-US" dirty="0"/>
              <a:t> </a:t>
            </a:r>
            <a:r>
              <a:rPr lang="en-US" altLang="zh-CN" dirty="0"/>
              <a:t>Variant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good</a:t>
            </a:r>
            <a:r>
              <a:rPr lang="zh-CN" altLang="en-US" dirty="0"/>
              <a:t> </a:t>
            </a:r>
            <a:r>
              <a:rPr lang="en-US" altLang="zh-CN" dirty="0"/>
              <a:t>fit!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D9BE4-BE38-B70D-AD7C-21ED11AD1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61776-DA50-AD1B-04C0-9479019A1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31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AF12B2-0342-9C9D-DA96-D2C0A573EF3E}"/>
              </a:ext>
            </a:extLst>
          </p:cNvPr>
          <p:cNvSpPr txBox="1"/>
          <p:nvPr/>
        </p:nvSpPr>
        <p:spPr>
          <a:xfrm>
            <a:off x="1169581" y="1425041"/>
            <a:ext cx="3640740" cy="2554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union</a:t>
            </a:r>
            <a:r>
              <a:rPr lang="zh-CN" alt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Token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id,</a:t>
            </a:r>
          </a:p>
          <a:p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int64_t</a:t>
            </a:r>
            <a:r>
              <a:rPr lang="zh-CN" alt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b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CN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127187-DBA9-2988-9143-91AF7A4CA9CE}"/>
              </a:ext>
            </a:extLst>
          </p:cNvPr>
          <p:cNvSpPr txBox="1"/>
          <p:nvPr/>
        </p:nvSpPr>
        <p:spPr>
          <a:xfrm>
            <a:off x="1169581" y="4114523"/>
            <a:ext cx="3640740" cy="2554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kToken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Identifier,</a:t>
            </a:r>
          </a:p>
          <a:p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IntLiteral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b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CN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EA6E81-A2D0-BC64-4A39-E3B8E755FC7B}"/>
              </a:ext>
            </a:extLst>
          </p:cNvPr>
          <p:cNvSpPr txBox="1"/>
          <p:nvPr/>
        </p:nvSpPr>
        <p:spPr>
          <a:xfrm>
            <a:off x="5729177" y="1425041"/>
            <a:ext cx="5956004" cy="2554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Token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Identifier(</a:t>
            </a:r>
            <a:r>
              <a:rPr lang="en-US" altLang="zh-CN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IntLiteral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i64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CN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46431A-F706-DF8F-2D26-B8E0D4C5D5FA}"/>
              </a:ext>
            </a:extLst>
          </p:cNvPr>
          <p:cNvSpPr txBox="1"/>
          <p:nvPr/>
        </p:nvSpPr>
        <p:spPr>
          <a:xfrm>
            <a:off x="5729177" y="4114860"/>
            <a:ext cx="5956004" cy="2554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match</a:t>
            </a:r>
            <a:r>
              <a:rPr lang="zh-CN" alt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tok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Identifier(id)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=&gt;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</a:p>
          <a:p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IntLiteral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=&gt;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</a:p>
          <a:p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b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6332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F7989-1EA9-9058-EC17-8EE7C0896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12" y="342106"/>
            <a:ext cx="11180975" cy="1325563"/>
          </a:xfrm>
        </p:spPr>
        <p:txBody>
          <a:bodyPr>
            <a:noAutofit/>
          </a:bodyPr>
          <a:lstStyle/>
          <a:p>
            <a:r>
              <a:rPr lang="en-US" altLang="zh-CN" sz="5400" dirty="0"/>
              <a:t>Even</a:t>
            </a:r>
            <a:r>
              <a:rPr lang="zh-CN" altLang="en-US" sz="5400" dirty="0"/>
              <a:t> </a:t>
            </a:r>
            <a:r>
              <a:rPr lang="en-US" altLang="zh-CN" sz="5400" dirty="0"/>
              <a:t>worse!</a:t>
            </a:r>
            <a:r>
              <a:rPr lang="zh-CN" altLang="en-US" sz="5400" dirty="0"/>
              <a:t> </a:t>
            </a:r>
            <a:r>
              <a:rPr lang="en-US" altLang="zh-CN" sz="5400" dirty="0"/>
              <a:t>My</a:t>
            </a:r>
            <a:r>
              <a:rPr lang="zh-CN" altLang="en-US" sz="5400" dirty="0"/>
              <a:t> </a:t>
            </a:r>
            <a:r>
              <a:rPr lang="en-US" altLang="zh-CN" sz="5400" dirty="0"/>
              <a:t>vision</a:t>
            </a:r>
            <a:r>
              <a:rPr lang="zh-CN" altLang="en-US" sz="5400" dirty="0"/>
              <a:t> </a:t>
            </a:r>
            <a:r>
              <a:rPr lang="en-US" altLang="zh-CN" sz="5400" dirty="0"/>
              <a:t>is</a:t>
            </a:r>
            <a:r>
              <a:rPr lang="zh-CN" altLang="en-US" sz="5400" dirty="0"/>
              <a:t> </a:t>
            </a:r>
            <a:r>
              <a:rPr lang="en-US" altLang="zh-CN" sz="5400" dirty="0"/>
              <a:t>not</a:t>
            </a:r>
            <a:r>
              <a:rPr lang="zh-CN" altLang="en-US" sz="5400" dirty="0"/>
              <a:t> </a:t>
            </a:r>
            <a:r>
              <a:rPr lang="en-US" altLang="zh-CN" sz="5400" dirty="0"/>
              <a:t>that</a:t>
            </a:r>
            <a:r>
              <a:rPr lang="zh-CN" altLang="en-US" sz="5400" dirty="0"/>
              <a:t> </a:t>
            </a:r>
            <a:r>
              <a:rPr lang="en-US" altLang="zh-CN" sz="5400" dirty="0"/>
              <a:t>far</a:t>
            </a:r>
            <a:r>
              <a:rPr lang="zh-CN" altLang="en-US" sz="5400" dirty="0"/>
              <a:t> </a:t>
            </a:r>
            <a:r>
              <a:rPr lang="en-US" altLang="zh-CN" sz="5400" dirty="0">
                <a:sym typeface="Wingdings" pitchFamily="2" charset="2"/>
              </a:rPr>
              <a:t>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CBD0B-7A71-5EEA-7657-36A7E309F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C’s</a:t>
            </a:r>
            <a:r>
              <a:rPr lang="zh-CN" altLang="en-US" sz="3600" dirty="0"/>
              <a:t> </a:t>
            </a:r>
            <a:r>
              <a:rPr lang="en-US" altLang="zh-CN" sz="3600" dirty="0"/>
              <a:t>grammar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poorly</a:t>
            </a:r>
            <a:r>
              <a:rPr lang="zh-CN" altLang="en-US" sz="3600" dirty="0"/>
              <a:t> </a:t>
            </a:r>
            <a:r>
              <a:rPr lang="en-US" altLang="zh-CN" sz="3600" dirty="0"/>
              <a:t>designed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1039B-C032-9302-7CD8-575EEF421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32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E8ACB2-D74A-515F-3EC7-66F73C1BF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600" y="2993330"/>
            <a:ext cx="7229762" cy="26326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8744FAF-559E-209F-A50E-2262D73A9522}"/>
              </a:ext>
            </a:extLst>
          </p:cNvPr>
          <p:cNvSpPr/>
          <p:nvPr/>
        </p:nvSpPr>
        <p:spPr>
          <a:xfrm>
            <a:off x="4135125" y="3658373"/>
            <a:ext cx="782425" cy="33229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718789-0CC7-C093-81DE-752E7A1B24DE}"/>
              </a:ext>
            </a:extLst>
          </p:cNvPr>
          <p:cNvSpPr/>
          <p:nvPr/>
        </p:nvSpPr>
        <p:spPr>
          <a:xfrm>
            <a:off x="4958056" y="4143497"/>
            <a:ext cx="782425" cy="33229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4671BE2-4B3A-67EB-E71E-30A3C1EE3B8D}"/>
              </a:ext>
            </a:extLst>
          </p:cNvPr>
          <p:cNvCxnSpPr/>
          <p:nvPr/>
        </p:nvCxnSpPr>
        <p:spPr>
          <a:xfrm flipV="1">
            <a:off x="4526337" y="3019707"/>
            <a:ext cx="2408549" cy="63866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A0FBE54-F9A8-F7D6-D1AA-B03CE3912C1E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5349269" y="2993330"/>
            <a:ext cx="1976829" cy="115016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A9AE962-E1C8-3661-C78F-D089D8207AA4}"/>
              </a:ext>
            </a:extLst>
          </p:cNvPr>
          <p:cNvSpPr txBox="1"/>
          <p:nvPr/>
        </p:nvSpPr>
        <p:spPr>
          <a:xfrm>
            <a:off x="6598533" y="2534583"/>
            <a:ext cx="2850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3200" dirty="0"/>
              <a:t>Why</a:t>
            </a:r>
            <a:r>
              <a:rPr lang="zh-CN" altLang="en-US" sz="3200" dirty="0"/>
              <a:t> </a:t>
            </a:r>
            <a:r>
              <a:rPr lang="en-US" altLang="zh-CN" sz="3200" dirty="0"/>
              <a:t>is</a:t>
            </a:r>
            <a:r>
              <a:rPr lang="zh-CN" altLang="en-US" sz="3200" dirty="0"/>
              <a:t> </a:t>
            </a:r>
            <a:r>
              <a:rPr lang="en-US" altLang="zh-CN" sz="3200" dirty="0"/>
              <a:t>it</a:t>
            </a:r>
            <a:r>
              <a:rPr lang="zh-CN" altLang="en-US" sz="3200" dirty="0"/>
              <a:t> </a:t>
            </a:r>
            <a:r>
              <a:rPr lang="en-US" altLang="zh-CN" sz="3200" dirty="0"/>
              <a:t>likely?</a:t>
            </a:r>
            <a:endParaRPr lang="en-CN" sz="3200" dirty="0"/>
          </a:p>
        </p:txBody>
      </p:sp>
    </p:spTree>
    <p:extLst>
      <p:ext uri="{BB962C8B-B14F-4D97-AF65-F5344CB8AC3E}">
        <p14:creationId xmlns:p14="http://schemas.microsoft.com/office/powerpoint/2010/main" val="472851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C3316-4421-E268-B529-D9F587563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3502C-1EA2-FD33-AFF1-46C28CE03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A</a:t>
            </a:r>
            <a:r>
              <a:rPr lang="zh-CN" altLang="en-US" sz="5400" dirty="0"/>
              <a:t> </a:t>
            </a:r>
            <a:r>
              <a:rPr lang="en-US" altLang="zh-CN" sz="5400" dirty="0"/>
              <a:t>bad</a:t>
            </a:r>
            <a:r>
              <a:rPr lang="zh-CN" altLang="en-US" sz="5400" dirty="0"/>
              <a:t> </a:t>
            </a:r>
            <a:r>
              <a:rPr lang="en-US" altLang="zh-CN" sz="5400" dirty="0"/>
              <a:t>“likely”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4510C-2184-F4F5-5F1D-602C77919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When</a:t>
            </a:r>
            <a:r>
              <a:rPr lang="zh-CN" altLang="en-US" sz="3600" dirty="0"/>
              <a:t> </a:t>
            </a:r>
            <a:r>
              <a:rPr lang="en-US" altLang="zh-CN" sz="3600" dirty="0"/>
              <a:t>it</a:t>
            </a:r>
            <a:r>
              <a:rPr lang="zh-CN" altLang="en-US" sz="3600" dirty="0"/>
              <a:t> </a:t>
            </a:r>
            <a:r>
              <a:rPr lang="en-US" altLang="zh-CN" sz="3600" dirty="0"/>
              <a:t>comes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altLang="zh-CN" sz="3600" dirty="0"/>
              <a:t>int</a:t>
            </a:r>
            <a:r>
              <a:rPr lang="zh-CN" altLang="en-US" sz="3600" dirty="0"/>
              <a:t> </a:t>
            </a:r>
            <a:r>
              <a:rPr lang="en-US" altLang="zh-CN" sz="3600" dirty="0"/>
              <a:t>+</a:t>
            </a:r>
            <a:r>
              <a:rPr lang="zh-CN" altLang="en-US" sz="3600" dirty="0"/>
              <a:t> </a:t>
            </a:r>
            <a:r>
              <a:rPr lang="en-US" altLang="zh-CN" sz="3600" dirty="0"/>
              <a:t>identifier,</a:t>
            </a:r>
            <a:r>
              <a:rPr lang="zh-CN" altLang="en-US" sz="3600" dirty="0"/>
              <a:t> </a:t>
            </a:r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should</a:t>
            </a:r>
            <a:r>
              <a:rPr lang="zh-CN" altLang="en-US" sz="3600" dirty="0"/>
              <a:t> </a:t>
            </a:r>
            <a:r>
              <a:rPr lang="en-US" altLang="zh-CN" sz="3600" dirty="0"/>
              <a:t>I</a:t>
            </a:r>
            <a:r>
              <a:rPr lang="zh-CN" altLang="en-US" sz="3600" dirty="0"/>
              <a:t> </a:t>
            </a:r>
            <a:r>
              <a:rPr lang="en-US" altLang="zh-CN" sz="3600" dirty="0"/>
              <a:t>do?</a:t>
            </a:r>
            <a:r>
              <a:rPr lang="zh-CN" altLang="en-US" sz="3600" dirty="0"/>
              <a:t> 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E94E2-750A-3A2A-C62C-EC36FC37A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33</a:t>
            </a:fld>
            <a:endParaRPr lang="en-C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A32D9A-3248-B7F7-9925-40220E6EF8F2}"/>
              </a:ext>
            </a:extLst>
          </p:cNvPr>
          <p:cNvSpPr txBox="1"/>
          <p:nvPr/>
        </p:nvSpPr>
        <p:spPr>
          <a:xfrm>
            <a:off x="1323190" y="2732443"/>
            <a:ext cx="5121915" cy="30469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a;</a:t>
            </a:r>
          </a:p>
          <a:p>
            <a:r>
              <a:rPr lang="en-US" altLang="zh-CN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zh-CN" alt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int32_t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zh-CN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int32_t</a:t>
            </a:r>
            <a:r>
              <a:rPr lang="zh-CN" alt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x;</a:t>
            </a:r>
          </a:p>
          <a:p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1;</a:t>
            </a:r>
            <a:b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79D80B-6114-DD46-A446-97AE292D704C}"/>
              </a:ext>
            </a:extLst>
          </p:cNvPr>
          <p:cNvSpPr/>
          <p:nvPr/>
        </p:nvSpPr>
        <p:spPr>
          <a:xfrm>
            <a:off x="1757363" y="4686299"/>
            <a:ext cx="542925" cy="6143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853506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766F6-C74B-7ED5-3AD0-787341F9A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Parsers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simpler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modern</a:t>
            </a:r>
            <a:r>
              <a:rPr lang="zh-CN" altLang="en-US" dirty="0"/>
              <a:t> </a:t>
            </a:r>
            <a:r>
              <a:rPr lang="en-US" altLang="zh-CN" dirty="0"/>
              <a:t>languages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A0C25-8F1A-E51F-6453-BB77F6866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05493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Recap:</a:t>
            </a:r>
            <a:r>
              <a:rPr lang="zh-CN" altLang="en-US" sz="3200" dirty="0"/>
              <a:t> </a:t>
            </a:r>
            <a:r>
              <a:rPr lang="en-US" altLang="zh-CN" sz="3200" dirty="0"/>
              <a:t>Keywords</a:t>
            </a:r>
            <a:r>
              <a:rPr lang="zh-CN" altLang="en-US" sz="3200" dirty="0"/>
              <a:t> </a:t>
            </a:r>
            <a:r>
              <a:rPr lang="en-US" altLang="zh-CN" sz="3200" dirty="0"/>
              <a:t>hint</a:t>
            </a:r>
            <a:r>
              <a:rPr lang="zh-CN" altLang="en-US" sz="3200" dirty="0"/>
              <a:t> </a:t>
            </a: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parser</a:t>
            </a:r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C101F-DBAF-CADC-FA49-641832BDC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34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D431C0-93AF-E0EC-BB5B-9DEAEF08F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870" y="2532538"/>
            <a:ext cx="4563298" cy="154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2452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E87AA-924D-D0B1-D3DA-BE9BA10D2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530" y="365125"/>
            <a:ext cx="6646682" cy="1325563"/>
          </a:xfrm>
        </p:spPr>
        <p:txBody>
          <a:bodyPr/>
          <a:lstStyle/>
          <a:p>
            <a:r>
              <a:rPr lang="en-US" altLang="zh-CN" dirty="0"/>
              <a:t>Another</a:t>
            </a:r>
            <a:r>
              <a:rPr lang="zh-CN" altLang="en-US" dirty="0"/>
              <a:t> </a:t>
            </a:r>
            <a:r>
              <a:rPr lang="en-US" altLang="zh-CN" dirty="0"/>
              <a:t>Historical</a:t>
            </a:r>
            <a:r>
              <a:rPr lang="zh-CN" altLang="en-US" dirty="0"/>
              <a:t> </a:t>
            </a:r>
            <a:r>
              <a:rPr lang="en-US" altLang="zh-CN" dirty="0"/>
              <a:t>Legacy:</a:t>
            </a:r>
            <a:r>
              <a:rPr lang="zh-CN" altLang="en-US" dirty="0"/>
              <a:t> </a:t>
            </a:r>
            <a:r>
              <a:rPr lang="en-US" altLang="zh-CN" dirty="0"/>
              <a:t>One-pass</a:t>
            </a:r>
            <a:r>
              <a:rPr lang="zh-CN" altLang="en-US" dirty="0"/>
              <a:t> </a:t>
            </a:r>
            <a:r>
              <a:rPr lang="en-US" altLang="zh-CN" dirty="0"/>
              <a:t>Compilation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C7892-8DB0-5DEF-9E7A-10E6638A3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530" y="2217713"/>
            <a:ext cx="4703975" cy="1492611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Why</a:t>
            </a:r>
            <a:r>
              <a:rPr lang="zh-CN" altLang="en-US" sz="3200" dirty="0"/>
              <a:t> </a:t>
            </a:r>
            <a:r>
              <a:rPr lang="en-US" altLang="zh-CN" sz="3200" dirty="0"/>
              <a:t>do</a:t>
            </a:r>
            <a:r>
              <a:rPr lang="zh-CN" altLang="en-US" sz="3200" dirty="0"/>
              <a:t> </a:t>
            </a:r>
            <a:r>
              <a:rPr lang="en-US" altLang="zh-CN" sz="3200" dirty="0"/>
              <a:t>we</a:t>
            </a:r>
            <a:r>
              <a:rPr lang="zh-CN" altLang="en-US" sz="3200" dirty="0"/>
              <a:t> </a:t>
            </a:r>
            <a:r>
              <a:rPr lang="en-US" altLang="zh-CN" sz="3200" dirty="0"/>
              <a:t>bother</a:t>
            </a:r>
            <a:r>
              <a:rPr lang="zh-CN" altLang="en-US" sz="3200" dirty="0"/>
              <a:t> </a:t>
            </a:r>
            <a:r>
              <a:rPr lang="en-US" altLang="zh-CN" sz="3200" dirty="0"/>
              <a:t>to</a:t>
            </a:r>
            <a:r>
              <a:rPr lang="zh-CN" altLang="en-US" sz="3200" dirty="0"/>
              <a:t> </a:t>
            </a:r>
            <a:r>
              <a:rPr lang="en-US" altLang="zh-CN" sz="3200" dirty="0"/>
              <a:t>separate</a:t>
            </a:r>
            <a:r>
              <a:rPr lang="zh-CN" altLang="en-US" sz="3200" dirty="0"/>
              <a:t> </a:t>
            </a: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declaration</a:t>
            </a:r>
            <a:r>
              <a:rPr lang="zh-CN" altLang="en-US" sz="3200" dirty="0"/>
              <a:t> </a:t>
            </a:r>
            <a:r>
              <a:rPr lang="en-US" altLang="zh-CN" sz="3200" dirty="0"/>
              <a:t>and</a:t>
            </a:r>
            <a:r>
              <a:rPr lang="zh-CN" altLang="en-US" sz="3200" dirty="0"/>
              <a:t> </a:t>
            </a:r>
            <a:r>
              <a:rPr lang="en-US" altLang="zh-CN" sz="3200" dirty="0"/>
              <a:t>implementation?</a:t>
            </a:r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068E5-DF3A-2979-90CE-12FE00B6A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35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619449-8778-1FC9-F0D5-B7E063D63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30" y="4237349"/>
            <a:ext cx="6477000" cy="2159000"/>
          </a:xfrm>
          <a:prstGeom prst="rect">
            <a:avLst/>
          </a:prstGeom>
        </p:spPr>
      </p:pic>
      <p:pic>
        <p:nvPicPr>
          <p:cNvPr id="1026" name="Picture 2" descr="Microsoft Windows Workgroups Operating Systems Version 3.11 - 3.5&quot; floppy  disks | eBay Australia">
            <a:extLst>
              <a:ext uri="{FF2B5EF4-FFF2-40B4-BE49-F238E27FC236}">
                <a16:creationId xmlns:a16="http://schemas.microsoft.com/office/drawing/2014/main" id="{83DA66D9-C5AA-331D-FACE-3909AE020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47155"/>
            <a:ext cx="5976593" cy="4482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29820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8921A-DFA0-96DE-35EE-404D379F6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41091" cy="1325563"/>
          </a:xfrm>
        </p:spPr>
        <p:txBody>
          <a:bodyPr/>
          <a:lstStyle/>
          <a:p>
            <a:r>
              <a:rPr lang="en-US" altLang="zh-CN" dirty="0"/>
              <a:t>Compromise: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should</a:t>
            </a:r>
            <a:r>
              <a:rPr lang="zh-CN" altLang="en-US" dirty="0"/>
              <a:t> </a:t>
            </a:r>
            <a:r>
              <a:rPr lang="en-US" altLang="zh-CN" dirty="0"/>
              <a:t>scan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multiple</a:t>
            </a:r>
            <a:r>
              <a:rPr lang="zh-CN" altLang="en-US" dirty="0"/>
              <a:t> </a:t>
            </a:r>
            <a:r>
              <a:rPr lang="en-US" altLang="zh-CN" dirty="0"/>
              <a:t>times</a:t>
            </a:r>
            <a:r>
              <a:rPr lang="zh-CN" altLang="en-US" dirty="0"/>
              <a:t> </a:t>
            </a:r>
            <a:r>
              <a:rPr lang="en-US" altLang="zh-CN" dirty="0"/>
              <a:t>conditionally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C++</a:t>
            </a:r>
            <a:r>
              <a:rPr lang="zh-CN" altLang="en-US" dirty="0"/>
              <a:t> </a:t>
            </a:r>
            <a:r>
              <a:rPr lang="en-US" altLang="zh-CN" dirty="0"/>
              <a:t>era.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0DAA8-2E28-692B-7417-BB2F101B3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12" y="1952117"/>
            <a:ext cx="4167433" cy="2953765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Actually,</a:t>
            </a:r>
            <a:r>
              <a:rPr lang="zh-CN" altLang="en-US" sz="3200" dirty="0"/>
              <a:t> </a:t>
            </a:r>
            <a:r>
              <a:rPr lang="en-US" altLang="zh-CN" sz="3200" dirty="0"/>
              <a:t>within</a:t>
            </a:r>
            <a:r>
              <a:rPr lang="zh-CN" altLang="en-US" sz="3200" dirty="0"/>
              <a:t> </a:t>
            </a:r>
            <a:r>
              <a:rPr lang="en-US" altLang="zh-CN" sz="3200" dirty="0"/>
              <a:t>a</a:t>
            </a:r>
            <a:r>
              <a:rPr lang="zh-CN" altLang="en-US" sz="3200" dirty="0"/>
              <a:t> </a:t>
            </a:r>
            <a:r>
              <a:rPr lang="en-US" altLang="zh-CN" sz="3200" dirty="0"/>
              <a:t>struct,</a:t>
            </a:r>
            <a:r>
              <a:rPr lang="zh-CN" altLang="en-US" sz="3200" dirty="0"/>
              <a:t> </a:t>
            </a:r>
            <a:r>
              <a:rPr lang="en-US" altLang="zh-CN" sz="3200" dirty="0"/>
              <a:t>it</a:t>
            </a:r>
            <a:r>
              <a:rPr lang="zh-CN" altLang="en-US" sz="3200" dirty="0"/>
              <a:t> </a:t>
            </a:r>
            <a:r>
              <a:rPr lang="en-US" altLang="zh-CN" sz="3200" dirty="0"/>
              <a:t>is</a:t>
            </a:r>
            <a:r>
              <a:rPr lang="zh-CN" altLang="en-US" sz="3200" dirty="0"/>
              <a:t> </a:t>
            </a:r>
            <a:r>
              <a:rPr lang="en-US" altLang="zh-CN" sz="3200" dirty="0"/>
              <a:t>scanned</a:t>
            </a:r>
            <a:r>
              <a:rPr lang="zh-CN" altLang="en-US" sz="3200" dirty="0"/>
              <a:t> </a:t>
            </a:r>
            <a:r>
              <a:rPr lang="en-US" altLang="zh-CN" sz="3200" dirty="0"/>
              <a:t>more</a:t>
            </a:r>
            <a:r>
              <a:rPr lang="zh-CN" altLang="en-US" sz="3200" dirty="0"/>
              <a:t> </a:t>
            </a:r>
            <a:r>
              <a:rPr lang="en-US" altLang="zh-CN" sz="3200" dirty="0"/>
              <a:t>than</a:t>
            </a:r>
            <a:r>
              <a:rPr lang="zh-CN" altLang="en-US" sz="3200" dirty="0"/>
              <a:t> </a:t>
            </a:r>
            <a:r>
              <a:rPr lang="en-US" altLang="zh-CN" sz="3200" dirty="0"/>
              <a:t>once!</a:t>
            </a:r>
          </a:p>
          <a:p>
            <a:r>
              <a:rPr lang="en-US" altLang="zh-CN" sz="3200" dirty="0"/>
              <a:t>But</a:t>
            </a:r>
            <a:r>
              <a:rPr lang="zh-CN" altLang="en-US" sz="3200" dirty="0"/>
              <a:t> </a:t>
            </a:r>
            <a:r>
              <a:rPr lang="en-US" altLang="zh-CN" sz="3200" dirty="0"/>
              <a:t>still,</a:t>
            </a:r>
            <a:r>
              <a:rPr lang="zh-CN" altLang="en-US" sz="3200" dirty="0"/>
              <a:t> </a:t>
            </a:r>
            <a:r>
              <a:rPr lang="en-US" altLang="zh-CN" sz="3200" dirty="0"/>
              <a:t>other</a:t>
            </a:r>
            <a:r>
              <a:rPr lang="zh-CN" altLang="en-US" sz="3200" dirty="0"/>
              <a:t> </a:t>
            </a:r>
            <a:r>
              <a:rPr lang="en-US" altLang="zh-CN" sz="3200" dirty="0"/>
              <a:t>functions</a:t>
            </a:r>
            <a:r>
              <a:rPr lang="zh-CN" altLang="en-US" sz="3200" dirty="0"/>
              <a:t> </a:t>
            </a:r>
            <a:r>
              <a:rPr lang="en-US" altLang="zh-CN" sz="3200" dirty="0"/>
              <a:t>suffer</a:t>
            </a:r>
            <a:r>
              <a:rPr lang="zh-CN" altLang="en-US" sz="3200" dirty="0"/>
              <a:t> </a:t>
            </a:r>
            <a:r>
              <a:rPr lang="en-US" altLang="zh-CN" sz="3200" dirty="0"/>
              <a:t>from</a:t>
            </a:r>
            <a:r>
              <a:rPr lang="zh-CN" altLang="en-US" sz="3200" dirty="0"/>
              <a:t> </a:t>
            </a:r>
            <a:r>
              <a:rPr lang="en-US" altLang="zh-CN" sz="3200" dirty="0"/>
              <a:t>one-pass</a:t>
            </a:r>
            <a:r>
              <a:rPr lang="zh-CN" altLang="en-US" sz="3200" dirty="0"/>
              <a:t> </a:t>
            </a:r>
            <a:r>
              <a:rPr lang="en-US" altLang="zh-CN" sz="3200" dirty="0"/>
              <a:t>scan.</a:t>
            </a:r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F5F8B-2C69-4C02-C0F4-841B8588E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36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7E26AC-723B-A541-14C1-9AC812D5F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1319" y="1825625"/>
            <a:ext cx="64262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0603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757FB-683A-1B1C-329E-847C4C9AD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84073-9F62-5B6B-FC58-0BFA9B4C6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41091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Semantics</a:t>
            </a:r>
            <a:r>
              <a:rPr lang="zh-CN" altLang="en-US" sz="5400" dirty="0"/>
              <a:t> </a:t>
            </a:r>
            <a:r>
              <a:rPr lang="en-US" altLang="zh-CN" sz="5400" dirty="0"/>
              <a:t>Check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BF06C-DC97-6DBD-424B-B6828514D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746" y="2012140"/>
            <a:ext cx="8924238" cy="1743583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program</a:t>
            </a:r>
            <a:r>
              <a:rPr lang="zh-CN" altLang="en-US" sz="3200" dirty="0"/>
              <a:t> </a:t>
            </a:r>
            <a:r>
              <a:rPr lang="en-US" altLang="zh-CN" sz="3200" dirty="0"/>
              <a:t>below</a:t>
            </a:r>
            <a:r>
              <a:rPr lang="zh-CN" altLang="en-US" sz="3200" dirty="0"/>
              <a:t> </a:t>
            </a:r>
            <a:r>
              <a:rPr lang="en-US" altLang="zh-CN" sz="3200" dirty="0"/>
              <a:t>fits</a:t>
            </a:r>
            <a:r>
              <a:rPr lang="zh-CN" altLang="en-US" sz="3200" dirty="0"/>
              <a:t> </a:t>
            </a:r>
            <a:r>
              <a:rPr lang="en-US" altLang="zh-CN" sz="3200" dirty="0"/>
              <a:t>in</a:t>
            </a:r>
            <a:r>
              <a:rPr lang="zh-CN" altLang="en-US" sz="3200" dirty="0"/>
              <a:t> </a:t>
            </a: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syntax</a:t>
            </a:r>
            <a:r>
              <a:rPr lang="zh-CN" altLang="en-US" sz="3200" dirty="0"/>
              <a:t> </a:t>
            </a:r>
            <a:r>
              <a:rPr lang="en-US" altLang="zh-CN" sz="3200" dirty="0"/>
              <a:t>of</a:t>
            </a:r>
            <a:r>
              <a:rPr lang="zh-CN" altLang="en-US" sz="3200" dirty="0"/>
              <a:t> </a:t>
            </a:r>
            <a:r>
              <a:rPr lang="en-US" altLang="zh-CN" sz="3200" dirty="0"/>
              <a:t>C,</a:t>
            </a:r>
            <a:r>
              <a:rPr lang="zh-CN" altLang="en-US" sz="3200" dirty="0"/>
              <a:t> </a:t>
            </a:r>
            <a:r>
              <a:rPr lang="en-US" altLang="zh-CN" sz="3200" dirty="0"/>
              <a:t>but</a:t>
            </a:r>
            <a:r>
              <a:rPr lang="zh-CN" altLang="en-US" sz="3200" dirty="0"/>
              <a:t> </a:t>
            </a:r>
            <a:r>
              <a:rPr lang="en-US" altLang="zh-CN" sz="3200" dirty="0"/>
              <a:t>semantically</a:t>
            </a:r>
            <a:r>
              <a:rPr lang="zh-CN" altLang="en-US" sz="3200" dirty="0"/>
              <a:t> </a:t>
            </a:r>
            <a:r>
              <a:rPr lang="en-US" altLang="zh-CN" sz="3200" dirty="0"/>
              <a:t>fails</a:t>
            </a:r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8A22F-3E4B-D240-B6FE-55CD11ED5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37</a:t>
            </a:fld>
            <a:endParaRPr lang="en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6B318E-0447-5E53-B60F-02D9338E9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748" y="3429000"/>
            <a:ext cx="5370233" cy="174358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7500AF4-9138-7360-1BCC-DA8C2D8ACA18}"/>
              </a:ext>
            </a:extLst>
          </p:cNvPr>
          <p:cNvSpPr/>
          <p:nvPr/>
        </p:nvSpPr>
        <p:spPr>
          <a:xfrm>
            <a:off x="113059" y="5987143"/>
            <a:ext cx="480500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PP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B34174-7B0B-B726-72B8-F12ABEB81F5C}"/>
              </a:ext>
            </a:extLst>
          </p:cNvPr>
          <p:cNvSpPr/>
          <p:nvPr/>
        </p:nvSpPr>
        <p:spPr>
          <a:xfrm>
            <a:off x="785197" y="5987142"/>
            <a:ext cx="1110342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Tokenizer</a:t>
            </a:r>
            <a:endParaRPr lang="en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6ABA5-C9F7-EB1A-A803-1A7D8CA5E4E4}"/>
              </a:ext>
            </a:extLst>
          </p:cNvPr>
          <p:cNvSpPr/>
          <p:nvPr/>
        </p:nvSpPr>
        <p:spPr>
          <a:xfrm>
            <a:off x="1997013" y="5987142"/>
            <a:ext cx="1028977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Parser</a:t>
            </a:r>
            <a:endParaRPr lang="en-C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DA0FA5-5FCB-B38A-1B29-62C95680A604}"/>
              </a:ext>
            </a:extLst>
          </p:cNvPr>
          <p:cNvSpPr txBox="1"/>
          <p:nvPr/>
        </p:nvSpPr>
        <p:spPr>
          <a:xfrm>
            <a:off x="1873317" y="6492874"/>
            <a:ext cx="1084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Frontend</a:t>
            </a:r>
            <a:endParaRPr lang="en-C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99FFB2B-32F9-2F63-CBC2-FDB97B5AC4D7}"/>
              </a:ext>
            </a:extLst>
          </p:cNvPr>
          <p:cNvCxnSpPr/>
          <p:nvPr/>
        </p:nvCxnSpPr>
        <p:spPr>
          <a:xfrm>
            <a:off x="683722" y="5646057"/>
            <a:ext cx="0" cy="12119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8099043-1F46-4094-0B01-14A1B26BDDF8}"/>
              </a:ext>
            </a:extLst>
          </p:cNvPr>
          <p:cNvSpPr/>
          <p:nvPr/>
        </p:nvSpPr>
        <p:spPr>
          <a:xfrm>
            <a:off x="3117949" y="5987142"/>
            <a:ext cx="1028977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Sema Check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8069906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DA45D-4946-A35C-484D-8F9A51AF5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Semantics</a:t>
            </a:r>
            <a:r>
              <a:rPr lang="zh-CN" altLang="en-US" sz="5400" dirty="0"/>
              <a:t> </a:t>
            </a:r>
            <a:r>
              <a:rPr lang="en-US" altLang="zh-CN" sz="5400" dirty="0"/>
              <a:t>Check</a:t>
            </a:r>
            <a:r>
              <a:rPr lang="zh-CN" altLang="en-US" sz="5400" dirty="0"/>
              <a:t> </a:t>
            </a:r>
            <a:r>
              <a:rPr lang="en-US" altLang="zh-CN" sz="5400" dirty="0"/>
              <a:t>(Symbol</a:t>
            </a:r>
            <a:r>
              <a:rPr lang="zh-CN" altLang="en-US" sz="5400" dirty="0"/>
              <a:t> </a:t>
            </a:r>
            <a:r>
              <a:rPr lang="en-US" altLang="zh-CN" sz="5400" dirty="0"/>
              <a:t>Table)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17FD3-04E3-7561-4E02-D1FBB6617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62900" cy="671512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Symbol</a:t>
            </a:r>
            <a:r>
              <a:rPr lang="zh-CN" altLang="en-US" sz="3200" dirty="0"/>
              <a:t> </a:t>
            </a:r>
            <a:r>
              <a:rPr lang="en-US" altLang="zh-CN" sz="3200" dirty="0"/>
              <a:t>table</a:t>
            </a:r>
            <a:r>
              <a:rPr lang="zh-CN" altLang="en-US" sz="3200" dirty="0"/>
              <a:t> </a:t>
            </a:r>
            <a:r>
              <a:rPr lang="en-US" altLang="zh-CN" sz="3200" dirty="0"/>
              <a:t>context</a:t>
            </a:r>
            <a:r>
              <a:rPr lang="zh-CN" altLang="en-US" sz="3200" dirty="0"/>
              <a:t> </a:t>
            </a:r>
            <a:r>
              <a:rPr lang="en-US" altLang="zh-CN" sz="3200" dirty="0"/>
              <a:t>scope</a:t>
            </a:r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DF1A9-3940-0B06-7144-B9D8C9256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38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46F2D7-F1D1-126A-298C-A70FE825A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350" y="2314575"/>
            <a:ext cx="7099300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2346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BBFAD-938C-9ABF-8119-C42F6701B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043746" cy="1095375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Implementation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2C7BA-A7BC-3B35-A731-D15C10CCC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852"/>
            <a:ext cx="10515600" cy="2605263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Ideally,</a:t>
            </a:r>
            <a:r>
              <a:rPr lang="zh-CN" altLang="en-US" sz="3600" dirty="0"/>
              <a:t> </a:t>
            </a:r>
            <a:r>
              <a:rPr lang="en-US" altLang="zh-CN" sz="3600" dirty="0"/>
              <a:t>this</a:t>
            </a:r>
            <a:r>
              <a:rPr lang="zh-CN" altLang="en-US" sz="3600" dirty="0"/>
              <a:t> </a:t>
            </a:r>
            <a:r>
              <a:rPr lang="en-US" altLang="zh-CN" sz="3600" dirty="0"/>
              <a:t>can</a:t>
            </a:r>
            <a:r>
              <a:rPr lang="zh-CN" altLang="en-US" sz="3600" dirty="0"/>
              <a:t> </a:t>
            </a:r>
            <a:r>
              <a:rPr lang="en-US" altLang="zh-CN" sz="3600" dirty="0"/>
              <a:t>be</a:t>
            </a:r>
            <a:r>
              <a:rPr lang="zh-CN" altLang="en-US" sz="3600" dirty="0"/>
              <a:t> </a:t>
            </a:r>
            <a:r>
              <a:rPr lang="en-US" altLang="zh-CN" sz="3600" dirty="0"/>
              <a:t>summarized</a:t>
            </a:r>
            <a:r>
              <a:rPr lang="zh-CN" altLang="en-US" sz="3600" dirty="0"/>
              <a:t> </a:t>
            </a:r>
            <a:r>
              <a:rPr lang="en-US" altLang="zh-CN" sz="3600" dirty="0"/>
              <a:t>into</a:t>
            </a:r>
            <a:r>
              <a:rPr lang="zh-CN" altLang="en-US" sz="3600" dirty="0"/>
              <a:t> </a:t>
            </a:r>
            <a:r>
              <a:rPr lang="en-US" altLang="zh-CN" sz="3600" dirty="0"/>
              <a:t>three</a:t>
            </a:r>
            <a:r>
              <a:rPr lang="zh-CN" altLang="en-US" sz="3600" dirty="0"/>
              <a:t> </a:t>
            </a:r>
            <a:r>
              <a:rPr lang="en-US" altLang="zh-CN" sz="3600" dirty="0"/>
              <a:t>rules</a:t>
            </a:r>
          </a:p>
          <a:p>
            <a:pPr lvl="1"/>
            <a:r>
              <a:rPr lang="en-US" altLang="zh-CN" sz="3200" dirty="0"/>
              <a:t>When</a:t>
            </a:r>
            <a:r>
              <a:rPr lang="zh-CN" altLang="en-US" sz="3200" dirty="0"/>
              <a:t> </a:t>
            </a:r>
            <a:r>
              <a:rPr lang="en-US" altLang="zh-CN" sz="3200" dirty="0"/>
              <a:t>entering</a:t>
            </a:r>
            <a:r>
              <a:rPr lang="zh-CN" altLang="en-US" sz="3200" dirty="0"/>
              <a:t> </a:t>
            </a:r>
            <a:r>
              <a:rPr lang="en-US" altLang="zh-CN" sz="3200" dirty="0"/>
              <a:t>a</a:t>
            </a:r>
            <a:r>
              <a:rPr lang="zh-CN" altLang="en-US" sz="3200" dirty="0"/>
              <a:t> </a:t>
            </a:r>
            <a:r>
              <a:rPr lang="en-US" altLang="zh-CN" sz="3200" dirty="0" err="1"/>
              <a:t>CompoundStmt</a:t>
            </a:r>
            <a:r>
              <a:rPr lang="en-US" altLang="zh-CN" sz="3200" dirty="0"/>
              <a:t>,</a:t>
            </a:r>
            <a:r>
              <a:rPr lang="zh-CN" altLang="en-US" sz="3200" dirty="0"/>
              <a:t> </a:t>
            </a:r>
            <a:r>
              <a:rPr lang="en-US" altLang="zh-CN" sz="3200" dirty="0"/>
              <a:t>create</a:t>
            </a:r>
            <a:r>
              <a:rPr lang="zh-CN" altLang="en-US" sz="3200" dirty="0"/>
              <a:t> </a:t>
            </a:r>
            <a:r>
              <a:rPr lang="en-US" altLang="zh-CN" sz="3200" dirty="0"/>
              <a:t>a</a:t>
            </a:r>
            <a:r>
              <a:rPr lang="zh-CN" altLang="en-US" sz="3200" dirty="0"/>
              <a:t> </a:t>
            </a:r>
            <a:r>
              <a:rPr lang="en-US" altLang="zh-CN" sz="3200" dirty="0"/>
              <a:t>new</a:t>
            </a:r>
            <a:r>
              <a:rPr lang="zh-CN" altLang="en-US" sz="3200" dirty="0"/>
              <a:t> </a:t>
            </a:r>
            <a:r>
              <a:rPr lang="en-US" altLang="zh-CN" sz="3200" dirty="0" err="1"/>
              <a:t>ctx</a:t>
            </a:r>
            <a:endParaRPr lang="en-CN" altLang="zh-CN" sz="3200" dirty="0"/>
          </a:p>
          <a:p>
            <a:pPr lvl="2"/>
            <a:r>
              <a:rPr lang="en-US" altLang="zh-CN" sz="2800" dirty="0"/>
              <a:t>When</a:t>
            </a:r>
            <a:r>
              <a:rPr lang="zh-CN" altLang="en-US" sz="2800" dirty="0"/>
              <a:t> </a:t>
            </a:r>
            <a:r>
              <a:rPr lang="en-US" altLang="zh-CN" sz="2800" dirty="0"/>
              <a:t>leaving</a:t>
            </a:r>
            <a:r>
              <a:rPr lang="zh-CN" altLang="en-US" sz="2800" dirty="0"/>
              <a:t> </a:t>
            </a:r>
            <a:r>
              <a:rPr lang="en-US" altLang="zh-CN" sz="2800" dirty="0"/>
              <a:t>destroy</a:t>
            </a:r>
          </a:p>
          <a:p>
            <a:pPr lvl="1"/>
            <a:r>
              <a:rPr lang="en-US" altLang="zh-CN" sz="3200" dirty="0"/>
              <a:t>When</a:t>
            </a:r>
            <a:r>
              <a:rPr lang="zh-CN" altLang="en-US" sz="3200" dirty="0"/>
              <a:t> </a:t>
            </a:r>
            <a:r>
              <a:rPr lang="en-US" altLang="zh-CN" sz="3200" dirty="0"/>
              <a:t>entering</a:t>
            </a:r>
            <a:r>
              <a:rPr lang="zh-CN" altLang="en-US" sz="3200" dirty="0"/>
              <a:t> </a:t>
            </a:r>
            <a:r>
              <a:rPr lang="en-US" altLang="zh-CN" sz="3200" dirty="0"/>
              <a:t>a</a:t>
            </a:r>
            <a:r>
              <a:rPr lang="zh-CN" altLang="en-US" sz="3200" dirty="0"/>
              <a:t> </a:t>
            </a:r>
            <a:r>
              <a:rPr lang="en-US" altLang="zh-CN" sz="3200" dirty="0" err="1"/>
              <a:t>DeclStmt</a:t>
            </a:r>
            <a:r>
              <a:rPr lang="en-US" altLang="zh-CN" sz="3200" dirty="0"/>
              <a:t>,</a:t>
            </a:r>
            <a:r>
              <a:rPr lang="zh-CN" altLang="en-US" sz="3200" dirty="0"/>
              <a:t> </a:t>
            </a:r>
            <a:r>
              <a:rPr lang="en-US" altLang="zh-CN" sz="3200" dirty="0"/>
              <a:t>put</a:t>
            </a:r>
            <a:r>
              <a:rPr lang="zh-CN" altLang="en-US" sz="3200" dirty="0"/>
              <a:t> </a:t>
            </a:r>
            <a:r>
              <a:rPr lang="en-US" altLang="zh-CN" sz="3200" dirty="0"/>
              <a:t>it</a:t>
            </a:r>
            <a:r>
              <a:rPr lang="zh-CN" altLang="en-US" sz="3200" dirty="0"/>
              <a:t> </a:t>
            </a:r>
            <a:r>
              <a:rPr lang="en-US" altLang="zh-CN" sz="3200" dirty="0"/>
              <a:t>into</a:t>
            </a:r>
            <a:r>
              <a:rPr lang="zh-CN" altLang="en-US" sz="3200" dirty="0"/>
              <a:t> </a:t>
            </a: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 err="1"/>
              <a:t>ctx</a:t>
            </a:r>
            <a:endParaRPr lang="en-US" altLang="zh-CN" sz="3200" dirty="0"/>
          </a:p>
          <a:p>
            <a:pPr lvl="1"/>
            <a:r>
              <a:rPr lang="en-US" altLang="zh-CN" sz="3200" dirty="0"/>
              <a:t>When</a:t>
            </a:r>
            <a:r>
              <a:rPr lang="zh-CN" altLang="en-US" sz="3200" dirty="0"/>
              <a:t> </a:t>
            </a:r>
            <a:r>
              <a:rPr lang="en-US" altLang="zh-CN" sz="3200" dirty="0"/>
              <a:t>entering</a:t>
            </a:r>
            <a:r>
              <a:rPr lang="zh-CN" altLang="en-US" sz="3200" dirty="0"/>
              <a:t> </a:t>
            </a:r>
            <a:r>
              <a:rPr lang="en-US" altLang="zh-CN" sz="3200" dirty="0"/>
              <a:t>a</a:t>
            </a:r>
            <a:r>
              <a:rPr lang="zh-CN" altLang="en-US" sz="3200" dirty="0"/>
              <a:t> </a:t>
            </a:r>
            <a:r>
              <a:rPr lang="en-US" altLang="zh-CN" sz="3200" dirty="0"/>
              <a:t>reference,</a:t>
            </a:r>
            <a:r>
              <a:rPr lang="zh-CN" altLang="en-US" sz="3200" dirty="0"/>
              <a:t> </a:t>
            </a:r>
            <a:r>
              <a:rPr lang="en-US" altLang="zh-CN" sz="3200" dirty="0"/>
              <a:t>find</a:t>
            </a:r>
            <a:r>
              <a:rPr lang="zh-CN" altLang="en-US" sz="3200" dirty="0"/>
              <a:t> </a:t>
            </a:r>
            <a:r>
              <a:rPr lang="en-US" altLang="zh-CN" sz="3200" dirty="0"/>
              <a:t>it</a:t>
            </a:r>
            <a:r>
              <a:rPr lang="zh-CN" altLang="en-US" sz="3200" dirty="0"/>
              <a:t> </a:t>
            </a:r>
            <a:r>
              <a:rPr lang="en-US" altLang="zh-CN" sz="3200" dirty="0"/>
              <a:t>in</a:t>
            </a:r>
            <a:r>
              <a:rPr lang="zh-CN" altLang="en-US" sz="3200" dirty="0"/>
              <a:t> </a:t>
            </a:r>
            <a:r>
              <a:rPr lang="en-US" altLang="zh-CN" sz="3200" dirty="0" err="1"/>
              <a:t>ctx</a:t>
            </a:r>
            <a:r>
              <a:rPr lang="zh-CN" altLang="en-US" sz="3200" dirty="0"/>
              <a:t> </a:t>
            </a:r>
            <a:r>
              <a:rPr lang="en-US" altLang="zh-CN" sz="3200" dirty="0"/>
              <a:t>stack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2E40C-8B47-A5B3-D3F8-D3E6F46DC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39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BFCB7E-253A-6A8C-1C24-AD30D7153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463" y="4453666"/>
            <a:ext cx="6680000" cy="20392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654F11-BBE5-C82B-AA40-1AEF357D4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11" y="4218468"/>
            <a:ext cx="3969913" cy="233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547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44576-9593-34F0-8BEC-1957B60CA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A8AD5-0DF8-8972-7DB9-8DB18B90F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043746" cy="1095375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Implementation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FFFE4-2193-4E6F-7426-F0EFBE82C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3062"/>
            <a:ext cx="10749843" cy="2605263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Key</a:t>
            </a:r>
            <a:r>
              <a:rPr lang="zh-CN" altLang="en-US" sz="3600" dirty="0"/>
              <a:t> </a:t>
            </a:r>
            <a:r>
              <a:rPr lang="en-US" altLang="zh-CN" sz="3600" dirty="0"/>
              <a:t>Behavior:</a:t>
            </a:r>
            <a:r>
              <a:rPr lang="zh-CN" altLang="en-US" sz="3600" dirty="0"/>
              <a:t> </a:t>
            </a:r>
            <a:r>
              <a:rPr lang="en-US" altLang="zh-CN" sz="3600" dirty="0"/>
              <a:t>We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behaviors</a:t>
            </a:r>
            <a:r>
              <a:rPr lang="zh-CN" altLang="en-US" sz="3600" dirty="0"/>
              <a:t> </a:t>
            </a:r>
            <a:r>
              <a:rPr lang="en-US" altLang="zh-CN" sz="3600" dirty="0"/>
              <a:t>on</a:t>
            </a:r>
            <a:r>
              <a:rPr lang="zh-CN" altLang="en-US" sz="3600" dirty="0"/>
              <a:t> </a:t>
            </a:r>
            <a:r>
              <a:rPr lang="en-US" altLang="zh-CN" sz="3600" dirty="0"/>
              <a:t>each</a:t>
            </a:r>
            <a:r>
              <a:rPr lang="zh-CN" altLang="en-US" sz="3600" dirty="0"/>
              <a:t> </a:t>
            </a:r>
            <a:r>
              <a:rPr lang="en-US" altLang="zh-CN" sz="3600" dirty="0"/>
              <a:t>AST</a:t>
            </a:r>
            <a:r>
              <a:rPr lang="zh-CN" altLang="en-US" sz="3600" dirty="0"/>
              <a:t> </a:t>
            </a:r>
            <a:r>
              <a:rPr lang="en-US" altLang="zh-CN" sz="3600" dirty="0"/>
              <a:t>node</a:t>
            </a:r>
            <a:r>
              <a:rPr lang="zh-CN" altLang="en-US" sz="3600" dirty="0"/>
              <a:t> </a:t>
            </a:r>
            <a:r>
              <a:rPr lang="en-US" altLang="zh-CN" sz="3600" dirty="0"/>
              <a:t>depends</a:t>
            </a:r>
            <a:r>
              <a:rPr lang="zh-CN" altLang="en-US" sz="3600" dirty="0"/>
              <a:t> </a:t>
            </a:r>
            <a:r>
              <a:rPr lang="en-US" altLang="zh-CN" sz="3600" dirty="0"/>
              <a:t>on</a:t>
            </a:r>
            <a:r>
              <a:rPr lang="zh-CN" altLang="en-US" sz="3600" dirty="0"/>
              <a:t> </a:t>
            </a:r>
            <a:r>
              <a:rPr lang="en-US" altLang="zh-CN" sz="3600" dirty="0"/>
              <a:t>its</a:t>
            </a:r>
            <a:r>
              <a:rPr lang="zh-CN" altLang="en-US" sz="3600" dirty="0"/>
              <a:t> </a:t>
            </a:r>
            <a:r>
              <a:rPr lang="en-US" altLang="zh-CN" sz="3600" dirty="0"/>
              <a:t>subclass</a:t>
            </a:r>
          </a:p>
          <a:p>
            <a:pPr lvl="1"/>
            <a:r>
              <a:rPr lang="en-US" altLang="zh-CN" sz="3200" dirty="0"/>
              <a:t>Trivial</a:t>
            </a:r>
            <a:r>
              <a:rPr lang="zh-CN" altLang="en-US" sz="3200" dirty="0"/>
              <a:t> </a:t>
            </a:r>
            <a:r>
              <a:rPr lang="en-US" altLang="zh-CN" sz="3200" dirty="0"/>
              <a:t>Solution:</a:t>
            </a:r>
            <a:r>
              <a:rPr lang="zh-CN" altLang="en-US" sz="3200" dirty="0"/>
              <a:t> </a:t>
            </a:r>
            <a:r>
              <a:rPr lang="en-US" altLang="zh-CN" sz="3200" dirty="0"/>
              <a:t>Virtual</a:t>
            </a:r>
            <a:r>
              <a:rPr lang="zh-CN" altLang="en-US" sz="3200" dirty="0"/>
              <a:t> </a:t>
            </a:r>
            <a:r>
              <a:rPr lang="en-US" altLang="zh-CN" sz="3200" dirty="0"/>
              <a:t>Function</a:t>
            </a:r>
          </a:p>
          <a:p>
            <a:pPr lvl="1"/>
            <a:r>
              <a:rPr lang="en-US" altLang="zh-CN" sz="3200" dirty="0"/>
              <a:t>Pros:</a:t>
            </a:r>
            <a:r>
              <a:rPr lang="zh-CN" altLang="en-US" sz="3200" dirty="0"/>
              <a:t> </a:t>
            </a:r>
            <a:r>
              <a:rPr lang="en-US" altLang="zh-CN" sz="3200" dirty="0"/>
              <a:t>Straightforward</a:t>
            </a:r>
            <a:r>
              <a:rPr lang="zh-CN" altLang="en-US" sz="3200" dirty="0"/>
              <a:t> </a:t>
            </a:r>
            <a:r>
              <a:rPr lang="en-US" altLang="zh-CN" sz="3200" dirty="0"/>
              <a:t>and</a:t>
            </a:r>
            <a:r>
              <a:rPr lang="zh-CN" altLang="en-US" sz="3200" dirty="0"/>
              <a:t> </a:t>
            </a:r>
            <a:r>
              <a:rPr lang="en-US" altLang="zh-CN" sz="3200" dirty="0"/>
              <a:t>effective</a:t>
            </a:r>
          </a:p>
          <a:p>
            <a:pPr lvl="1"/>
            <a:r>
              <a:rPr lang="en-US" altLang="zh-CN" sz="3200" dirty="0"/>
              <a:t>Cons:</a:t>
            </a:r>
            <a:r>
              <a:rPr lang="zh-CN" altLang="en-US" sz="3200" dirty="0"/>
              <a:t> </a:t>
            </a:r>
            <a:r>
              <a:rPr lang="en-US" altLang="zh-CN" sz="3200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30612-7D84-89BF-3B66-2B757098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40</a:t>
            </a:fld>
            <a:endParaRPr lang="en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A09DB8-567B-4136-0947-154DFA5FC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463" y="4453666"/>
            <a:ext cx="6680000" cy="20392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D96695-00E9-368C-5C6F-6FD1ED33D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11" y="4218468"/>
            <a:ext cx="3969913" cy="233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5864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4D228-26A6-DBD9-6DBC-A2BBC1CC7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0"/>
            <a:ext cx="11585222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Virtual</a:t>
            </a:r>
            <a:r>
              <a:rPr lang="zh-CN" altLang="en-US" sz="5400" dirty="0"/>
              <a:t> </a:t>
            </a:r>
            <a:r>
              <a:rPr lang="en-US" altLang="zh-CN" sz="5400" dirty="0"/>
              <a:t>Function:</a:t>
            </a:r>
            <a:r>
              <a:rPr lang="zh-CN" altLang="en-US" sz="5400" dirty="0"/>
              <a:t> </a:t>
            </a:r>
            <a:r>
              <a:rPr lang="en-US" altLang="zh-CN" sz="5400" dirty="0"/>
              <a:t>An</a:t>
            </a:r>
            <a:r>
              <a:rPr lang="zh-CN" altLang="en-US" sz="5400" dirty="0"/>
              <a:t> </a:t>
            </a:r>
            <a:r>
              <a:rPr lang="en-US" altLang="zh-CN" sz="5400" dirty="0"/>
              <a:t>invasive</a:t>
            </a:r>
            <a:r>
              <a:rPr lang="zh-CN" altLang="en-US" sz="5400" dirty="0"/>
              <a:t> </a:t>
            </a:r>
            <a:r>
              <a:rPr lang="en-US" altLang="zh-CN" sz="5400" dirty="0"/>
              <a:t>solution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52F92-D6B3-A507-6710-AA6AF88A2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325563"/>
            <a:ext cx="4332111" cy="5348288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Add</a:t>
            </a:r>
            <a:r>
              <a:rPr lang="zh-CN" altLang="en-US" sz="3200" dirty="0"/>
              <a:t> </a:t>
            </a:r>
            <a:r>
              <a:rPr lang="en-US" altLang="zh-CN" sz="3200" dirty="0"/>
              <a:t>a</a:t>
            </a:r>
            <a:r>
              <a:rPr lang="zh-CN" altLang="en-US" sz="3200" dirty="0"/>
              <a:t> </a:t>
            </a:r>
            <a:r>
              <a:rPr lang="en-US" altLang="zh-CN" sz="3200" dirty="0"/>
              <a:t>virtual</a:t>
            </a:r>
            <a:r>
              <a:rPr lang="zh-CN" altLang="en-US" sz="3200" dirty="0"/>
              <a:t> </a:t>
            </a:r>
            <a:r>
              <a:rPr lang="en-US" altLang="zh-CN" sz="3200" dirty="0"/>
              <a:t>method</a:t>
            </a:r>
            <a:r>
              <a:rPr lang="zh-CN" altLang="en-US" sz="3200" dirty="0"/>
              <a:t> </a:t>
            </a:r>
            <a:r>
              <a:rPr lang="en-US" altLang="zh-CN" sz="3200" dirty="0"/>
              <a:t>to</a:t>
            </a:r>
            <a:r>
              <a:rPr lang="zh-CN" altLang="en-US" sz="3200" dirty="0"/>
              <a:t> </a:t>
            </a:r>
            <a:r>
              <a:rPr lang="en-US" altLang="zh-CN" sz="3200" dirty="0"/>
              <a:t>each</a:t>
            </a:r>
            <a:r>
              <a:rPr lang="zh-CN" altLang="en-US" sz="3200" dirty="0"/>
              <a:t> </a:t>
            </a:r>
            <a:r>
              <a:rPr lang="en-US" altLang="zh-CN" sz="3200" dirty="0"/>
              <a:t>node</a:t>
            </a:r>
            <a:r>
              <a:rPr lang="zh-CN" altLang="en-US" sz="3200" dirty="0"/>
              <a:t> </a:t>
            </a:r>
            <a:r>
              <a:rPr lang="en-US" altLang="zh-CN" sz="3200" dirty="0"/>
              <a:t>for</a:t>
            </a:r>
            <a:r>
              <a:rPr lang="zh-CN" altLang="en-US" sz="3200" dirty="0"/>
              <a:t> </a:t>
            </a:r>
            <a:r>
              <a:rPr lang="en-US" altLang="zh-CN" sz="3200" dirty="0"/>
              <a:t>semantics</a:t>
            </a:r>
            <a:r>
              <a:rPr lang="zh-CN" altLang="en-US" sz="3200" dirty="0"/>
              <a:t> </a:t>
            </a:r>
            <a:r>
              <a:rPr lang="en-US" altLang="zh-CN" sz="3200" dirty="0"/>
              <a:t>check.</a:t>
            </a:r>
          </a:p>
          <a:p>
            <a:r>
              <a:rPr lang="en-US" altLang="zh-CN" sz="3200" dirty="0"/>
              <a:t>Pros:</a:t>
            </a:r>
            <a:r>
              <a:rPr lang="zh-CN" altLang="en-US" sz="3200" dirty="0"/>
              <a:t> </a:t>
            </a:r>
            <a:r>
              <a:rPr lang="en-US" altLang="zh-CN" sz="3200" dirty="0"/>
              <a:t>Straight</a:t>
            </a:r>
            <a:r>
              <a:rPr lang="zh-CN" altLang="en-US" sz="3200" dirty="0"/>
              <a:t> </a:t>
            </a:r>
            <a:r>
              <a:rPr lang="en-US" altLang="zh-CN" sz="3200" dirty="0"/>
              <a:t>forward</a:t>
            </a:r>
          </a:p>
          <a:p>
            <a:r>
              <a:rPr lang="en-US" altLang="zh-CN" sz="3200" dirty="0"/>
              <a:t>Cons:</a:t>
            </a:r>
            <a:r>
              <a:rPr lang="zh-CN" altLang="en-US" sz="3200" dirty="0"/>
              <a:t> </a:t>
            </a:r>
            <a:r>
              <a:rPr lang="en-US" altLang="zh-CN" sz="3200" dirty="0"/>
              <a:t>Invasive,</a:t>
            </a:r>
            <a:r>
              <a:rPr lang="zh-CN" altLang="en-US" sz="3200" dirty="0"/>
              <a:t> </a:t>
            </a:r>
            <a:r>
              <a:rPr lang="en-US" altLang="zh-CN" sz="3200" dirty="0"/>
              <a:t>very</a:t>
            </a:r>
            <a:r>
              <a:rPr lang="zh-CN" altLang="en-US" sz="3200" dirty="0"/>
              <a:t> </a:t>
            </a:r>
            <a:r>
              <a:rPr lang="en-US" altLang="zh-CN" sz="3200" dirty="0"/>
              <a:t>invasive.</a:t>
            </a:r>
          </a:p>
          <a:p>
            <a:pPr lvl="1"/>
            <a:r>
              <a:rPr lang="en-US" altLang="zh-CN" sz="2800" dirty="0"/>
              <a:t>Why</a:t>
            </a:r>
            <a:r>
              <a:rPr lang="zh-CN" altLang="en-US" sz="2800" dirty="0"/>
              <a:t> </a:t>
            </a:r>
            <a:r>
              <a:rPr lang="en-US" altLang="zh-CN" sz="2800" dirty="0"/>
              <a:t>is</a:t>
            </a:r>
            <a:r>
              <a:rPr lang="zh-CN" altLang="en-US" sz="2800" dirty="0"/>
              <a:t> </a:t>
            </a:r>
            <a:r>
              <a:rPr lang="en-US" altLang="zh-CN" sz="2800" dirty="0"/>
              <a:t>it</a:t>
            </a:r>
            <a:r>
              <a:rPr lang="zh-CN" altLang="en-US" sz="2800" dirty="0"/>
              <a:t> </a:t>
            </a:r>
            <a:r>
              <a:rPr lang="en-US" altLang="zh-CN" sz="2800" dirty="0"/>
              <a:t>bad?</a:t>
            </a:r>
          </a:p>
          <a:p>
            <a:r>
              <a:rPr lang="en-US" sz="3200" dirty="0"/>
              <a:t>Kee</a:t>
            </a:r>
            <a:r>
              <a:rPr lang="en-US" altLang="zh-CN" sz="3200" dirty="0"/>
              <a:t>p</a:t>
            </a:r>
            <a:r>
              <a:rPr lang="zh-CN" altLang="en-US" sz="3200" dirty="0"/>
              <a:t> </a:t>
            </a:r>
            <a:r>
              <a:rPr lang="en-US" altLang="zh-CN" sz="3200" dirty="0"/>
              <a:t>in</a:t>
            </a:r>
            <a:r>
              <a:rPr lang="zh-CN" altLang="en-US" sz="3200" dirty="0"/>
              <a:t> </a:t>
            </a:r>
            <a:r>
              <a:rPr lang="en-US" altLang="zh-CN" sz="3200" dirty="0" err="1"/>
              <a:t>ur</a:t>
            </a:r>
            <a:r>
              <a:rPr lang="zh-CN" altLang="en-US" sz="3200" dirty="0"/>
              <a:t> </a:t>
            </a:r>
            <a:r>
              <a:rPr lang="en-US" altLang="zh-CN" sz="3200" dirty="0"/>
              <a:t>mind:</a:t>
            </a:r>
            <a:r>
              <a:rPr lang="zh-CN" altLang="en-US" sz="3200" dirty="0"/>
              <a:t> </a:t>
            </a:r>
            <a:r>
              <a:rPr lang="en-US" altLang="zh-CN" sz="3200" dirty="0"/>
              <a:t>I</a:t>
            </a:r>
            <a:r>
              <a:rPr lang="zh-CN" altLang="en-US" sz="3200" dirty="0"/>
              <a:t> </a:t>
            </a:r>
            <a:r>
              <a:rPr lang="en-US" altLang="zh-CN" sz="3200" dirty="0"/>
              <a:t>am</a:t>
            </a:r>
            <a:r>
              <a:rPr lang="zh-CN" altLang="en-US" sz="3200" dirty="0"/>
              <a:t> </a:t>
            </a:r>
            <a:r>
              <a:rPr lang="en-US" altLang="zh-CN" sz="3200" dirty="0"/>
              <a:t>working</a:t>
            </a:r>
            <a:r>
              <a:rPr lang="zh-CN" altLang="en-US" sz="3200" dirty="0"/>
              <a:t> </a:t>
            </a:r>
            <a:r>
              <a:rPr lang="en-US" altLang="zh-CN" sz="3200" dirty="0"/>
              <a:t>on</a:t>
            </a:r>
            <a:r>
              <a:rPr lang="zh-CN" altLang="en-US" sz="3200" dirty="0"/>
              <a:t> </a:t>
            </a:r>
            <a:r>
              <a:rPr lang="en-US" altLang="zh-CN" sz="3200" dirty="0"/>
              <a:t>a</a:t>
            </a:r>
            <a:r>
              <a:rPr lang="zh-CN" altLang="en-US" sz="3200" dirty="0"/>
              <a:t> </a:t>
            </a:r>
            <a:r>
              <a:rPr lang="en-US" altLang="zh-CN" sz="3200" dirty="0"/>
              <a:t>big</a:t>
            </a:r>
            <a:r>
              <a:rPr lang="zh-CN" altLang="en-US" sz="3200" dirty="0"/>
              <a:t> </a:t>
            </a:r>
            <a:r>
              <a:rPr lang="en-US" altLang="zh-CN" sz="3200" dirty="0" err="1"/>
              <a:t>proj</a:t>
            </a:r>
            <a:r>
              <a:rPr lang="en-US" altLang="zh-CN" sz="3200" dirty="0"/>
              <a:t>,</a:t>
            </a:r>
            <a:r>
              <a:rPr lang="zh-CN" altLang="en-US" sz="3200" dirty="0"/>
              <a:t> </a:t>
            </a:r>
            <a:r>
              <a:rPr lang="en-US" altLang="zh-CN" sz="3200" dirty="0"/>
              <a:t>and</a:t>
            </a:r>
            <a:r>
              <a:rPr lang="zh-CN" altLang="en-US" sz="3200" dirty="0"/>
              <a:t> </a:t>
            </a:r>
            <a:r>
              <a:rPr lang="en-US" altLang="zh-CN" sz="3200" dirty="0"/>
              <a:t>I</a:t>
            </a:r>
            <a:r>
              <a:rPr lang="zh-CN" altLang="en-US" sz="3200" dirty="0"/>
              <a:t> </a:t>
            </a:r>
            <a:r>
              <a:rPr lang="en-US" altLang="zh-CN" sz="3200" dirty="0"/>
              <a:t>am</a:t>
            </a:r>
            <a:r>
              <a:rPr lang="zh-CN" altLang="en-US" sz="3200" dirty="0"/>
              <a:t> </a:t>
            </a:r>
            <a:r>
              <a:rPr lang="en-US" altLang="zh-CN" sz="3200" dirty="0"/>
              <a:t>working</a:t>
            </a:r>
            <a:r>
              <a:rPr lang="zh-CN" altLang="en-US" sz="3200" dirty="0"/>
              <a:t> </a:t>
            </a:r>
            <a:r>
              <a:rPr lang="en-US" altLang="zh-CN" sz="3200" dirty="0"/>
              <a:t>w/</a:t>
            </a:r>
            <a:r>
              <a:rPr lang="zh-CN" altLang="en-US" sz="3200" dirty="0"/>
              <a:t> </a:t>
            </a:r>
            <a:r>
              <a:rPr lang="en-US" altLang="zh-CN" sz="3200" dirty="0"/>
              <a:t>others</a:t>
            </a:r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4EF81-FFBD-6422-9B97-CBA3FEE0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41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1377FD-B708-CB0C-1B5D-21FE57D60918}"/>
              </a:ext>
            </a:extLst>
          </p:cNvPr>
          <p:cNvSpPr txBox="1"/>
          <p:nvPr/>
        </p:nvSpPr>
        <p:spPr>
          <a:xfrm>
            <a:off x="4981222" y="1509713"/>
            <a:ext cx="6821098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CompoundStmt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ASTNode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semanticsCheck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(...)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context</a:t>
            </a:r>
            <a:b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50607E-9106-50F5-8D95-F60BC5B06E57}"/>
              </a:ext>
            </a:extLst>
          </p:cNvPr>
          <p:cNvSpPr txBox="1"/>
          <p:nvPr/>
        </p:nvSpPr>
        <p:spPr>
          <a:xfrm>
            <a:off x="4981222" y="3157890"/>
            <a:ext cx="6821098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DeclStmt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ASTNode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semanticsCheck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(...)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context</a:t>
            </a:r>
            <a:b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B47913-82BC-CE40-7B49-F3620ABA8484}"/>
              </a:ext>
            </a:extLst>
          </p:cNvPr>
          <p:cNvSpPr txBox="1"/>
          <p:nvPr/>
        </p:nvSpPr>
        <p:spPr>
          <a:xfrm>
            <a:off x="4981222" y="4806067"/>
            <a:ext cx="6821098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RefVar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ASTNode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semanticsCheck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(...)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find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context</a:t>
            </a:r>
            <a:b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0135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88D2-6651-A60F-8908-D85827F91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422" y="99395"/>
            <a:ext cx="11729156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Visitor</a:t>
            </a:r>
            <a:r>
              <a:rPr lang="zh-CN" altLang="en-US" sz="5400" dirty="0"/>
              <a:t> </a:t>
            </a:r>
            <a:r>
              <a:rPr lang="en-US" altLang="zh-CN" sz="5400" dirty="0"/>
              <a:t>Pattern</a:t>
            </a:r>
            <a:r>
              <a:rPr lang="zh-CN" altLang="en-US" sz="5400" dirty="0"/>
              <a:t> </a:t>
            </a:r>
            <a:r>
              <a:rPr lang="en-US" altLang="zh-CN" sz="5400" dirty="0"/>
              <a:t>is</a:t>
            </a:r>
            <a:r>
              <a:rPr lang="zh-CN" altLang="en-US" sz="5400" dirty="0"/>
              <a:t> </a:t>
            </a:r>
            <a:r>
              <a:rPr lang="en-US" altLang="zh-CN" sz="5400" dirty="0"/>
              <a:t>a</a:t>
            </a:r>
            <a:r>
              <a:rPr lang="zh-CN" altLang="en-US" sz="5400" dirty="0"/>
              <a:t> </a:t>
            </a:r>
            <a:r>
              <a:rPr lang="en-US" altLang="zh-CN" sz="5400" dirty="0"/>
              <a:t>Visitor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16C7D-5170-3612-7963-58C2B5240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475860"/>
            <a:ext cx="11096978" cy="700897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Visitor</a:t>
            </a:r>
            <a:r>
              <a:rPr lang="zh-CN" altLang="en-US" sz="3200" dirty="0"/>
              <a:t> </a:t>
            </a:r>
            <a:r>
              <a:rPr lang="en-US" altLang="zh-CN" sz="3200" dirty="0"/>
              <a:t>pattern</a:t>
            </a:r>
            <a:r>
              <a:rPr lang="zh-CN" altLang="en-US" sz="3200" dirty="0"/>
              <a:t> </a:t>
            </a:r>
            <a:r>
              <a:rPr lang="en-US" altLang="zh-CN" sz="3200" dirty="0"/>
              <a:t>is</a:t>
            </a:r>
            <a:r>
              <a:rPr lang="zh-CN" altLang="en-US" sz="3200" dirty="0"/>
              <a:t> </a:t>
            </a:r>
            <a:r>
              <a:rPr lang="en-US" altLang="zh-CN" sz="3200" dirty="0"/>
              <a:t>a</a:t>
            </a:r>
            <a:r>
              <a:rPr lang="zh-CN" altLang="en-US" sz="3200" dirty="0"/>
              <a:t> </a:t>
            </a:r>
            <a:r>
              <a:rPr lang="en-US" altLang="zh-CN" sz="3200" dirty="0"/>
              <a:t>visitor</a:t>
            </a:r>
            <a:r>
              <a:rPr lang="zh-CN" altLang="en-US" sz="3200" dirty="0"/>
              <a:t> </a:t>
            </a:r>
            <a:r>
              <a:rPr lang="en-US" altLang="zh-CN" sz="3200" dirty="0"/>
              <a:t>to</a:t>
            </a:r>
            <a:r>
              <a:rPr lang="zh-CN" altLang="en-US" sz="3200" dirty="0"/>
              <a:t> </a:t>
            </a:r>
            <a:r>
              <a:rPr lang="en-US" altLang="zh-CN" sz="3200" dirty="0"/>
              <a:t>traverse</a:t>
            </a:r>
            <a:r>
              <a:rPr lang="zh-CN" altLang="en-US" sz="3200" dirty="0"/>
              <a:t> </a:t>
            </a:r>
            <a:r>
              <a:rPr lang="en-US" altLang="zh-CN" sz="3200" dirty="0"/>
              <a:t>each</a:t>
            </a:r>
            <a:r>
              <a:rPr lang="zh-CN" altLang="en-US" sz="3200" dirty="0"/>
              <a:t> </a:t>
            </a:r>
            <a:r>
              <a:rPr lang="en-US" altLang="zh-CN" sz="3200" dirty="0"/>
              <a:t>node</a:t>
            </a:r>
            <a:r>
              <a:rPr lang="zh-CN" altLang="en-US" sz="3200" dirty="0"/>
              <a:t> </a:t>
            </a:r>
            <a:r>
              <a:rPr lang="en-US" altLang="zh-CN" sz="3200" dirty="0"/>
              <a:t>in</a:t>
            </a:r>
            <a:r>
              <a:rPr lang="zh-CN" altLang="en-US" sz="3200" dirty="0"/>
              <a:t> </a:t>
            </a:r>
            <a:r>
              <a:rPr lang="en-US" altLang="zh-CN" sz="3200" dirty="0"/>
              <a:t>depth</a:t>
            </a:r>
            <a:r>
              <a:rPr lang="zh-CN" altLang="en-US" sz="3200" dirty="0"/>
              <a:t> </a:t>
            </a:r>
            <a:r>
              <a:rPr lang="en-US" altLang="zh-CN" sz="3200" dirty="0"/>
              <a:t>first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E204A-3ABC-0861-FE53-F5901221F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42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408FAE-6D6E-BAB1-73AF-69BABF45C399}"/>
              </a:ext>
            </a:extLst>
          </p:cNvPr>
          <p:cNvSpPr txBox="1"/>
          <p:nvPr/>
        </p:nvSpPr>
        <p:spPr>
          <a:xfrm>
            <a:off x="2221420" y="2151122"/>
            <a:ext cx="7558479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VisitorBase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visit(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CompoundStmt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s-&gt;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stmts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this-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&gt;visit(s);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visit(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DeclStmt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this-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&gt;visit(s-&gt;var);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(s-&gt;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this-&gt;visit(s-&gt;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visit(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RefVar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leaf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1863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30E83-F258-ECF0-5E61-037CCD511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D83CB-B365-1750-1135-1993EE952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422" y="99395"/>
            <a:ext cx="11729156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Visitor</a:t>
            </a:r>
            <a:r>
              <a:rPr lang="zh-CN" altLang="en-US" sz="5400" dirty="0"/>
              <a:t> </a:t>
            </a:r>
            <a:r>
              <a:rPr lang="en-US" altLang="zh-CN" sz="5400" dirty="0"/>
              <a:t>Pattern:</a:t>
            </a:r>
            <a:r>
              <a:rPr lang="zh-CN" altLang="en-US" sz="5400" dirty="0"/>
              <a:t> </a:t>
            </a:r>
            <a:r>
              <a:rPr lang="en-US" altLang="zh-CN" sz="5400" dirty="0"/>
              <a:t>Passive</a:t>
            </a:r>
            <a:r>
              <a:rPr lang="zh-CN" altLang="en-US" sz="5400" dirty="0"/>
              <a:t> </a:t>
            </a:r>
            <a:r>
              <a:rPr lang="en-US" altLang="zh-CN" sz="5400" dirty="0"/>
              <a:t>Voice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F17E4-5908-8AFC-CF3D-7F7BEB57E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475860"/>
            <a:ext cx="11096978" cy="700897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Visitor</a:t>
            </a:r>
            <a:r>
              <a:rPr lang="zh-CN" altLang="en-US" sz="3200" dirty="0"/>
              <a:t> </a:t>
            </a:r>
            <a:r>
              <a:rPr lang="en-US" altLang="zh-CN" sz="3200" dirty="0"/>
              <a:t>pattern</a:t>
            </a:r>
            <a:r>
              <a:rPr lang="zh-CN" altLang="en-US" sz="3200" dirty="0"/>
              <a:t> </a:t>
            </a:r>
            <a:r>
              <a:rPr lang="en-US" altLang="zh-CN" sz="3200" dirty="0"/>
              <a:t>is</a:t>
            </a:r>
            <a:r>
              <a:rPr lang="zh-CN" altLang="en-US" sz="3200" dirty="0"/>
              <a:t> </a:t>
            </a:r>
            <a:r>
              <a:rPr lang="en-US" altLang="zh-CN" sz="3200" dirty="0"/>
              <a:t>a</a:t>
            </a:r>
            <a:r>
              <a:rPr lang="zh-CN" altLang="en-US" sz="3200" dirty="0"/>
              <a:t> </a:t>
            </a:r>
            <a:r>
              <a:rPr lang="en-US" altLang="zh-CN" sz="3200" dirty="0"/>
              <a:t>visitor</a:t>
            </a:r>
            <a:r>
              <a:rPr lang="zh-CN" altLang="en-US" sz="3200" dirty="0"/>
              <a:t> </a:t>
            </a:r>
            <a:r>
              <a:rPr lang="en-US" altLang="zh-CN" sz="3200" dirty="0"/>
              <a:t>to</a:t>
            </a:r>
            <a:r>
              <a:rPr lang="zh-CN" altLang="en-US" sz="3200" dirty="0"/>
              <a:t> </a:t>
            </a:r>
            <a:r>
              <a:rPr lang="en-US" altLang="zh-CN" sz="3200" dirty="0"/>
              <a:t>traverse</a:t>
            </a:r>
            <a:r>
              <a:rPr lang="zh-CN" altLang="en-US" sz="3200" dirty="0"/>
              <a:t> </a:t>
            </a:r>
            <a:r>
              <a:rPr lang="en-US" altLang="zh-CN" sz="3200" dirty="0"/>
              <a:t>each</a:t>
            </a:r>
            <a:r>
              <a:rPr lang="zh-CN" altLang="en-US" sz="3200" dirty="0"/>
              <a:t> </a:t>
            </a:r>
            <a:r>
              <a:rPr lang="en-US" altLang="zh-CN" sz="3200" dirty="0"/>
              <a:t>node</a:t>
            </a:r>
            <a:r>
              <a:rPr lang="zh-CN" altLang="en-US" sz="3200" dirty="0"/>
              <a:t> </a:t>
            </a:r>
            <a:r>
              <a:rPr lang="en-US" altLang="zh-CN" sz="3200" dirty="0"/>
              <a:t>in</a:t>
            </a:r>
            <a:r>
              <a:rPr lang="zh-CN" altLang="en-US" sz="3200" dirty="0"/>
              <a:t> </a:t>
            </a:r>
            <a:r>
              <a:rPr lang="en-US" altLang="zh-CN" sz="3200" dirty="0"/>
              <a:t>depth</a:t>
            </a:r>
            <a:r>
              <a:rPr lang="zh-CN" altLang="en-US" sz="3200" dirty="0"/>
              <a:t> </a:t>
            </a:r>
            <a:r>
              <a:rPr lang="en-US" altLang="zh-CN" sz="3200" dirty="0"/>
              <a:t>first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74DDC-B26E-CD2A-9397-31EBA675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43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9E2CAA-5241-96A3-9043-D30D76E42E4F}"/>
              </a:ext>
            </a:extLst>
          </p:cNvPr>
          <p:cNvSpPr txBox="1"/>
          <p:nvPr/>
        </p:nvSpPr>
        <p:spPr>
          <a:xfrm>
            <a:off x="1803731" y="2257324"/>
            <a:ext cx="7927170" cy="41549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Sema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VisitorBase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visit(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CompoundStmt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override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ctx.push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s-&gt;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stmts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this-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&gt;visit(s);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ctx.pop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zh-CN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visit(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DeclStmt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override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ctx.add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(s-&gt;var);</a:t>
            </a:r>
          </a:p>
          <a:p>
            <a:r>
              <a:rPr lang="zh-CN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(s-&gt;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this-&gt;visit(s-&gt;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visit(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RefVar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ctx.find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(r);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980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CB8DF-FD2C-CD31-3917-8A07B9D33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66" y="269169"/>
            <a:ext cx="11946467" cy="1325563"/>
          </a:xfrm>
        </p:spPr>
        <p:txBody>
          <a:bodyPr>
            <a:noAutofit/>
          </a:bodyPr>
          <a:lstStyle/>
          <a:p>
            <a:r>
              <a:rPr lang="en-US" altLang="zh-CN" sz="5400" dirty="0"/>
              <a:t>Visitor</a:t>
            </a:r>
            <a:r>
              <a:rPr lang="zh-CN" altLang="en-US" sz="5400" dirty="0"/>
              <a:t> </a:t>
            </a:r>
            <a:r>
              <a:rPr lang="en-US" altLang="zh-CN" sz="5400" dirty="0"/>
              <a:t>Pattern:</a:t>
            </a:r>
            <a:r>
              <a:rPr lang="zh-CN" altLang="en-US" sz="5400" dirty="0"/>
              <a:t> </a:t>
            </a:r>
            <a:r>
              <a:rPr lang="en-US" altLang="zh-CN" sz="5400" dirty="0"/>
              <a:t>A</a:t>
            </a:r>
            <a:r>
              <a:rPr lang="zh-CN" altLang="en-US" sz="5400" dirty="0"/>
              <a:t> </a:t>
            </a:r>
            <a:r>
              <a:rPr lang="en-US" altLang="zh-CN" sz="5400" dirty="0"/>
              <a:t>Low-invasion</a:t>
            </a:r>
            <a:r>
              <a:rPr lang="zh-CN" altLang="en-US" sz="5400" dirty="0"/>
              <a:t> </a:t>
            </a:r>
            <a:r>
              <a:rPr lang="en-US" altLang="zh-CN" sz="5400" dirty="0"/>
              <a:t>Alternative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EA3E9-6472-28B1-74AB-178062F15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0267"/>
            <a:ext cx="10515600" cy="454942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Before:</a:t>
            </a:r>
            <a:r>
              <a:rPr lang="zh-CN" altLang="en-US" sz="3600" dirty="0"/>
              <a:t> </a:t>
            </a:r>
            <a:r>
              <a:rPr lang="en-US" altLang="zh-CN" sz="3600" dirty="0"/>
              <a:t>Modify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`.h`</a:t>
            </a:r>
            <a:r>
              <a:rPr lang="zh-CN" altLang="en-US" sz="3600" dirty="0"/>
              <a:t> </a:t>
            </a:r>
            <a:r>
              <a:rPr lang="en-US" altLang="zh-CN" sz="3600" dirty="0"/>
              <a:t>node</a:t>
            </a:r>
            <a:r>
              <a:rPr lang="zh-CN" altLang="en-US" sz="3600" dirty="0"/>
              <a:t> </a:t>
            </a:r>
            <a:r>
              <a:rPr lang="en-US" altLang="zh-CN" sz="3600" dirty="0"/>
              <a:t>declaration</a:t>
            </a:r>
          </a:p>
          <a:p>
            <a:pPr lvl="1"/>
            <a:r>
              <a:rPr lang="en-US" altLang="zh-CN" sz="3200" dirty="0"/>
              <a:t>Will</a:t>
            </a:r>
            <a:r>
              <a:rPr lang="zh-CN" altLang="en-US" sz="3200" dirty="0"/>
              <a:t> </a:t>
            </a:r>
            <a:r>
              <a:rPr lang="en-US" altLang="zh-CN" sz="3200" dirty="0"/>
              <a:t>be</a:t>
            </a:r>
            <a:r>
              <a:rPr lang="zh-CN" altLang="en-US" sz="3200" dirty="0"/>
              <a:t> </a:t>
            </a:r>
            <a:r>
              <a:rPr lang="en-US" altLang="zh-CN" sz="3200" dirty="0"/>
              <a:t>discussed</a:t>
            </a:r>
            <a:r>
              <a:rPr lang="zh-CN" altLang="en-US" sz="3200" dirty="0"/>
              <a:t> </a:t>
            </a:r>
            <a:r>
              <a:rPr lang="en-US" altLang="zh-CN" sz="3200" dirty="0"/>
              <a:t>later.</a:t>
            </a:r>
            <a:r>
              <a:rPr lang="zh-CN" altLang="en-US" sz="3200" dirty="0"/>
              <a:t> </a:t>
            </a:r>
            <a:r>
              <a:rPr lang="en-US" altLang="zh-CN" sz="3200" dirty="0"/>
              <a:t>Modifying</a:t>
            </a:r>
            <a:r>
              <a:rPr lang="zh-CN" altLang="en-US" sz="3200" dirty="0"/>
              <a:t> </a:t>
            </a:r>
            <a:r>
              <a:rPr lang="en-US" altLang="zh-CN" sz="3200" dirty="0"/>
              <a:t>`.h`</a:t>
            </a:r>
            <a:r>
              <a:rPr lang="zh-CN" altLang="en-US" sz="3200" dirty="0"/>
              <a:t> </a:t>
            </a:r>
            <a:r>
              <a:rPr lang="en-US" altLang="zh-CN" sz="3200" dirty="0"/>
              <a:t>is</a:t>
            </a:r>
            <a:r>
              <a:rPr lang="zh-CN" altLang="en-US" sz="3200" dirty="0"/>
              <a:t> </a:t>
            </a:r>
            <a:r>
              <a:rPr lang="en-US" altLang="zh-CN" sz="3200" dirty="0"/>
              <a:t>evil.</a:t>
            </a:r>
          </a:p>
          <a:p>
            <a:r>
              <a:rPr lang="en-US" altLang="zh-CN" sz="3600" dirty="0"/>
              <a:t>After:</a:t>
            </a:r>
            <a:r>
              <a:rPr lang="zh-CN" altLang="en-US" sz="3600" dirty="0"/>
              <a:t> </a:t>
            </a:r>
            <a:r>
              <a:rPr lang="en-US" altLang="zh-CN" sz="3600" dirty="0"/>
              <a:t>Extend</a:t>
            </a:r>
            <a:r>
              <a:rPr lang="zh-CN" altLang="en-US" sz="3600" dirty="0"/>
              <a:t> </a:t>
            </a:r>
            <a:r>
              <a:rPr lang="en-US" altLang="zh-CN" sz="3600" dirty="0"/>
              <a:t>your</a:t>
            </a:r>
            <a:r>
              <a:rPr lang="zh-CN" altLang="en-US" sz="3600" dirty="0"/>
              <a:t> </a:t>
            </a:r>
            <a:r>
              <a:rPr lang="en-US" altLang="zh-CN" sz="3600" dirty="0"/>
              <a:t>related</a:t>
            </a:r>
            <a:r>
              <a:rPr lang="zh-CN" altLang="en-US" sz="3600" dirty="0"/>
              <a:t> </a:t>
            </a:r>
            <a:r>
              <a:rPr lang="en-US" altLang="zh-CN" sz="3600" dirty="0"/>
              <a:t>Visitor</a:t>
            </a:r>
            <a:r>
              <a:rPr lang="zh-CN" altLang="en-US" sz="3600" dirty="0"/>
              <a:t> </a:t>
            </a:r>
            <a:r>
              <a:rPr lang="en-US" altLang="zh-CN" sz="3600" dirty="0"/>
              <a:t>in</a:t>
            </a:r>
            <a:r>
              <a:rPr lang="zh-CN" altLang="en-US" sz="3600" dirty="0"/>
              <a:t> </a:t>
            </a:r>
            <a:r>
              <a:rPr lang="en-US" altLang="zh-CN" sz="3600" dirty="0"/>
              <a:t>each</a:t>
            </a:r>
            <a:r>
              <a:rPr lang="zh-CN" altLang="en-US" sz="3600" dirty="0"/>
              <a:t> </a:t>
            </a:r>
            <a:r>
              <a:rPr lang="en-US" altLang="zh-CN" sz="3600" dirty="0"/>
              <a:t>module</a:t>
            </a:r>
          </a:p>
          <a:p>
            <a:pPr lvl="1"/>
            <a:r>
              <a:rPr lang="en-US" altLang="zh-CN" sz="3200" dirty="0"/>
              <a:t>Only</a:t>
            </a:r>
            <a:r>
              <a:rPr lang="zh-CN" altLang="en-US" sz="3200" dirty="0"/>
              <a:t> </a:t>
            </a:r>
            <a:r>
              <a:rPr lang="en-US" altLang="zh-CN" sz="3200" dirty="0"/>
              <a:t>affects</a:t>
            </a:r>
            <a:r>
              <a:rPr lang="zh-CN" altLang="en-US" sz="3200" dirty="0"/>
              <a:t> </a:t>
            </a: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module</a:t>
            </a:r>
            <a:r>
              <a:rPr lang="zh-CN" altLang="en-US" sz="3200" dirty="0"/>
              <a:t> </a:t>
            </a:r>
            <a:r>
              <a:rPr lang="en-US" altLang="zh-CN" sz="3200" dirty="0"/>
              <a:t>itself</a:t>
            </a:r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D8AAB-EB51-D43A-56FC-DC057ED38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44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55429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9679A-2AEC-A294-C948-87F4F41C8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IR</a:t>
            </a:r>
            <a:r>
              <a:rPr lang="zh-CN" altLang="en-US" sz="5400" dirty="0"/>
              <a:t> </a:t>
            </a:r>
            <a:r>
              <a:rPr lang="en-US" altLang="zh-CN" sz="5400" dirty="0" err="1"/>
              <a:t>CodeGen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2F1AC-0A14-24B8-33E5-1AD60E41E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583677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Generate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near-ASM</a:t>
            </a:r>
            <a:r>
              <a:rPr lang="zh-CN" altLang="en-US" sz="3600" dirty="0"/>
              <a:t> </a:t>
            </a:r>
            <a:r>
              <a:rPr lang="en-US" altLang="zh-CN" sz="3600" dirty="0"/>
              <a:t>representation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CN" sz="3600" dirty="0"/>
          </a:p>
          <a:p>
            <a:r>
              <a:rPr lang="en-US" altLang="zh-CN" sz="3600" dirty="0"/>
              <a:t>It</a:t>
            </a:r>
            <a:r>
              <a:rPr lang="zh-CN" altLang="en-US" sz="3600" dirty="0"/>
              <a:t> </a:t>
            </a:r>
            <a:r>
              <a:rPr lang="en-US" altLang="zh-CN" sz="3600" dirty="0"/>
              <a:t>actually</a:t>
            </a:r>
            <a:r>
              <a:rPr lang="zh-CN" altLang="en-US" sz="3600" dirty="0"/>
              <a:t> </a:t>
            </a:r>
            <a:r>
              <a:rPr lang="en-US" altLang="zh-CN" sz="3600" dirty="0"/>
              <a:t>still</a:t>
            </a:r>
            <a:r>
              <a:rPr lang="zh-CN" altLang="en-US" sz="3600" dirty="0"/>
              <a:t> </a:t>
            </a:r>
            <a:r>
              <a:rPr lang="en-US" altLang="zh-CN" sz="3600" dirty="0"/>
              <a:t>works</a:t>
            </a:r>
            <a:r>
              <a:rPr lang="zh-CN" altLang="en-US" sz="3600" dirty="0"/>
              <a:t> </a:t>
            </a:r>
            <a:r>
              <a:rPr lang="en-US" altLang="zh-CN" sz="3600" dirty="0"/>
              <a:t>without</a:t>
            </a:r>
            <a:r>
              <a:rPr lang="zh-CN" altLang="en-US" sz="3600" dirty="0"/>
              <a:t> </a:t>
            </a:r>
            <a:r>
              <a:rPr lang="en-US" altLang="zh-CN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-S</a:t>
            </a:r>
            <a:endParaRPr lang="en-CN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DD11E-289C-510B-0F1C-D1F4CF940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45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F010E2-D275-B831-12D4-3D208439C495}"/>
              </a:ext>
            </a:extLst>
          </p:cNvPr>
          <p:cNvSpPr txBox="1"/>
          <p:nvPr/>
        </p:nvSpPr>
        <p:spPr>
          <a:xfrm>
            <a:off x="1011433" y="2673051"/>
            <a:ext cx="88248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clang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main.c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–c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–O2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–S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–emit-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llvm</a:t>
            </a:r>
            <a:endParaRPr lang="en-CN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F515E5-381B-1964-2D38-B81F726A2564}"/>
              </a:ext>
            </a:extLst>
          </p:cNvPr>
          <p:cNvSpPr/>
          <p:nvPr/>
        </p:nvSpPr>
        <p:spPr>
          <a:xfrm>
            <a:off x="4726838" y="2606285"/>
            <a:ext cx="674914" cy="71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67BABD-E0A5-46E1-C99E-9F622B533047}"/>
              </a:ext>
            </a:extLst>
          </p:cNvPr>
          <p:cNvSpPr/>
          <p:nvPr/>
        </p:nvSpPr>
        <p:spPr>
          <a:xfrm>
            <a:off x="6403238" y="2606285"/>
            <a:ext cx="674914" cy="71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84CE04-4186-F71C-073E-4426EAF751A1}"/>
              </a:ext>
            </a:extLst>
          </p:cNvPr>
          <p:cNvSpPr/>
          <p:nvPr/>
        </p:nvSpPr>
        <p:spPr>
          <a:xfrm>
            <a:off x="5474324" y="2606285"/>
            <a:ext cx="800100" cy="71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DAC047-E565-192F-D640-8A96471A089C}"/>
              </a:ext>
            </a:extLst>
          </p:cNvPr>
          <p:cNvSpPr/>
          <p:nvPr/>
        </p:nvSpPr>
        <p:spPr>
          <a:xfrm>
            <a:off x="7148001" y="2606285"/>
            <a:ext cx="2542721" cy="71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0B64A6-8969-27EE-FD56-93FFBD33D546}"/>
              </a:ext>
            </a:extLst>
          </p:cNvPr>
          <p:cNvSpPr txBox="1"/>
          <p:nvPr/>
        </p:nvSpPr>
        <p:spPr>
          <a:xfrm>
            <a:off x="3660387" y="2224543"/>
            <a:ext cx="2025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Compile</a:t>
            </a:r>
            <a:r>
              <a:rPr lang="zh-CN" altLang="en-US" sz="2000" dirty="0"/>
              <a:t> </a:t>
            </a:r>
            <a:r>
              <a:rPr lang="en-US" altLang="zh-CN" sz="2000" dirty="0"/>
              <a:t>w/o</a:t>
            </a:r>
            <a:r>
              <a:rPr lang="zh-CN" altLang="en-US" sz="2000" dirty="0"/>
              <a:t> </a:t>
            </a:r>
            <a:r>
              <a:rPr lang="en-US" altLang="zh-CN" sz="2000" dirty="0"/>
              <a:t>link</a:t>
            </a:r>
            <a:endParaRPr lang="en-CN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D79828-0D68-C96E-ECD7-09737506B21E}"/>
              </a:ext>
            </a:extLst>
          </p:cNvPr>
          <p:cNvSpPr txBox="1"/>
          <p:nvPr/>
        </p:nvSpPr>
        <p:spPr>
          <a:xfrm>
            <a:off x="5401752" y="3342306"/>
            <a:ext cx="11826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Optimize</a:t>
            </a:r>
            <a:endParaRPr lang="en-CN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2E8AC4-5A03-0123-2D7C-BA559638C8D2}"/>
              </a:ext>
            </a:extLst>
          </p:cNvPr>
          <p:cNvSpPr txBox="1"/>
          <p:nvPr/>
        </p:nvSpPr>
        <p:spPr>
          <a:xfrm>
            <a:off x="6057276" y="2244060"/>
            <a:ext cx="1405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Text</a:t>
            </a:r>
            <a:r>
              <a:rPr lang="zh-CN" altLang="en-US" sz="2000" dirty="0"/>
              <a:t> </a:t>
            </a:r>
            <a:r>
              <a:rPr lang="en-US" altLang="zh-CN" sz="2000" dirty="0"/>
              <a:t>format</a:t>
            </a:r>
            <a:endParaRPr lang="en-CN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B073F3-3B22-43AB-E149-F96702E72839}"/>
              </a:ext>
            </a:extLst>
          </p:cNvPr>
          <p:cNvSpPr txBox="1"/>
          <p:nvPr/>
        </p:nvSpPr>
        <p:spPr>
          <a:xfrm>
            <a:off x="7148001" y="3324592"/>
            <a:ext cx="20235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Emit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LLVM</a:t>
            </a:r>
            <a:r>
              <a:rPr lang="zh-CN" altLang="en-US" sz="2000" dirty="0"/>
              <a:t> </a:t>
            </a:r>
            <a:r>
              <a:rPr lang="en-US" altLang="zh-CN" sz="2000" dirty="0"/>
              <a:t>IR</a:t>
            </a:r>
            <a:endParaRPr lang="en-CN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C60EBE-0192-1556-AF18-66B5527E08C4}"/>
              </a:ext>
            </a:extLst>
          </p:cNvPr>
          <p:cNvSpPr/>
          <p:nvPr/>
        </p:nvSpPr>
        <p:spPr>
          <a:xfrm>
            <a:off x="113059" y="5987143"/>
            <a:ext cx="480500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PP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82D481-B203-0BC8-D454-A68F516898F9}"/>
              </a:ext>
            </a:extLst>
          </p:cNvPr>
          <p:cNvSpPr/>
          <p:nvPr/>
        </p:nvSpPr>
        <p:spPr>
          <a:xfrm>
            <a:off x="785197" y="5987142"/>
            <a:ext cx="1110342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Tokenizer</a:t>
            </a:r>
            <a:endParaRPr lang="en-C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FA9925-9579-51D9-B365-817E7583A597}"/>
              </a:ext>
            </a:extLst>
          </p:cNvPr>
          <p:cNvSpPr/>
          <p:nvPr/>
        </p:nvSpPr>
        <p:spPr>
          <a:xfrm>
            <a:off x="1997013" y="5987142"/>
            <a:ext cx="1028977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Parser</a:t>
            </a:r>
            <a:endParaRPr lang="en-C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1DEEC6-7C91-D5F9-F472-F6BA4937C2CC}"/>
              </a:ext>
            </a:extLst>
          </p:cNvPr>
          <p:cNvSpPr/>
          <p:nvPr/>
        </p:nvSpPr>
        <p:spPr>
          <a:xfrm>
            <a:off x="3134846" y="5987142"/>
            <a:ext cx="1140907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IR</a:t>
            </a:r>
            <a:r>
              <a:rPr lang="zh-CN" altLang="en-US" dirty="0"/>
              <a:t> </a:t>
            </a:r>
            <a:r>
              <a:rPr lang="en-US" altLang="zh-CN" dirty="0" err="1"/>
              <a:t>CodeGen</a:t>
            </a:r>
            <a:endParaRPr lang="en-C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411217-2239-3A3D-352A-A914D725ECF8}"/>
              </a:ext>
            </a:extLst>
          </p:cNvPr>
          <p:cNvSpPr txBox="1"/>
          <p:nvPr/>
        </p:nvSpPr>
        <p:spPr>
          <a:xfrm>
            <a:off x="1873317" y="6492874"/>
            <a:ext cx="1084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Frontend</a:t>
            </a:r>
            <a:endParaRPr lang="en-CN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0913E6D-E3D9-8A79-9C9A-6AFBDB53205C}"/>
              </a:ext>
            </a:extLst>
          </p:cNvPr>
          <p:cNvCxnSpPr/>
          <p:nvPr/>
        </p:nvCxnSpPr>
        <p:spPr>
          <a:xfrm>
            <a:off x="683722" y="5646057"/>
            <a:ext cx="0" cy="12119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3295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D78ED-2853-9950-E4B1-2300A4FBE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AE253-3280-7218-509E-6EB4B55F4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IR</a:t>
            </a:r>
            <a:r>
              <a:rPr lang="zh-CN" altLang="en-US" sz="5400" dirty="0"/>
              <a:t> </a:t>
            </a:r>
            <a:r>
              <a:rPr lang="en-US" altLang="zh-CN" sz="5400" dirty="0" err="1"/>
              <a:t>CodeGen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0BED6-FB59-5BB9-5F70-6466A308A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1487941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Generate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near-ASM</a:t>
            </a:r>
            <a:r>
              <a:rPr lang="zh-CN" altLang="en-US" sz="3600" dirty="0"/>
              <a:t> </a:t>
            </a:r>
            <a:r>
              <a:rPr lang="en-US" altLang="zh-CN" sz="3600" dirty="0"/>
              <a:t>representation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A3015-A0C2-3254-EFD5-6AE8F2C63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46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4D085A-8F65-D699-4B46-C42C461B7B9C}"/>
              </a:ext>
            </a:extLst>
          </p:cNvPr>
          <p:cNvSpPr txBox="1"/>
          <p:nvPr/>
        </p:nvSpPr>
        <p:spPr>
          <a:xfrm>
            <a:off x="1501764" y="2673051"/>
            <a:ext cx="83311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clang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main.c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–c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–O2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–S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–emit-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llvm</a:t>
            </a:r>
            <a:endParaRPr lang="en-CN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A4E2D7-5E92-998A-F63C-BF063B3F5190}"/>
              </a:ext>
            </a:extLst>
          </p:cNvPr>
          <p:cNvSpPr/>
          <p:nvPr/>
        </p:nvSpPr>
        <p:spPr>
          <a:xfrm>
            <a:off x="4726838" y="2606285"/>
            <a:ext cx="674914" cy="71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97FA3B-6D69-1452-FFA0-F3229DD3FCF8}"/>
              </a:ext>
            </a:extLst>
          </p:cNvPr>
          <p:cNvSpPr/>
          <p:nvPr/>
        </p:nvSpPr>
        <p:spPr>
          <a:xfrm>
            <a:off x="6403238" y="2606285"/>
            <a:ext cx="674914" cy="71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44895F-E3ED-90AD-1226-061834CDAEA3}"/>
              </a:ext>
            </a:extLst>
          </p:cNvPr>
          <p:cNvSpPr/>
          <p:nvPr/>
        </p:nvSpPr>
        <p:spPr>
          <a:xfrm>
            <a:off x="5474324" y="2606285"/>
            <a:ext cx="800100" cy="71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3D3FA7-A939-DC3C-7496-7E6816F1CA4B}"/>
              </a:ext>
            </a:extLst>
          </p:cNvPr>
          <p:cNvSpPr/>
          <p:nvPr/>
        </p:nvSpPr>
        <p:spPr>
          <a:xfrm>
            <a:off x="7148001" y="2606285"/>
            <a:ext cx="2542721" cy="71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F91D88-F01A-0D83-7536-D8F0E7B0015C}"/>
              </a:ext>
            </a:extLst>
          </p:cNvPr>
          <p:cNvSpPr txBox="1"/>
          <p:nvPr/>
        </p:nvSpPr>
        <p:spPr>
          <a:xfrm>
            <a:off x="3660387" y="2224543"/>
            <a:ext cx="2025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Compile</a:t>
            </a:r>
            <a:r>
              <a:rPr lang="zh-CN" altLang="en-US" sz="2000" dirty="0"/>
              <a:t> </a:t>
            </a:r>
            <a:r>
              <a:rPr lang="en-US" altLang="zh-CN" sz="2000" dirty="0"/>
              <a:t>w/o</a:t>
            </a:r>
            <a:r>
              <a:rPr lang="zh-CN" altLang="en-US" sz="2000" dirty="0"/>
              <a:t> </a:t>
            </a:r>
            <a:r>
              <a:rPr lang="en-US" altLang="zh-CN" sz="2000" dirty="0"/>
              <a:t>link</a:t>
            </a:r>
            <a:endParaRPr lang="en-CN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1D8310-2352-4DC2-B546-4FEB51F27E19}"/>
              </a:ext>
            </a:extLst>
          </p:cNvPr>
          <p:cNvSpPr txBox="1"/>
          <p:nvPr/>
        </p:nvSpPr>
        <p:spPr>
          <a:xfrm>
            <a:off x="5401752" y="3342306"/>
            <a:ext cx="11826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Optimize</a:t>
            </a:r>
            <a:endParaRPr lang="en-CN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31EB9A-63C6-0742-44CB-41E46B533A31}"/>
              </a:ext>
            </a:extLst>
          </p:cNvPr>
          <p:cNvSpPr txBox="1"/>
          <p:nvPr/>
        </p:nvSpPr>
        <p:spPr>
          <a:xfrm>
            <a:off x="6057276" y="2244060"/>
            <a:ext cx="1405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Text</a:t>
            </a:r>
            <a:r>
              <a:rPr lang="zh-CN" altLang="en-US" sz="2000" dirty="0"/>
              <a:t> </a:t>
            </a:r>
            <a:r>
              <a:rPr lang="en-US" altLang="zh-CN" sz="2000" dirty="0"/>
              <a:t>format</a:t>
            </a:r>
            <a:endParaRPr lang="en-CN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FB6E32-F647-2FC5-F86D-12C5022FD21C}"/>
              </a:ext>
            </a:extLst>
          </p:cNvPr>
          <p:cNvSpPr txBox="1"/>
          <p:nvPr/>
        </p:nvSpPr>
        <p:spPr>
          <a:xfrm>
            <a:off x="7148001" y="3324592"/>
            <a:ext cx="20235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Emit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LLVM</a:t>
            </a:r>
            <a:r>
              <a:rPr lang="zh-CN" altLang="en-US" sz="2000" dirty="0"/>
              <a:t> </a:t>
            </a:r>
            <a:r>
              <a:rPr lang="en-US" altLang="zh-CN" sz="2000" dirty="0"/>
              <a:t>IR</a:t>
            </a:r>
            <a:endParaRPr lang="en-CN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7934EBD-0E0F-2F77-B3FA-E61C93776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846925"/>
            <a:ext cx="7772400" cy="282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6475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381F8-BC98-6833-466B-4D1B14E89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Intermediate</a:t>
            </a:r>
            <a:r>
              <a:rPr lang="zh-CN" altLang="en-US" sz="5400" dirty="0"/>
              <a:t> </a:t>
            </a:r>
            <a:r>
              <a:rPr lang="en-US" altLang="zh-CN" sz="5400" dirty="0"/>
              <a:t>Representation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61040-D3A0-C34F-E3FB-48F3A9372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086"/>
            <a:ext cx="2601686" cy="755651"/>
          </a:xfrm>
        </p:spPr>
        <p:txBody>
          <a:bodyPr>
            <a:normAutofit/>
          </a:bodyPr>
          <a:lstStyle/>
          <a:p>
            <a:r>
              <a:rPr lang="en-US" altLang="zh-CN" sz="3600" dirty="0" err="1"/>
              <a:t>NxM</a:t>
            </a:r>
            <a:r>
              <a:rPr lang="en-US" altLang="zh-CN" sz="3600" dirty="0"/>
              <a:t>-Effort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9632A-97C3-0F77-292B-507781C59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47</a:t>
            </a:fld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6573C5-037D-5E77-E2A6-8EE8FB314A59}"/>
              </a:ext>
            </a:extLst>
          </p:cNvPr>
          <p:cNvSpPr/>
          <p:nvPr/>
        </p:nvSpPr>
        <p:spPr>
          <a:xfrm>
            <a:off x="1705428" y="2561771"/>
            <a:ext cx="1132113" cy="6821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/>
              <a:t>C</a:t>
            </a:r>
            <a:endParaRPr lang="en-CN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DEF775-392B-9A05-10DC-2A7B15F641D5}"/>
              </a:ext>
            </a:extLst>
          </p:cNvPr>
          <p:cNvSpPr/>
          <p:nvPr/>
        </p:nvSpPr>
        <p:spPr>
          <a:xfrm>
            <a:off x="1698171" y="3378880"/>
            <a:ext cx="1139371" cy="6821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/>
              <a:t>C++</a:t>
            </a:r>
            <a:endParaRPr lang="en-CN" sz="3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E45DB7-9190-BC1E-92F4-B0BFB8B3F596}"/>
              </a:ext>
            </a:extLst>
          </p:cNvPr>
          <p:cNvSpPr/>
          <p:nvPr/>
        </p:nvSpPr>
        <p:spPr>
          <a:xfrm>
            <a:off x="1698171" y="4195989"/>
            <a:ext cx="1132113" cy="6821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/>
              <a:t>Rust</a:t>
            </a:r>
            <a:endParaRPr lang="en-CN" sz="3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ECC3F1-893F-7506-545C-54243924694E}"/>
              </a:ext>
            </a:extLst>
          </p:cNvPr>
          <p:cNvSpPr/>
          <p:nvPr/>
        </p:nvSpPr>
        <p:spPr>
          <a:xfrm>
            <a:off x="1690912" y="5013098"/>
            <a:ext cx="1132113" cy="6821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/>
              <a:t>Go</a:t>
            </a:r>
            <a:endParaRPr lang="en-CN" sz="3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C7BE8E-6013-7C32-AF30-BF16657682CE}"/>
              </a:ext>
            </a:extLst>
          </p:cNvPr>
          <p:cNvSpPr/>
          <p:nvPr/>
        </p:nvSpPr>
        <p:spPr>
          <a:xfrm>
            <a:off x="4143827" y="2079625"/>
            <a:ext cx="1132113" cy="6821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/>
              <a:t>X86</a:t>
            </a:r>
            <a:endParaRPr lang="en-CN" sz="3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D2A022-92F4-20E0-334C-BF284D53578F}"/>
              </a:ext>
            </a:extLst>
          </p:cNvPr>
          <p:cNvSpPr/>
          <p:nvPr/>
        </p:nvSpPr>
        <p:spPr>
          <a:xfrm>
            <a:off x="4143826" y="2896734"/>
            <a:ext cx="1132113" cy="6821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/>
              <a:t>ARM</a:t>
            </a:r>
            <a:endParaRPr lang="en-CN" sz="3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951F4C-AE7F-2FC0-4695-F209A921F6B2}"/>
              </a:ext>
            </a:extLst>
          </p:cNvPr>
          <p:cNvSpPr/>
          <p:nvPr/>
        </p:nvSpPr>
        <p:spPr>
          <a:xfrm>
            <a:off x="4063994" y="3713843"/>
            <a:ext cx="1291775" cy="6821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/>
              <a:t>RISCV</a:t>
            </a:r>
            <a:endParaRPr lang="en-CN" sz="3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DD06E5-8074-E005-2ABA-53C2876EDAFE}"/>
              </a:ext>
            </a:extLst>
          </p:cNvPr>
          <p:cNvSpPr/>
          <p:nvPr/>
        </p:nvSpPr>
        <p:spPr>
          <a:xfrm>
            <a:off x="4063994" y="4530951"/>
            <a:ext cx="1291775" cy="8171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/>
              <a:t>PowerPC</a:t>
            </a:r>
            <a:endParaRPr lang="en-CN" sz="3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DB57DA-4FD3-1DDF-1588-3BC23A7F2686}"/>
              </a:ext>
            </a:extLst>
          </p:cNvPr>
          <p:cNvSpPr/>
          <p:nvPr/>
        </p:nvSpPr>
        <p:spPr>
          <a:xfrm>
            <a:off x="4063993" y="5480958"/>
            <a:ext cx="1291775" cy="5492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err="1"/>
              <a:t>Hexa</a:t>
            </a:r>
            <a:endParaRPr lang="en-CN" sz="32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91870BE-AC18-81FF-6698-E7DE80768736}"/>
              </a:ext>
            </a:extLst>
          </p:cNvPr>
          <p:cNvCxnSpPr>
            <a:endCxn id="13" idx="1"/>
          </p:cNvCxnSpPr>
          <p:nvPr/>
        </p:nvCxnSpPr>
        <p:spPr>
          <a:xfrm>
            <a:off x="2837541" y="2881086"/>
            <a:ext cx="1226452" cy="2874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D22C59E-79AD-2340-0E08-E8416210AC28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>
            <a:off x="2837542" y="3719966"/>
            <a:ext cx="1226451" cy="2035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C1D7DF7-CFAB-942C-5744-F0F829AE3755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2830284" y="4537075"/>
            <a:ext cx="1233709" cy="1218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0694D93-E5AB-1C33-011E-307B0969C486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>
          <a:xfrm>
            <a:off x="2823025" y="5354184"/>
            <a:ext cx="1240968" cy="4014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70CC766-BC7E-1189-0962-BFBEAEBDE013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2837541" y="2420711"/>
            <a:ext cx="1306286" cy="4821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E262F5B-AA51-A2B4-206A-317B865622A4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2837542" y="2420711"/>
            <a:ext cx="1306285" cy="12992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6255970-8459-016D-A5BF-21FAEE0B7291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2830284" y="2420711"/>
            <a:ext cx="1313543" cy="2116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1DAAFAB-D599-99DE-C510-B7ED22CB6E1B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823025" y="2420711"/>
            <a:ext cx="1320802" cy="2933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25D676A-64B6-73FB-84B1-1A4DDAB2DEB2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2837542" y="3209926"/>
            <a:ext cx="1306283" cy="510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F40F3BD-11E4-A670-A121-D75B29888D18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 flipV="1">
            <a:off x="2830284" y="3237820"/>
            <a:ext cx="1313542" cy="12992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457A3A7-7409-B861-D55F-9A968B5AC56D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2823025" y="3237820"/>
            <a:ext cx="1320801" cy="2116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8B9A949-AFD3-9A8C-5D3C-ED5136C7E8C5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 flipV="1">
            <a:off x="2830284" y="4054929"/>
            <a:ext cx="1233710" cy="4821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C9BA549-CFA3-E75A-394A-2197D70A55DF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 flipV="1">
            <a:off x="2823025" y="4054929"/>
            <a:ext cx="1240969" cy="12992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A4EFAC5-36FF-0CC1-1CB8-350DF59117C8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2837541" y="2902857"/>
            <a:ext cx="1226453" cy="1152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E601593-4AA4-910B-4CA5-DD97E9466D93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2837542" y="3719966"/>
            <a:ext cx="1226452" cy="334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3267F30-3E80-C646-BD1E-2511FB51A40F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>
            <a:off x="2837541" y="2902857"/>
            <a:ext cx="1306285" cy="334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C430978-5D23-3057-CB38-1599E5B1B202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2837541" y="2902857"/>
            <a:ext cx="1226453" cy="20366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D489B44-0734-23F8-CE27-E495466D3842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2837542" y="3719966"/>
            <a:ext cx="1226452" cy="12195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59ED2E7-6228-E2E0-3685-913AB36C3762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830284" y="4537075"/>
            <a:ext cx="1226459" cy="4024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8735DBB-AC8B-38F6-7D6F-BCE9547578CE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 flipV="1">
            <a:off x="2823025" y="4939506"/>
            <a:ext cx="1240969" cy="414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CEF7B7C1-B8C2-630A-12FA-32139B9EE6D3}"/>
              </a:ext>
            </a:extLst>
          </p:cNvPr>
          <p:cNvSpPr txBox="1">
            <a:spLocks/>
          </p:cNvSpPr>
          <p:nvPr/>
        </p:nvSpPr>
        <p:spPr>
          <a:xfrm>
            <a:off x="5979881" y="1507331"/>
            <a:ext cx="2601686" cy="755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/>
              <a:t>N+M-Effort</a:t>
            </a:r>
            <a:endParaRPr lang="en-CN" sz="360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EFCBE18-B13C-1572-2223-71086D5E0D20}"/>
              </a:ext>
            </a:extLst>
          </p:cNvPr>
          <p:cNvSpPr/>
          <p:nvPr/>
        </p:nvSpPr>
        <p:spPr>
          <a:xfrm>
            <a:off x="6193970" y="2635363"/>
            <a:ext cx="1132113" cy="6821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/>
              <a:t>C</a:t>
            </a:r>
            <a:endParaRPr lang="en-CN" sz="320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5998C67-51F0-C8C8-BA5D-618B57E9ED7C}"/>
              </a:ext>
            </a:extLst>
          </p:cNvPr>
          <p:cNvSpPr/>
          <p:nvPr/>
        </p:nvSpPr>
        <p:spPr>
          <a:xfrm>
            <a:off x="6186713" y="3452472"/>
            <a:ext cx="1139371" cy="6821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/>
              <a:t>C++</a:t>
            </a:r>
            <a:endParaRPr lang="en-CN" sz="320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611D363-C8F4-72BF-C48F-25E93D0B5441}"/>
              </a:ext>
            </a:extLst>
          </p:cNvPr>
          <p:cNvSpPr/>
          <p:nvPr/>
        </p:nvSpPr>
        <p:spPr>
          <a:xfrm>
            <a:off x="6186713" y="4269581"/>
            <a:ext cx="1132113" cy="6821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/>
              <a:t>Rust</a:t>
            </a:r>
            <a:endParaRPr lang="en-CN" sz="320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DE7F94C-056F-698C-0D75-FFFEA661B10E}"/>
              </a:ext>
            </a:extLst>
          </p:cNvPr>
          <p:cNvSpPr/>
          <p:nvPr/>
        </p:nvSpPr>
        <p:spPr>
          <a:xfrm>
            <a:off x="6179454" y="5086690"/>
            <a:ext cx="1132113" cy="6821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/>
              <a:t>Go</a:t>
            </a:r>
            <a:endParaRPr lang="en-CN" sz="320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3BF677A-E533-EADF-C32A-5D1D15F4370D}"/>
              </a:ext>
            </a:extLst>
          </p:cNvPr>
          <p:cNvSpPr/>
          <p:nvPr/>
        </p:nvSpPr>
        <p:spPr>
          <a:xfrm>
            <a:off x="10065653" y="2220685"/>
            <a:ext cx="1132113" cy="6821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/>
              <a:t>X86</a:t>
            </a:r>
            <a:endParaRPr lang="en-CN" sz="320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7CCDC5C-71FE-DC9F-6F18-4D30DB2E9016}"/>
              </a:ext>
            </a:extLst>
          </p:cNvPr>
          <p:cNvSpPr/>
          <p:nvPr/>
        </p:nvSpPr>
        <p:spPr>
          <a:xfrm>
            <a:off x="10065652" y="3037794"/>
            <a:ext cx="1132113" cy="6821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/>
              <a:t>ARM</a:t>
            </a:r>
            <a:endParaRPr lang="en-CN" sz="32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D3E301C-BF3C-8609-FB8B-65A970D42214}"/>
              </a:ext>
            </a:extLst>
          </p:cNvPr>
          <p:cNvSpPr/>
          <p:nvPr/>
        </p:nvSpPr>
        <p:spPr>
          <a:xfrm>
            <a:off x="9985820" y="3854903"/>
            <a:ext cx="1291775" cy="6821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/>
              <a:t>RISCV</a:t>
            </a:r>
            <a:endParaRPr lang="en-CN" sz="320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49E35AD-E6D0-A665-14AF-D5201928D60F}"/>
              </a:ext>
            </a:extLst>
          </p:cNvPr>
          <p:cNvSpPr/>
          <p:nvPr/>
        </p:nvSpPr>
        <p:spPr>
          <a:xfrm>
            <a:off x="9985820" y="4672011"/>
            <a:ext cx="1291775" cy="8171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/>
              <a:t>PowerPC</a:t>
            </a:r>
            <a:endParaRPr lang="en-CN" sz="320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6E5F4E5-B2C2-C0FE-70D3-D56AE3FB1250}"/>
              </a:ext>
            </a:extLst>
          </p:cNvPr>
          <p:cNvSpPr/>
          <p:nvPr/>
        </p:nvSpPr>
        <p:spPr>
          <a:xfrm>
            <a:off x="9985819" y="5622018"/>
            <a:ext cx="1291775" cy="5492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err="1"/>
              <a:t>Hexa</a:t>
            </a:r>
            <a:endParaRPr lang="en-CN" sz="3200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A97ACC5-070A-FC8F-B4BF-97E3AEEC82D7}"/>
              </a:ext>
            </a:extLst>
          </p:cNvPr>
          <p:cNvSpPr/>
          <p:nvPr/>
        </p:nvSpPr>
        <p:spPr>
          <a:xfrm>
            <a:off x="8113486" y="3854903"/>
            <a:ext cx="965200" cy="676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/>
              <a:t>IR</a:t>
            </a:r>
            <a:endParaRPr lang="en-CN" sz="3200" dirty="0"/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51F8FCFE-A7D7-E357-DDEE-F995B52F2C19}"/>
              </a:ext>
            </a:extLst>
          </p:cNvPr>
          <p:cNvCxnSpPr>
            <a:cxnSpLocks/>
            <a:stCxn id="77" idx="3"/>
            <a:endCxn id="123" idx="1"/>
          </p:cNvCxnSpPr>
          <p:nvPr/>
        </p:nvCxnSpPr>
        <p:spPr>
          <a:xfrm>
            <a:off x="7326083" y="2976449"/>
            <a:ext cx="787403" cy="1216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F41698B3-C500-B8D3-B26F-518C08DBC208}"/>
              </a:ext>
            </a:extLst>
          </p:cNvPr>
          <p:cNvCxnSpPr>
            <a:cxnSpLocks/>
            <a:stCxn id="78" idx="3"/>
            <a:endCxn id="123" idx="1"/>
          </p:cNvCxnSpPr>
          <p:nvPr/>
        </p:nvCxnSpPr>
        <p:spPr>
          <a:xfrm>
            <a:off x="7326084" y="3793558"/>
            <a:ext cx="787402" cy="3993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0052CCB8-CFC9-3790-0B1F-1AEC59FE00CE}"/>
              </a:ext>
            </a:extLst>
          </p:cNvPr>
          <p:cNvCxnSpPr>
            <a:cxnSpLocks/>
            <a:stCxn id="79" idx="3"/>
            <a:endCxn id="123" idx="1"/>
          </p:cNvCxnSpPr>
          <p:nvPr/>
        </p:nvCxnSpPr>
        <p:spPr>
          <a:xfrm flipV="1">
            <a:off x="7318826" y="4192927"/>
            <a:ext cx="794660" cy="4177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61B0FA20-EC8F-E109-2573-AC1C89868B6C}"/>
              </a:ext>
            </a:extLst>
          </p:cNvPr>
          <p:cNvCxnSpPr>
            <a:cxnSpLocks/>
            <a:stCxn id="80" idx="3"/>
            <a:endCxn id="123" idx="1"/>
          </p:cNvCxnSpPr>
          <p:nvPr/>
        </p:nvCxnSpPr>
        <p:spPr>
          <a:xfrm flipV="1">
            <a:off x="7311567" y="4192927"/>
            <a:ext cx="801919" cy="12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FCEABF1E-0827-2D69-96F7-E9C50DB2A187}"/>
              </a:ext>
            </a:extLst>
          </p:cNvPr>
          <p:cNvCxnSpPr>
            <a:cxnSpLocks/>
            <a:stCxn id="123" idx="3"/>
            <a:endCxn id="81" idx="1"/>
          </p:cNvCxnSpPr>
          <p:nvPr/>
        </p:nvCxnSpPr>
        <p:spPr>
          <a:xfrm flipV="1">
            <a:off x="9078686" y="2561771"/>
            <a:ext cx="986967" cy="16311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DA841A37-F95F-CF1E-5334-8078047E3E20}"/>
              </a:ext>
            </a:extLst>
          </p:cNvPr>
          <p:cNvCxnSpPr>
            <a:cxnSpLocks/>
            <a:stCxn id="123" idx="3"/>
            <a:endCxn id="82" idx="1"/>
          </p:cNvCxnSpPr>
          <p:nvPr/>
        </p:nvCxnSpPr>
        <p:spPr>
          <a:xfrm flipV="1">
            <a:off x="9078686" y="3378880"/>
            <a:ext cx="986966" cy="814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DE2E76C8-0EC7-3B25-5A9B-8CD70AB219A0}"/>
              </a:ext>
            </a:extLst>
          </p:cNvPr>
          <p:cNvCxnSpPr>
            <a:cxnSpLocks/>
            <a:stCxn id="123" idx="3"/>
            <a:endCxn id="83" idx="1"/>
          </p:cNvCxnSpPr>
          <p:nvPr/>
        </p:nvCxnSpPr>
        <p:spPr>
          <a:xfrm>
            <a:off x="9078686" y="4192927"/>
            <a:ext cx="907134" cy="30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B6579F7C-BF1D-CCC4-C7DF-4319603F890D}"/>
              </a:ext>
            </a:extLst>
          </p:cNvPr>
          <p:cNvCxnSpPr>
            <a:cxnSpLocks/>
            <a:stCxn id="123" idx="3"/>
            <a:endCxn id="84" idx="1"/>
          </p:cNvCxnSpPr>
          <p:nvPr/>
        </p:nvCxnSpPr>
        <p:spPr>
          <a:xfrm>
            <a:off x="9078686" y="4192927"/>
            <a:ext cx="907134" cy="887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A2BE3967-9A10-4C65-2F65-1D4AFD1EE7A6}"/>
              </a:ext>
            </a:extLst>
          </p:cNvPr>
          <p:cNvCxnSpPr>
            <a:cxnSpLocks/>
            <a:stCxn id="123" idx="3"/>
            <a:endCxn id="85" idx="1"/>
          </p:cNvCxnSpPr>
          <p:nvPr/>
        </p:nvCxnSpPr>
        <p:spPr>
          <a:xfrm>
            <a:off x="9078686" y="4192927"/>
            <a:ext cx="907133" cy="1703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12605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98EA3-37D5-AD00-7E5B-4A379765C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689" y="310099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Intermediate</a:t>
            </a:r>
            <a:r>
              <a:rPr lang="zh-CN" altLang="en-US" sz="5400" dirty="0"/>
              <a:t> </a:t>
            </a:r>
            <a:r>
              <a:rPr lang="en-US" altLang="zh-CN" sz="5400" dirty="0"/>
              <a:t>Representation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81922-CE7D-C681-A342-4AB90497A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689" y="1690688"/>
            <a:ext cx="9503004" cy="2080034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Something</a:t>
            </a:r>
            <a:r>
              <a:rPr lang="zh-CN" altLang="en-US" sz="3200" dirty="0"/>
              <a:t> </a:t>
            </a:r>
            <a:r>
              <a:rPr lang="en-US" altLang="zh-CN" sz="3200" dirty="0"/>
              <a:t>nearer</a:t>
            </a:r>
            <a:r>
              <a:rPr lang="zh-CN" altLang="en-US" sz="3200" dirty="0"/>
              <a:t> </a:t>
            </a:r>
            <a:r>
              <a:rPr lang="en-US" altLang="zh-CN" sz="3200" dirty="0"/>
              <a:t>to</a:t>
            </a:r>
            <a:r>
              <a:rPr lang="zh-CN" altLang="en-US" sz="3200" dirty="0"/>
              <a:t> </a:t>
            </a:r>
            <a:r>
              <a:rPr lang="en-US" altLang="zh-CN" sz="3200" dirty="0"/>
              <a:t>assembly,</a:t>
            </a:r>
            <a:r>
              <a:rPr lang="zh-CN" altLang="en-US" sz="3200" dirty="0"/>
              <a:t> </a:t>
            </a:r>
            <a:r>
              <a:rPr lang="en-US" altLang="zh-CN" sz="3200" dirty="0"/>
              <a:t>but</a:t>
            </a:r>
            <a:r>
              <a:rPr lang="zh-CN" altLang="en-US" sz="3200" dirty="0"/>
              <a:t> </a:t>
            </a:r>
            <a:r>
              <a:rPr lang="en-US" altLang="zh-CN" sz="3200" dirty="0"/>
              <a:t>not</a:t>
            </a:r>
            <a:r>
              <a:rPr lang="zh-CN" altLang="en-US" sz="3200" dirty="0"/>
              <a:t> </a:t>
            </a:r>
            <a:r>
              <a:rPr lang="en-US" altLang="zh-CN" sz="3200" dirty="0"/>
              <a:t>an</a:t>
            </a:r>
            <a:r>
              <a:rPr lang="zh-CN" altLang="en-US" sz="3200" dirty="0"/>
              <a:t> </a:t>
            </a:r>
            <a:r>
              <a:rPr lang="en-US" altLang="zh-CN" sz="3200" dirty="0"/>
              <a:t>assembly</a:t>
            </a:r>
          </a:p>
          <a:p>
            <a:pPr lvl="1"/>
            <a:r>
              <a:rPr lang="en-US" altLang="zh-CN" sz="2800" dirty="0"/>
              <a:t>3-address</a:t>
            </a:r>
            <a:r>
              <a:rPr lang="zh-CN" altLang="en-US" sz="2800" dirty="0"/>
              <a:t> </a:t>
            </a:r>
            <a:r>
              <a:rPr lang="en-US" altLang="zh-CN" sz="2800" dirty="0"/>
              <a:t>instruction</a:t>
            </a:r>
          </a:p>
          <a:p>
            <a:pPr lvl="1"/>
            <a:r>
              <a:rPr lang="en-US" altLang="zh-CN" sz="2800" dirty="0"/>
              <a:t>Branches</a:t>
            </a:r>
          </a:p>
          <a:p>
            <a:r>
              <a:rPr lang="en-US" altLang="zh-CN" sz="3200" dirty="0"/>
              <a:t>Wait?</a:t>
            </a:r>
            <a:r>
              <a:rPr lang="zh-CN" altLang="en-US" sz="3200" dirty="0"/>
              <a:t> </a:t>
            </a:r>
            <a:r>
              <a:rPr lang="en-US" altLang="zh-CN" sz="3200" dirty="0"/>
              <a:t>What</a:t>
            </a:r>
            <a:r>
              <a:rPr lang="zh-CN" altLang="en-US" sz="3200" dirty="0"/>
              <a:t> </a:t>
            </a:r>
            <a:r>
              <a:rPr lang="en-US" altLang="zh-CN" sz="3200" dirty="0"/>
              <a:t>is</a:t>
            </a:r>
            <a:r>
              <a:rPr lang="zh-CN" altLang="en-US" sz="3200" dirty="0"/>
              <a:t> </a:t>
            </a:r>
            <a:r>
              <a:rPr lang="en-US" altLang="zh-CN" sz="3200" dirty="0"/>
              <a:t>PHI?</a:t>
            </a:r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3CFAF-0F66-5446-931C-9F72C30BB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48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F83D03-C2CA-AFC5-A70C-B547743FD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89" y="4260502"/>
            <a:ext cx="4287689" cy="18136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3B61B4-04EC-40AF-EDAD-1319A5024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575" y="2593817"/>
            <a:ext cx="6349736" cy="370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1131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DEA7A-48B2-FEEB-6E9A-4E37ECD2D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4716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Machine-independent</a:t>
            </a:r>
            <a:r>
              <a:rPr lang="zh-CN" altLang="en-US" sz="5400" dirty="0"/>
              <a:t> </a:t>
            </a:r>
            <a:r>
              <a:rPr lang="en-US" altLang="zh-CN" sz="5400" dirty="0"/>
              <a:t>Optimizations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5B77-1058-1585-6A1F-49912B095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332" y="3899660"/>
            <a:ext cx="9822730" cy="1459088"/>
          </a:xfrm>
        </p:spPr>
        <p:txBody>
          <a:bodyPr>
            <a:normAutofit/>
          </a:bodyPr>
          <a:lstStyle/>
          <a:p>
            <a:r>
              <a:rPr lang="en-US" altLang="zh-CN" dirty="0"/>
              <a:t>CSE:</a:t>
            </a:r>
            <a:r>
              <a:rPr lang="zh-CN" altLang="en-US" dirty="0"/>
              <a:t> </a:t>
            </a:r>
            <a:r>
              <a:rPr lang="en-US" altLang="zh-CN" dirty="0"/>
              <a:t>%3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%4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same,</a:t>
            </a:r>
            <a:r>
              <a:rPr lang="zh-CN" altLang="en-US" dirty="0"/>
              <a:t> </a:t>
            </a:r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compute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once!</a:t>
            </a:r>
          </a:p>
          <a:p>
            <a:r>
              <a:rPr lang="en-US" altLang="zh-CN" dirty="0"/>
              <a:t>Strength</a:t>
            </a:r>
            <a:r>
              <a:rPr lang="zh-CN" altLang="en-US" dirty="0"/>
              <a:t> </a:t>
            </a:r>
            <a:r>
              <a:rPr lang="en-US" altLang="zh-CN" dirty="0"/>
              <a:t>Reduction: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done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* </a:t>
            </a:r>
            <a:r>
              <a:rPr lang="en-US" altLang="zh-CN" dirty="0"/>
              <a:t>2,</a:t>
            </a:r>
            <a:r>
              <a:rPr lang="zh-CN" altLang="en-US" dirty="0"/>
              <a:t> </a:t>
            </a:r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simpler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&lt;&lt;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B4A47-AFB8-33DA-A47C-1FFE5EF0A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49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FFE2A5-B44C-6371-48F8-D79C4817882D}"/>
              </a:ext>
            </a:extLst>
          </p:cNvPr>
          <p:cNvSpPr txBox="1"/>
          <p:nvPr/>
        </p:nvSpPr>
        <p:spPr>
          <a:xfrm>
            <a:off x="1267098" y="1942678"/>
            <a:ext cx="239681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%3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%1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%2</a:t>
            </a:r>
          </a:p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%4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%1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%2</a:t>
            </a:r>
          </a:p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%5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%3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%4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A48858-0138-D2DF-4427-B2792B99AB0D}"/>
              </a:ext>
            </a:extLst>
          </p:cNvPr>
          <p:cNvSpPr txBox="1"/>
          <p:nvPr/>
        </p:nvSpPr>
        <p:spPr>
          <a:xfrm>
            <a:off x="4564146" y="2127343"/>
            <a:ext cx="2396810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%3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%1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%2</a:t>
            </a:r>
          </a:p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%4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%3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%3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9A4104-6F20-5D2C-17C0-DBB07D497719}"/>
              </a:ext>
            </a:extLst>
          </p:cNvPr>
          <p:cNvSpPr txBox="1"/>
          <p:nvPr/>
        </p:nvSpPr>
        <p:spPr>
          <a:xfrm>
            <a:off x="7861194" y="2127343"/>
            <a:ext cx="2396810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%3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%1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%2</a:t>
            </a:r>
          </a:p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%4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%3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D3460F-F466-BFBF-03E3-72AACCC8F598}"/>
              </a:ext>
            </a:extLst>
          </p:cNvPr>
          <p:cNvSpPr/>
          <p:nvPr/>
        </p:nvSpPr>
        <p:spPr>
          <a:xfrm>
            <a:off x="113059" y="5987143"/>
            <a:ext cx="480500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PP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28FD76-CD43-E307-DF84-56B0DE03D9D1}"/>
              </a:ext>
            </a:extLst>
          </p:cNvPr>
          <p:cNvSpPr/>
          <p:nvPr/>
        </p:nvSpPr>
        <p:spPr>
          <a:xfrm>
            <a:off x="785197" y="5987142"/>
            <a:ext cx="1110342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Tokenizer</a:t>
            </a:r>
            <a:endParaRPr lang="en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FCF944-9687-9D73-3894-96A9555E4636}"/>
              </a:ext>
            </a:extLst>
          </p:cNvPr>
          <p:cNvSpPr/>
          <p:nvPr/>
        </p:nvSpPr>
        <p:spPr>
          <a:xfrm>
            <a:off x="1997013" y="5987142"/>
            <a:ext cx="1028977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Parser</a:t>
            </a:r>
            <a:endParaRPr lang="en-C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EBF8B0-39E2-EB86-E610-9B29DDBD4278}"/>
              </a:ext>
            </a:extLst>
          </p:cNvPr>
          <p:cNvSpPr/>
          <p:nvPr/>
        </p:nvSpPr>
        <p:spPr>
          <a:xfrm>
            <a:off x="3134846" y="5987142"/>
            <a:ext cx="1140907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IR</a:t>
            </a:r>
            <a:r>
              <a:rPr lang="zh-CN" altLang="en-US" dirty="0"/>
              <a:t> </a:t>
            </a:r>
            <a:r>
              <a:rPr lang="en-US" altLang="zh-CN" dirty="0" err="1"/>
              <a:t>CodeGen</a:t>
            </a:r>
            <a:endParaRPr lang="en-C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72B53F-B56B-AECB-CD8E-42AA9A3C7D38}"/>
              </a:ext>
            </a:extLst>
          </p:cNvPr>
          <p:cNvSpPr/>
          <p:nvPr/>
        </p:nvSpPr>
        <p:spPr>
          <a:xfrm>
            <a:off x="4379840" y="5987142"/>
            <a:ext cx="1215571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Optimizer</a:t>
            </a:r>
            <a:endParaRPr lang="en-C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DE1F20-1702-341A-D4A4-AFE3B5BC3787}"/>
              </a:ext>
            </a:extLst>
          </p:cNvPr>
          <p:cNvSpPr txBox="1"/>
          <p:nvPr/>
        </p:nvSpPr>
        <p:spPr>
          <a:xfrm>
            <a:off x="1873317" y="6492874"/>
            <a:ext cx="1084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Frontend</a:t>
            </a:r>
            <a:endParaRPr lang="en-CN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80B6DCD-D96A-524B-B67B-8C14DAF35A97}"/>
              </a:ext>
            </a:extLst>
          </p:cNvPr>
          <p:cNvCxnSpPr/>
          <p:nvPr/>
        </p:nvCxnSpPr>
        <p:spPr>
          <a:xfrm>
            <a:off x="683722" y="5646057"/>
            <a:ext cx="0" cy="12119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ight Arrow 14">
            <a:extLst>
              <a:ext uri="{FF2B5EF4-FFF2-40B4-BE49-F238E27FC236}">
                <a16:creationId xmlns:a16="http://schemas.microsoft.com/office/drawing/2014/main" id="{B08F7DDC-74BB-80B9-4038-23F244005AD4}"/>
              </a:ext>
            </a:extLst>
          </p:cNvPr>
          <p:cNvSpPr/>
          <p:nvPr/>
        </p:nvSpPr>
        <p:spPr>
          <a:xfrm>
            <a:off x="3821620" y="2331174"/>
            <a:ext cx="584813" cy="42333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7466C424-81B9-ECA7-8CAA-9394B6B8D29C}"/>
              </a:ext>
            </a:extLst>
          </p:cNvPr>
          <p:cNvSpPr/>
          <p:nvPr/>
        </p:nvSpPr>
        <p:spPr>
          <a:xfrm>
            <a:off x="7138264" y="2328240"/>
            <a:ext cx="584813" cy="42333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04579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F5A4C-B062-8696-25B7-F872951B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5400" dirty="0"/>
              <a:t>Ana</a:t>
            </a:r>
            <a:r>
              <a:rPr lang="en-US" altLang="zh-CN" sz="5400" dirty="0" err="1"/>
              <a:t>lyze</a:t>
            </a:r>
            <a:r>
              <a:rPr lang="zh-CN" altLang="en-US" sz="5400" dirty="0"/>
              <a:t> </a:t>
            </a:r>
            <a:r>
              <a:rPr lang="en-US" altLang="zh-CN" sz="5400" dirty="0"/>
              <a:t>first!</a:t>
            </a:r>
            <a:r>
              <a:rPr lang="zh-CN" altLang="en-US" sz="5400" dirty="0"/>
              <a:t> </a:t>
            </a:r>
            <a:r>
              <a:rPr lang="en-US" altLang="zh-CN" sz="5400" dirty="0"/>
              <a:t>Modify</a:t>
            </a:r>
            <a:r>
              <a:rPr lang="zh-CN" altLang="en-US" sz="5400" dirty="0"/>
              <a:t> </a:t>
            </a:r>
            <a:r>
              <a:rPr lang="en-US" altLang="zh-CN" sz="5400" dirty="0"/>
              <a:t>later.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36139-857E-11F1-B70D-B0DDB0F35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08914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You</a:t>
            </a:r>
            <a:r>
              <a:rPr lang="zh-CN" altLang="en-US" sz="3600" dirty="0"/>
              <a:t> </a:t>
            </a:r>
            <a:r>
              <a:rPr lang="en-US" altLang="zh-CN" sz="3600" dirty="0"/>
              <a:t>can</a:t>
            </a:r>
            <a:r>
              <a:rPr lang="zh-CN" altLang="en-US" sz="3600" dirty="0"/>
              <a:t> </a:t>
            </a:r>
            <a:r>
              <a:rPr lang="en-US" altLang="zh-CN" sz="3600" dirty="0"/>
              <a:t>easily</a:t>
            </a:r>
            <a:r>
              <a:rPr lang="zh-CN" altLang="en-US" sz="3600" dirty="0"/>
              <a:t> </a:t>
            </a:r>
            <a:r>
              <a:rPr lang="en-US" altLang="zh-CN" sz="3600" dirty="0"/>
              <a:t>make</a:t>
            </a:r>
            <a:r>
              <a:rPr lang="zh-CN" altLang="en-US" sz="3600" dirty="0"/>
              <a:t> </a:t>
            </a:r>
            <a:r>
              <a:rPr lang="en-US" altLang="zh-CN" sz="3600" dirty="0"/>
              <a:t>this</a:t>
            </a:r>
            <a:r>
              <a:rPr lang="zh-CN" altLang="en-US" sz="3600" dirty="0"/>
              <a:t> </a:t>
            </a:r>
            <a:r>
              <a:rPr lang="en-US" altLang="zh-CN" sz="3600" dirty="0"/>
              <a:t>mistake</a:t>
            </a:r>
            <a:r>
              <a:rPr lang="zh-CN" altLang="en-US" sz="3600" dirty="0"/>
              <a:t> </a:t>
            </a:r>
            <a:r>
              <a:rPr lang="en-US" altLang="zh-CN" sz="3600" dirty="0"/>
              <a:t>in</a:t>
            </a:r>
            <a:r>
              <a:rPr lang="zh-CN" altLang="en-US" sz="3600" dirty="0"/>
              <a:t> </a:t>
            </a:r>
            <a:r>
              <a:rPr lang="en-US" altLang="zh-CN" sz="3600" dirty="0"/>
              <a:t>C++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r>
              <a:rPr lang="en-US" altLang="zh-CN" sz="3600" dirty="0"/>
              <a:t>Why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it</a:t>
            </a:r>
            <a:r>
              <a:rPr lang="zh-CN" altLang="en-US" sz="3600" dirty="0"/>
              <a:t> </a:t>
            </a:r>
            <a:r>
              <a:rPr lang="en-US" altLang="zh-CN" sz="3600" dirty="0"/>
              <a:t>wrong?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5E7AC-8479-52A6-28D4-8F554326B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50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E9792D-3C5C-CCBC-1791-70E9B622294D}"/>
              </a:ext>
            </a:extLst>
          </p:cNvPr>
          <p:cNvSpPr txBox="1"/>
          <p:nvPr/>
        </p:nvSpPr>
        <p:spPr>
          <a:xfrm>
            <a:off x="838200" y="2570923"/>
            <a:ext cx="10280378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vector</a:t>
            </a:r>
          </a:p>
          <a:p>
            <a:endParaRPr lang="en-US" altLang="zh-C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iter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a.begin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a.end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a.erase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a.push_back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(/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something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/);</a:t>
            </a:r>
            <a:b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93525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0D21C-2B61-2BA4-56B1-930DFEC33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Analyze</a:t>
            </a:r>
            <a:r>
              <a:rPr lang="zh-CN" altLang="en-US" sz="5400" dirty="0"/>
              <a:t> </a:t>
            </a:r>
            <a:r>
              <a:rPr lang="en-US" altLang="zh-CN" sz="5400" dirty="0"/>
              <a:t>first!</a:t>
            </a:r>
            <a:r>
              <a:rPr lang="zh-CN" altLang="en-US" sz="5400" dirty="0"/>
              <a:t> </a:t>
            </a:r>
            <a:r>
              <a:rPr lang="en-US" altLang="zh-CN" sz="5400" dirty="0"/>
              <a:t>Modify</a:t>
            </a:r>
            <a:r>
              <a:rPr lang="zh-CN" altLang="en-US" sz="5400" dirty="0"/>
              <a:t> </a:t>
            </a:r>
            <a:r>
              <a:rPr lang="en-US" altLang="zh-CN" sz="5400" dirty="0"/>
              <a:t>later!</a:t>
            </a:r>
            <a:r>
              <a:rPr lang="zh-CN" altLang="en-US" sz="5400" dirty="0"/>
              <a:t> </a:t>
            </a:r>
            <a:r>
              <a:rPr lang="en-US" altLang="zh-CN" sz="5400" dirty="0"/>
              <a:t>(CONT’D)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FF663-5A88-2F88-034E-2FB123BAD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79494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In</a:t>
            </a:r>
            <a:r>
              <a:rPr lang="zh-CN" altLang="en-US" sz="3600" dirty="0"/>
              <a:t> </a:t>
            </a:r>
            <a:r>
              <a:rPr lang="en-US" altLang="zh-CN" sz="3600" dirty="0"/>
              <a:t>language</a:t>
            </a:r>
            <a:r>
              <a:rPr lang="zh-CN" altLang="en-US" sz="3600" dirty="0"/>
              <a:t> </a:t>
            </a:r>
            <a:r>
              <a:rPr lang="en-US" altLang="zh-CN" sz="3600" dirty="0"/>
              <a:t>level,</a:t>
            </a:r>
            <a:r>
              <a:rPr lang="zh-CN" altLang="en-US" sz="3600" dirty="0"/>
              <a:t> </a:t>
            </a:r>
            <a:r>
              <a:rPr lang="en-US" altLang="zh-CN" sz="3600" dirty="0"/>
              <a:t>Rust</a:t>
            </a:r>
            <a:r>
              <a:rPr lang="zh-CN" altLang="en-US" sz="3600" dirty="0"/>
              <a:t> </a:t>
            </a:r>
            <a:r>
              <a:rPr lang="en-US" altLang="zh-CN" sz="3600" dirty="0"/>
              <a:t>ensures</a:t>
            </a:r>
            <a:r>
              <a:rPr lang="zh-CN" altLang="en-US" sz="3600" dirty="0"/>
              <a:t> </a:t>
            </a:r>
            <a:r>
              <a:rPr lang="en-US" altLang="zh-CN" sz="3600" dirty="0"/>
              <a:t>you</a:t>
            </a:r>
            <a:r>
              <a:rPr lang="zh-CN" altLang="en-US" sz="3600" dirty="0"/>
              <a:t> </a:t>
            </a:r>
            <a:r>
              <a:rPr lang="en-US" altLang="zh-CN" sz="3600" dirty="0"/>
              <a:t>should</a:t>
            </a:r>
            <a:r>
              <a:rPr lang="zh-CN" altLang="en-US" sz="3600" dirty="0"/>
              <a:t> </a:t>
            </a:r>
            <a:r>
              <a:rPr lang="en-US" altLang="zh-CN" sz="3600" dirty="0"/>
              <a:t>do</a:t>
            </a:r>
            <a:r>
              <a:rPr lang="zh-CN" altLang="en-US" sz="3600" dirty="0"/>
              <a:t> </a:t>
            </a:r>
            <a:r>
              <a:rPr lang="en-US" altLang="zh-CN" sz="3600" dirty="0"/>
              <a:t>this!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3EA69C-A98A-6A67-482B-ED1131117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51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36CE31-A8C6-B65C-4171-B5F617338A7B}"/>
              </a:ext>
            </a:extLst>
          </p:cNvPr>
          <p:cNvSpPr txBox="1"/>
          <p:nvPr/>
        </p:nvSpPr>
        <p:spPr>
          <a:xfrm>
            <a:off x="2001079" y="2613838"/>
            <a:ext cx="7917552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Rust</a:t>
            </a:r>
          </a:p>
          <a:p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Vec&lt;_&gt;</a:t>
            </a:r>
          </a:p>
          <a:p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mut</a:t>
            </a:r>
            <a:r>
              <a:rPr lang="zh-CN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Option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usize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None;</a:t>
            </a:r>
          </a:p>
          <a:p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v)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a.iter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().enumerate()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Some(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b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altLang="zh-C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Some(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a.remove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0197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E357F-1345-CCD7-7001-58FB9EDE0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397"/>
            <a:ext cx="7246070" cy="1525173"/>
          </a:xfrm>
        </p:spPr>
        <p:txBody>
          <a:bodyPr>
            <a:noAutofit/>
          </a:bodyPr>
          <a:lstStyle/>
          <a:p>
            <a:r>
              <a:rPr lang="en-US" altLang="zh-CN" sz="5400" dirty="0"/>
              <a:t>Machine-independent</a:t>
            </a:r>
            <a:r>
              <a:rPr lang="zh-CN" altLang="en-US" sz="5400" dirty="0"/>
              <a:t> </a:t>
            </a:r>
            <a:r>
              <a:rPr lang="en-US" altLang="zh-CN" sz="5400" dirty="0"/>
              <a:t>Optimizations</a:t>
            </a:r>
            <a:r>
              <a:rPr lang="zh-CN" altLang="en-US" sz="5400" dirty="0"/>
              <a:t> </a:t>
            </a:r>
            <a:r>
              <a:rPr lang="en-US" altLang="zh-CN" sz="5400" dirty="0"/>
              <a:t>(CONT’D)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9D026-EFCA-7BC8-115D-10CB24FD1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1287"/>
            <a:ext cx="10515600" cy="3895676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Hoisting</a:t>
            </a:r>
            <a:r>
              <a:rPr lang="zh-CN" altLang="en-US" sz="3600" dirty="0"/>
              <a:t> </a:t>
            </a:r>
            <a:r>
              <a:rPr lang="en-US" altLang="zh-CN" sz="3600" dirty="0"/>
              <a:t>loop</a:t>
            </a:r>
            <a:r>
              <a:rPr lang="zh-CN" altLang="en-US" sz="3600" dirty="0"/>
              <a:t> </a:t>
            </a:r>
            <a:r>
              <a:rPr lang="en-US" altLang="zh-CN" sz="3600" dirty="0"/>
              <a:t>invariant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23066-240D-EA8E-2DD6-FCCE10800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52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0C7212-C876-190D-9F1C-6D85225F24B9}"/>
              </a:ext>
            </a:extLst>
          </p:cNvPr>
          <p:cNvSpPr txBox="1"/>
          <p:nvPr/>
        </p:nvSpPr>
        <p:spPr>
          <a:xfrm>
            <a:off x="1540475" y="3613666"/>
            <a:ext cx="3502882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0..n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0..n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a[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][j]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A56E59-CFDC-ACBF-E89C-09DC37DB1ABE}"/>
              </a:ext>
            </a:extLst>
          </p:cNvPr>
          <p:cNvSpPr txBox="1"/>
          <p:nvPr/>
        </p:nvSpPr>
        <p:spPr>
          <a:xfrm>
            <a:off x="5689840" y="3429000"/>
            <a:ext cx="4977645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0..n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%invar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compute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a[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0..n</a:t>
            </a:r>
          </a:p>
          <a:p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%invar[j]</a:t>
            </a:r>
          </a:p>
        </p:txBody>
      </p:sp>
    </p:spTree>
    <p:extLst>
      <p:ext uri="{BB962C8B-B14F-4D97-AF65-F5344CB8AC3E}">
        <p14:creationId xmlns:p14="http://schemas.microsoft.com/office/powerpoint/2010/main" val="816170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88EFF-54E8-9FB1-51E0-B74BFF5C4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61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Backend:</a:t>
            </a:r>
            <a:r>
              <a:rPr lang="zh-CN" altLang="en-US" sz="5400" dirty="0"/>
              <a:t> </a:t>
            </a:r>
            <a:r>
              <a:rPr lang="en-US" altLang="zh-CN" sz="5400" dirty="0"/>
              <a:t>Target</a:t>
            </a:r>
            <a:r>
              <a:rPr lang="zh-CN" altLang="en-US" sz="5400" dirty="0"/>
              <a:t> </a:t>
            </a:r>
            <a:r>
              <a:rPr lang="en-US" altLang="zh-CN" sz="5400" dirty="0"/>
              <a:t>to</a:t>
            </a:r>
            <a:r>
              <a:rPr lang="zh-CN" altLang="en-US" sz="5400" dirty="0"/>
              <a:t> </a:t>
            </a:r>
            <a:r>
              <a:rPr lang="en-US" altLang="zh-CN" sz="5400" dirty="0"/>
              <a:t>a</a:t>
            </a:r>
            <a:r>
              <a:rPr lang="zh-CN" altLang="en-US" sz="5400" dirty="0"/>
              <a:t> </a:t>
            </a:r>
            <a:r>
              <a:rPr lang="en-US" altLang="zh-CN" sz="5400" dirty="0"/>
              <a:t>specific</a:t>
            </a:r>
            <a:r>
              <a:rPr lang="zh-CN" altLang="en-US" sz="5400" dirty="0"/>
              <a:t> </a:t>
            </a:r>
            <a:r>
              <a:rPr lang="en-US" altLang="zh-CN" sz="5400" dirty="0"/>
              <a:t>ISA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5E68F-D7CB-FE1E-9109-B6D041835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3967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Code</a:t>
            </a:r>
            <a:r>
              <a:rPr lang="zh-CN" altLang="en-US" sz="3600" dirty="0"/>
              <a:t> </a:t>
            </a:r>
            <a:r>
              <a:rPr lang="en-US" altLang="zh-CN" sz="3600" dirty="0"/>
              <a:t>Selection</a:t>
            </a:r>
          </a:p>
          <a:p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AA178-5D41-2968-A45F-9EE494294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53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804D86-7D0A-E9AE-E769-FF43F4D0222F}"/>
              </a:ext>
            </a:extLst>
          </p:cNvPr>
          <p:cNvSpPr txBox="1"/>
          <p:nvPr/>
        </p:nvSpPr>
        <p:spPr>
          <a:xfrm>
            <a:off x="1291472" y="2320891"/>
            <a:ext cx="3191899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%3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%1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%2</a:t>
            </a:r>
          </a:p>
          <a:p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a3,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a1,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endParaRPr lang="en-C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041B6B-B15B-7A1E-DFCC-3BBC990136E4}"/>
              </a:ext>
            </a:extLst>
          </p:cNvPr>
          <p:cNvSpPr txBox="1"/>
          <p:nvPr/>
        </p:nvSpPr>
        <p:spPr>
          <a:xfrm>
            <a:off x="4854805" y="2469822"/>
            <a:ext cx="4288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OK.</a:t>
            </a:r>
            <a:r>
              <a:rPr lang="zh-CN" altLang="en-US" sz="2400" dirty="0"/>
              <a:t> </a:t>
            </a:r>
            <a:r>
              <a:rPr lang="en-US" altLang="zh-CN" sz="2400" dirty="0"/>
              <a:t>It</a:t>
            </a:r>
            <a:r>
              <a:rPr lang="zh-CN" altLang="en-US" sz="2400" dirty="0"/>
              <a:t> </a:t>
            </a:r>
            <a:r>
              <a:rPr lang="en-US" altLang="zh-CN" sz="2400" dirty="0"/>
              <a:t>is</a:t>
            </a:r>
            <a:r>
              <a:rPr lang="zh-CN" altLang="en-US" sz="2400" dirty="0"/>
              <a:t> </a:t>
            </a:r>
            <a:r>
              <a:rPr lang="en-US" altLang="zh-CN" sz="2400" dirty="0"/>
              <a:t>as</a:t>
            </a:r>
            <a:r>
              <a:rPr lang="zh-CN" altLang="en-US" sz="2400" dirty="0"/>
              <a:t> </a:t>
            </a:r>
            <a:r>
              <a:rPr lang="en-US" altLang="zh-CN" sz="2400" dirty="0"/>
              <a:t>simple</a:t>
            </a:r>
            <a:r>
              <a:rPr lang="zh-CN" altLang="en-US" sz="2400" dirty="0"/>
              <a:t> </a:t>
            </a:r>
            <a:r>
              <a:rPr lang="en-US" altLang="zh-CN" sz="2400" dirty="0"/>
              <a:t>as</a:t>
            </a:r>
            <a:r>
              <a:rPr lang="zh-CN" altLang="en-US" sz="2400" dirty="0"/>
              <a:t> </a:t>
            </a:r>
            <a:r>
              <a:rPr lang="en-US" altLang="zh-CN" sz="2400" dirty="0"/>
              <a:t>expected.</a:t>
            </a:r>
            <a:endParaRPr lang="en-CN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E400D25-7B54-CC5C-E001-5C863D58E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722" y="3802696"/>
            <a:ext cx="10668731" cy="203284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E87CE83-AA8A-60E6-9769-DDCB4E934B4B}"/>
              </a:ext>
            </a:extLst>
          </p:cNvPr>
          <p:cNvSpPr/>
          <p:nvPr/>
        </p:nvSpPr>
        <p:spPr>
          <a:xfrm>
            <a:off x="113059" y="5987143"/>
            <a:ext cx="480500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PP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3CDAB7-CAB9-5F1B-D329-A8B9B2AAB315}"/>
              </a:ext>
            </a:extLst>
          </p:cNvPr>
          <p:cNvSpPr/>
          <p:nvPr/>
        </p:nvSpPr>
        <p:spPr>
          <a:xfrm>
            <a:off x="785197" y="5987142"/>
            <a:ext cx="1110342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Tokenizer</a:t>
            </a:r>
            <a:endParaRPr lang="en-C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6188AB-EEA7-A37F-B5B3-52D8A8EE5365}"/>
              </a:ext>
            </a:extLst>
          </p:cNvPr>
          <p:cNvSpPr/>
          <p:nvPr/>
        </p:nvSpPr>
        <p:spPr>
          <a:xfrm>
            <a:off x="1997013" y="5987142"/>
            <a:ext cx="1028977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Parser</a:t>
            </a:r>
            <a:endParaRPr lang="en-C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A1E73F-ACE8-F5A2-1398-DB604ED21E19}"/>
              </a:ext>
            </a:extLst>
          </p:cNvPr>
          <p:cNvSpPr/>
          <p:nvPr/>
        </p:nvSpPr>
        <p:spPr>
          <a:xfrm>
            <a:off x="3134846" y="5987142"/>
            <a:ext cx="1140907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IR</a:t>
            </a:r>
            <a:r>
              <a:rPr lang="zh-CN" altLang="en-US" dirty="0"/>
              <a:t> </a:t>
            </a:r>
            <a:r>
              <a:rPr lang="en-US" altLang="zh-CN" dirty="0" err="1"/>
              <a:t>CodeGen</a:t>
            </a:r>
            <a:endParaRPr lang="en-C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AA9601-45BA-A779-6B85-7BF3EEBCFB59}"/>
              </a:ext>
            </a:extLst>
          </p:cNvPr>
          <p:cNvSpPr/>
          <p:nvPr/>
        </p:nvSpPr>
        <p:spPr>
          <a:xfrm>
            <a:off x="4379840" y="5987142"/>
            <a:ext cx="1215571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Optimizer</a:t>
            </a:r>
            <a:endParaRPr lang="en-C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F371A1-DC9B-4CB5-3A55-77585B6FC590}"/>
              </a:ext>
            </a:extLst>
          </p:cNvPr>
          <p:cNvSpPr/>
          <p:nvPr/>
        </p:nvSpPr>
        <p:spPr>
          <a:xfrm>
            <a:off x="5821279" y="5987142"/>
            <a:ext cx="895110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Inst</a:t>
            </a:r>
            <a:r>
              <a:rPr lang="zh-CN" altLang="en-US" dirty="0"/>
              <a:t> </a:t>
            </a:r>
            <a:r>
              <a:rPr lang="en-US" altLang="zh-CN" dirty="0"/>
              <a:t>Select</a:t>
            </a:r>
            <a:endParaRPr lang="en-CN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AFEA9D9-67C3-C62E-C1C8-C0C69BFE0415}"/>
              </a:ext>
            </a:extLst>
          </p:cNvPr>
          <p:cNvCxnSpPr/>
          <p:nvPr/>
        </p:nvCxnSpPr>
        <p:spPr>
          <a:xfrm>
            <a:off x="5712327" y="5646057"/>
            <a:ext cx="0" cy="12119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BB68BCE-C562-2D96-3759-91BDA5FE6444}"/>
              </a:ext>
            </a:extLst>
          </p:cNvPr>
          <p:cNvSpPr txBox="1"/>
          <p:nvPr/>
        </p:nvSpPr>
        <p:spPr>
          <a:xfrm>
            <a:off x="1873317" y="6492874"/>
            <a:ext cx="1084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Frontend</a:t>
            </a:r>
            <a:endParaRPr lang="en-CN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01CC320-2958-0BF6-7F7F-1DF4D85FBFF4}"/>
              </a:ext>
            </a:extLst>
          </p:cNvPr>
          <p:cNvCxnSpPr/>
          <p:nvPr/>
        </p:nvCxnSpPr>
        <p:spPr>
          <a:xfrm>
            <a:off x="683722" y="5646057"/>
            <a:ext cx="0" cy="12119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1680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FADF2-16E1-FCE9-AAE6-A06D4B244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04A4-BC74-906B-6241-5C3537DF7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61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Code Selection (CONT’D)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C4ECF-500B-25F9-115E-17A900D76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3967"/>
            <a:ext cx="10515600" cy="4351338"/>
          </a:xfrm>
        </p:spPr>
        <p:txBody>
          <a:bodyPr>
            <a:normAutofit/>
          </a:bodyPr>
          <a:lstStyle/>
          <a:p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EEB9C-D71B-DAD1-A7D6-18ACFF608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54</a:t>
            </a:fld>
            <a:endParaRPr lang="en-C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C0B516-D17F-F74A-5C81-84CAB9B6EBB9}"/>
              </a:ext>
            </a:extLst>
          </p:cNvPr>
          <p:cNvSpPr txBox="1"/>
          <p:nvPr/>
        </p:nvSpPr>
        <p:spPr>
          <a:xfrm>
            <a:off x="1291471" y="1737749"/>
            <a:ext cx="3191899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%2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%1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a2,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a1,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C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1BD489-B61F-7365-77D9-79E5E54B8674}"/>
              </a:ext>
            </a:extLst>
          </p:cNvPr>
          <p:cNvSpPr txBox="1"/>
          <p:nvPr/>
        </p:nvSpPr>
        <p:spPr>
          <a:xfrm>
            <a:off x="4854805" y="1819284"/>
            <a:ext cx="39719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Phew~</a:t>
            </a:r>
            <a:r>
              <a:rPr lang="zh-CN" altLang="en-US" sz="2400" dirty="0"/>
              <a:t> </a:t>
            </a:r>
            <a:r>
              <a:rPr lang="en-US" altLang="zh-CN" sz="2400" dirty="0"/>
              <a:t>It</a:t>
            </a:r>
            <a:r>
              <a:rPr lang="zh-CN" altLang="en-US" sz="2400" dirty="0"/>
              <a:t> </a:t>
            </a:r>
            <a:r>
              <a:rPr lang="en-US" altLang="zh-CN" sz="2400" dirty="0"/>
              <a:t>is</a:t>
            </a:r>
            <a:r>
              <a:rPr lang="zh-CN" altLang="en-US" sz="2400" dirty="0"/>
              <a:t> </a:t>
            </a:r>
            <a:r>
              <a:rPr lang="en-US" altLang="zh-CN" sz="2400" dirty="0"/>
              <a:t>as</a:t>
            </a:r>
            <a:r>
              <a:rPr lang="zh-CN" altLang="en-US" sz="2400" dirty="0"/>
              <a:t> </a:t>
            </a:r>
            <a:r>
              <a:rPr lang="en-US" altLang="zh-CN" sz="2400" dirty="0"/>
              <a:t>lucky</a:t>
            </a:r>
            <a:r>
              <a:rPr lang="zh-CN" altLang="en-US" sz="2400" dirty="0"/>
              <a:t> </a:t>
            </a:r>
            <a:r>
              <a:rPr lang="en-US" altLang="zh-CN" sz="2400" dirty="0"/>
              <a:t>as</a:t>
            </a:r>
            <a:r>
              <a:rPr lang="zh-CN" altLang="en-US" sz="2400" dirty="0"/>
              <a:t> </a:t>
            </a:r>
            <a:r>
              <a:rPr lang="en-US" altLang="zh-CN" sz="2400" dirty="0"/>
              <a:t>fitted.</a:t>
            </a:r>
            <a:endParaRPr lang="en-CN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0F145D-4056-0E13-327C-9B70876A9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02" y="3088282"/>
            <a:ext cx="10918396" cy="278702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341C42F-DDAB-3A09-3ED0-970219E24EAC}"/>
              </a:ext>
            </a:extLst>
          </p:cNvPr>
          <p:cNvSpPr/>
          <p:nvPr/>
        </p:nvSpPr>
        <p:spPr>
          <a:xfrm>
            <a:off x="113059" y="5987143"/>
            <a:ext cx="480500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PP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C17DC4-00B8-F362-57A7-E59C57426673}"/>
              </a:ext>
            </a:extLst>
          </p:cNvPr>
          <p:cNvSpPr/>
          <p:nvPr/>
        </p:nvSpPr>
        <p:spPr>
          <a:xfrm>
            <a:off x="785197" y="5987142"/>
            <a:ext cx="1110342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Tokenizer</a:t>
            </a:r>
            <a:endParaRPr lang="en-C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C7EF05-141F-A87D-165F-8C742BE7B6E5}"/>
              </a:ext>
            </a:extLst>
          </p:cNvPr>
          <p:cNvSpPr/>
          <p:nvPr/>
        </p:nvSpPr>
        <p:spPr>
          <a:xfrm>
            <a:off x="1997013" y="5987142"/>
            <a:ext cx="1028977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Parser</a:t>
            </a:r>
            <a:endParaRPr lang="en-C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392255-512D-7A66-D633-11FED130DA9E}"/>
              </a:ext>
            </a:extLst>
          </p:cNvPr>
          <p:cNvSpPr/>
          <p:nvPr/>
        </p:nvSpPr>
        <p:spPr>
          <a:xfrm>
            <a:off x="3134846" y="5987142"/>
            <a:ext cx="1140907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IR</a:t>
            </a:r>
            <a:r>
              <a:rPr lang="zh-CN" altLang="en-US" dirty="0"/>
              <a:t> </a:t>
            </a:r>
            <a:r>
              <a:rPr lang="en-US" altLang="zh-CN" dirty="0" err="1"/>
              <a:t>CodeGen</a:t>
            </a:r>
            <a:endParaRPr lang="en-C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F9EB19-34AD-8775-B123-50CCF56682DE}"/>
              </a:ext>
            </a:extLst>
          </p:cNvPr>
          <p:cNvSpPr/>
          <p:nvPr/>
        </p:nvSpPr>
        <p:spPr>
          <a:xfrm>
            <a:off x="4379840" y="5987142"/>
            <a:ext cx="1215571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Optimizer</a:t>
            </a:r>
            <a:endParaRPr lang="en-C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DBC283-ECF2-EF0B-C543-BB69361635FF}"/>
              </a:ext>
            </a:extLst>
          </p:cNvPr>
          <p:cNvSpPr/>
          <p:nvPr/>
        </p:nvSpPr>
        <p:spPr>
          <a:xfrm>
            <a:off x="5821279" y="5987142"/>
            <a:ext cx="895110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Inst</a:t>
            </a:r>
            <a:r>
              <a:rPr lang="zh-CN" altLang="en-US" dirty="0"/>
              <a:t> </a:t>
            </a:r>
            <a:r>
              <a:rPr lang="en-US" altLang="zh-CN" dirty="0"/>
              <a:t>Select</a:t>
            </a:r>
            <a:endParaRPr lang="en-CN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1D866D5-C80E-0B9B-88FA-00ADF8D497CD}"/>
              </a:ext>
            </a:extLst>
          </p:cNvPr>
          <p:cNvCxnSpPr/>
          <p:nvPr/>
        </p:nvCxnSpPr>
        <p:spPr>
          <a:xfrm>
            <a:off x="5712327" y="5646057"/>
            <a:ext cx="0" cy="12119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DDAD35B-67BD-6449-0B0C-23D966954671}"/>
              </a:ext>
            </a:extLst>
          </p:cNvPr>
          <p:cNvSpPr txBox="1"/>
          <p:nvPr/>
        </p:nvSpPr>
        <p:spPr>
          <a:xfrm>
            <a:off x="1873317" y="6492874"/>
            <a:ext cx="1084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Frontend</a:t>
            </a:r>
            <a:endParaRPr lang="en-CN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87DACC7-6A48-9E31-E719-36B206503714}"/>
              </a:ext>
            </a:extLst>
          </p:cNvPr>
          <p:cNvCxnSpPr/>
          <p:nvPr/>
        </p:nvCxnSpPr>
        <p:spPr>
          <a:xfrm>
            <a:off x="683722" y="5646057"/>
            <a:ext cx="0" cy="12119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0769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F8D2B-D1BE-83B2-4009-B98E00092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7B5D9-17A1-6A7B-41FF-7F8C5EC07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61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Code Selection (CONT’D)</a:t>
            </a:r>
            <a:endParaRPr lang="en-CN" sz="5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C386C-FC99-25F9-FCB5-9248AC7FE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55</a:t>
            </a:fld>
            <a:endParaRPr lang="en-C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0F6B51-9C50-9326-ADAD-4E15BE62B7FB}"/>
              </a:ext>
            </a:extLst>
          </p:cNvPr>
          <p:cNvSpPr txBox="1"/>
          <p:nvPr/>
        </p:nvSpPr>
        <p:spPr>
          <a:xfrm>
            <a:off x="1201255" y="1361730"/>
            <a:ext cx="5599524" cy="181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%2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%1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1919810</a:t>
            </a:r>
          </a:p>
          <a:p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lui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a3,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468</a:t>
            </a:r>
          </a:p>
          <a:p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xori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a3, a3, 2882</a:t>
            </a:r>
          </a:p>
          <a:p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a2,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a1,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a3</a:t>
            </a:r>
            <a:endParaRPr lang="en-C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4A977F-3FB8-6224-717D-2E3E0D9F59D8}"/>
              </a:ext>
            </a:extLst>
          </p:cNvPr>
          <p:cNvSpPr txBox="1"/>
          <p:nvPr/>
        </p:nvSpPr>
        <p:spPr>
          <a:xfrm>
            <a:off x="7163834" y="2038838"/>
            <a:ext cx="2536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Wut?</a:t>
            </a:r>
            <a:r>
              <a:rPr lang="zh-CN" altLang="en-US" sz="2400" dirty="0"/>
              <a:t> </a:t>
            </a:r>
            <a:r>
              <a:rPr lang="en-US" altLang="zh-CN" sz="2400" dirty="0"/>
              <a:t>You</a:t>
            </a:r>
            <a:r>
              <a:rPr lang="zh-CN" altLang="en-US" sz="2400" dirty="0"/>
              <a:t> </a:t>
            </a:r>
            <a:r>
              <a:rPr lang="en-US" altLang="zh-CN" sz="2400" dirty="0"/>
              <a:t>do</a:t>
            </a:r>
            <a:r>
              <a:rPr lang="zh-CN" altLang="en-US" sz="2400" dirty="0"/>
              <a:t> </a:t>
            </a:r>
            <a:r>
              <a:rPr lang="en-US" altLang="zh-CN" sz="2400" dirty="0"/>
              <a:t>this?</a:t>
            </a:r>
            <a:endParaRPr lang="en-CN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6FE949-7ECA-44F2-595E-DA63514AA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565" y="3429000"/>
            <a:ext cx="10067148" cy="256280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C8BCABB-64B9-773F-1B64-B5A3673EB069}"/>
              </a:ext>
            </a:extLst>
          </p:cNvPr>
          <p:cNvSpPr/>
          <p:nvPr/>
        </p:nvSpPr>
        <p:spPr>
          <a:xfrm>
            <a:off x="113059" y="5987143"/>
            <a:ext cx="480500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PP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6B138A-889A-4F2F-DF89-3A015CDF5226}"/>
              </a:ext>
            </a:extLst>
          </p:cNvPr>
          <p:cNvSpPr/>
          <p:nvPr/>
        </p:nvSpPr>
        <p:spPr>
          <a:xfrm>
            <a:off x="785197" y="5987142"/>
            <a:ext cx="1110342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Tokenizer</a:t>
            </a:r>
            <a:endParaRPr lang="en-C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FC19B7-FE9A-CE7F-707A-5A926C49D807}"/>
              </a:ext>
            </a:extLst>
          </p:cNvPr>
          <p:cNvSpPr/>
          <p:nvPr/>
        </p:nvSpPr>
        <p:spPr>
          <a:xfrm>
            <a:off x="1997013" y="5987142"/>
            <a:ext cx="1028977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Parser</a:t>
            </a:r>
            <a:endParaRPr lang="en-C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9A0D97-86AC-D198-EE81-B45299DA945B}"/>
              </a:ext>
            </a:extLst>
          </p:cNvPr>
          <p:cNvSpPr/>
          <p:nvPr/>
        </p:nvSpPr>
        <p:spPr>
          <a:xfrm>
            <a:off x="3134846" y="5987142"/>
            <a:ext cx="1140907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IR</a:t>
            </a:r>
            <a:r>
              <a:rPr lang="zh-CN" altLang="en-US" dirty="0"/>
              <a:t> </a:t>
            </a:r>
            <a:r>
              <a:rPr lang="en-US" altLang="zh-CN" dirty="0" err="1"/>
              <a:t>CodeGen</a:t>
            </a:r>
            <a:endParaRPr lang="en-C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A85AF9-0EC5-710A-5403-E29B9661B4AA}"/>
              </a:ext>
            </a:extLst>
          </p:cNvPr>
          <p:cNvSpPr/>
          <p:nvPr/>
        </p:nvSpPr>
        <p:spPr>
          <a:xfrm>
            <a:off x="4379840" y="5987142"/>
            <a:ext cx="1215571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Optimizer</a:t>
            </a:r>
            <a:endParaRPr lang="en-C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4DEA02-3209-5346-461B-4795D2783BB3}"/>
              </a:ext>
            </a:extLst>
          </p:cNvPr>
          <p:cNvSpPr/>
          <p:nvPr/>
        </p:nvSpPr>
        <p:spPr>
          <a:xfrm>
            <a:off x="5821279" y="5987142"/>
            <a:ext cx="895110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Inst</a:t>
            </a:r>
            <a:r>
              <a:rPr lang="zh-CN" altLang="en-US" dirty="0"/>
              <a:t> </a:t>
            </a:r>
            <a:r>
              <a:rPr lang="en-US" altLang="zh-CN" dirty="0"/>
              <a:t>Select</a:t>
            </a:r>
            <a:endParaRPr lang="en-CN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2279F46-EDFA-BEA3-C658-03079C2771A0}"/>
              </a:ext>
            </a:extLst>
          </p:cNvPr>
          <p:cNvCxnSpPr/>
          <p:nvPr/>
        </p:nvCxnSpPr>
        <p:spPr>
          <a:xfrm>
            <a:off x="5712327" y="5646057"/>
            <a:ext cx="0" cy="12119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99C0488-CB05-FE26-FB28-ECB9C11CC386}"/>
              </a:ext>
            </a:extLst>
          </p:cNvPr>
          <p:cNvSpPr txBox="1"/>
          <p:nvPr/>
        </p:nvSpPr>
        <p:spPr>
          <a:xfrm>
            <a:off x="1873317" y="6492874"/>
            <a:ext cx="1084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Frontend</a:t>
            </a:r>
            <a:endParaRPr lang="en-CN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B4421D2-CE69-5A5D-DD40-3CF26D83FCEA}"/>
              </a:ext>
            </a:extLst>
          </p:cNvPr>
          <p:cNvCxnSpPr/>
          <p:nvPr/>
        </p:nvCxnSpPr>
        <p:spPr>
          <a:xfrm>
            <a:off x="683722" y="5646057"/>
            <a:ext cx="0" cy="12119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0973363-A082-BE32-02D7-EC93C97CF9B5}"/>
              </a:ext>
            </a:extLst>
          </p:cNvPr>
          <p:cNvSpPr txBox="1"/>
          <p:nvPr/>
        </p:nvSpPr>
        <p:spPr>
          <a:xfrm>
            <a:off x="4379840" y="3923241"/>
            <a:ext cx="5823293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468</a:t>
            </a:r>
            <a:r>
              <a:rPr lang="zh-CN" alt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zh-CN" alt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r>
              <a:rPr lang="zh-CN" alt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zh-CN" alt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2882</a:t>
            </a:r>
            <a:r>
              <a:rPr lang="zh-CN" alt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1919810</a:t>
            </a:r>
            <a:endParaRPr lang="en-CN" sz="28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3254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E54BE-CAE2-5177-C0ED-C4056421C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42106"/>
            <a:ext cx="11597192" cy="1325563"/>
          </a:xfrm>
        </p:spPr>
        <p:txBody>
          <a:bodyPr/>
          <a:lstStyle/>
          <a:p>
            <a:r>
              <a:rPr lang="en-CN" dirty="0"/>
              <a:t>Wa</a:t>
            </a:r>
            <a:r>
              <a:rPr lang="en-US" altLang="zh-CN" dirty="0"/>
              <a:t>it…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key</a:t>
            </a:r>
            <a:r>
              <a:rPr lang="zh-CN" altLang="en-US" dirty="0"/>
              <a:t> </a:t>
            </a:r>
            <a:r>
              <a:rPr lang="en-US" altLang="zh-CN" dirty="0"/>
              <a:t>differences</a:t>
            </a:r>
            <a:r>
              <a:rPr lang="zh-CN" altLang="en-US" dirty="0"/>
              <a:t> </a:t>
            </a:r>
            <a:r>
              <a:rPr lang="en-US" altLang="zh-CN" dirty="0"/>
              <a:t>b/t</a:t>
            </a:r>
            <a:r>
              <a:rPr lang="zh-CN" altLang="en-US" dirty="0"/>
              <a:t> </a:t>
            </a:r>
            <a:r>
              <a:rPr lang="en-US" altLang="zh-CN" dirty="0"/>
              <a:t>IR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ASM?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65CA5-4BA0-5D1E-06E7-7EB92FC14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746" y="1571507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Infinite</a:t>
            </a:r>
            <a:r>
              <a:rPr lang="zh-CN" altLang="en-US" sz="3600" dirty="0"/>
              <a:t> </a:t>
            </a:r>
            <a:r>
              <a:rPr lang="en-US" altLang="zh-CN" sz="3600" dirty="0"/>
              <a:t>registers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84C90-CBA6-7B4D-36C4-2A18DBC16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56</a:t>
            </a:fld>
            <a:endParaRPr lang="en-C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0BB3C1-EB26-68FB-0A25-7B476A1BA6BB}"/>
              </a:ext>
            </a:extLst>
          </p:cNvPr>
          <p:cNvSpPr txBox="1"/>
          <p:nvPr/>
        </p:nvSpPr>
        <p:spPr>
          <a:xfrm>
            <a:off x="904306" y="2116364"/>
            <a:ext cx="53687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llc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main.ll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–c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–O1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–S</a:t>
            </a:r>
            <a:endParaRPr lang="en-CN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06BCBD-EE0B-2CEB-AB5B-29387596BD54}"/>
              </a:ext>
            </a:extLst>
          </p:cNvPr>
          <p:cNvSpPr/>
          <p:nvPr/>
        </p:nvSpPr>
        <p:spPr>
          <a:xfrm>
            <a:off x="113059" y="5987143"/>
            <a:ext cx="480500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PP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4BB82D-D98D-1609-A0C2-5CF427F10734}"/>
              </a:ext>
            </a:extLst>
          </p:cNvPr>
          <p:cNvSpPr/>
          <p:nvPr/>
        </p:nvSpPr>
        <p:spPr>
          <a:xfrm>
            <a:off x="785197" y="5987142"/>
            <a:ext cx="1110342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Tokenizer</a:t>
            </a:r>
            <a:endParaRPr lang="en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E2C770-F5AB-ECBC-B7AC-B3D4CFCC4416}"/>
              </a:ext>
            </a:extLst>
          </p:cNvPr>
          <p:cNvSpPr/>
          <p:nvPr/>
        </p:nvSpPr>
        <p:spPr>
          <a:xfrm>
            <a:off x="1997013" y="5987142"/>
            <a:ext cx="1028977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Parser</a:t>
            </a:r>
            <a:endParaRPr lang="en-C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71EA56-247E-29E0-533B-538C249D4645}"/>
              </a:ext>
            </a:extLst>
          </p:cNvPr>
          <p:cNvSpPr/>
          <p:nvPr/>
        </p:nvSpPr>
        <p:spPr>
          <a:xfrm>
            <a:off x="3134846" y="5987142"/>
            <a:ext cx="1140907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IR</a:t>
            </a:r>
            <a:r>
              <a:rPr lang="zh-CN" altLang="en-US" dirty="0"/>
              <a:t> </a:t>
            </a:r>
            <a:r>
              <a:rPr lang="en-US" altLang="zh-CN" dirty="0" err="1"/>
              <a:t>CodeGen</a:t>
            </a:r>
            <a:endParaRPr lang="en-C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2EA3F5-4BDF-3D77-DCC6-1134C16EF472}"/>
              </a:ext>
            </a:extLst>
          </p:cNvPr>
          <p:cNvSpPr/>
          <p:nvPr/>
        </p:nvSpPr>
        <p:spPr>
          <a:xfrm>
            <a:off x="4379840" y="5987142"/>
            <a:ext cx="1215571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Optimizer</a:t>
            </a:r>
            <a:endParaRPr lang="en-C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198C00-BCBD-1AAE-9562-0935653D1C2C}"/>
              </a:ext>
            </a:extLst>
          </p:cNvPr>
          <p:cNvSpPr/>
          <p:nvPr/>
        </p:nvSpPr>
        <p:spPr>
          <a:xfrm>
            <a:off x="5821279" y="5987142"/>
            <a:ext cx="895110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Inst</a:t>
            </a:r>
            <a:r>
              <a:rPr lang="zh-CN" altLang="en-US" dirty="0"/>
              <a:t> </a:t>
            </a:r>
            <a:r>
              <a:rPr lang="en-US" altLang="zh-CN" dirty="0"/>
              <a:t>Select</a:t>
            </a:r>
            <a:endParaRPr lang="en-CN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9A90062-E04A-EE34-3EF5-BCB81F7D5C86}"/>
              </a:ext>
            </a:extLst>
          </p:cNvPr>
          <p:cNvCxnSpPr/>
          <p:nvPr/>
        </p:nvCxnSpPr>
        <p:spPr>
          <a:xfrm>
            <a:off x="5712327" y="5646057"/>
            <a:ext cx="0" cy="12119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5A4A977-2AC6-0394-E69A-AC4D05999B61}"/>
              </a:ext>
            </a:extLst>
          </p:cNvPr>
          <p:cNvSpPr txBox="1"/>
          <p:nvPr/>
        </p:nvSpPr>
        <p:spPr>
          <a:xfrm>
            <a:off x="1873317" y="6492874"/>
            <a:ext cx="1084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Frontend</a:t>
            </a:r>
            <a:endParaRPr lang="en-C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0DEE80-EC58-A715-EA81-82FAD04C56ED}"/>
              </a:ext>
            </a:extLst>
          </p:cNvPr>
          <p:cNvSpPr txBox="1"/>
          <p:nvPr/>
        </p:nvSpPr>
        <p:spPr>
          <a:xfrm>
            <a:off x="7132765" y="6537924"/>
            <a:ext cx="1054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Backend</a:t>
            </a:r>
            <a:endParaRPr lang="en-C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866A72B-F796-7E31-DF1D-92466C5CBC80}"/>
              </a:ext>
            </a:extLst>
          </p:cNvPr>
          <p:cNvCxnSpPr/>
          <p:nvPr/>
        </p:nvCxnSpPr>
        <p:spPr>
          <a:xfrm>
            <a:off x="683722" y="5646057"/>
            <a:ext cx="0" cy="12119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4537DA8-7794-7E70-A395-E99A200B4E53}"/>
              </a:ext>
            </a:extLst>
          </p:cNvPr>
          <p:cNvSpPr/>
          <p:nvPr/>
        </p:nvSpPr>
        <p:spPr>
          <a:xfrm>
            <a:off x="6831887" y="5987142"/>
            <a:ext cx="1215571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Register</a:t>
            </a:r>
            <a:r>
              <a:rPr lang="zh-CN" altLang="en-US" dirty="0"/>
              <a:t> </a:t>
            </a:r>
            <a:r>
              <a:rPr lang="en-US" altLang="zh-CN" dirty="0"/>
              <a:t>Allocation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06487811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73356-72F7-224D-90FE-4DF4503E8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727F6-DEAF-4827-8293-7617156F3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42106"/>
            <a:ext cx="11353800" cy="1325563"/>
          </a:xfrm>
        </p:spPr>
        <p:txBody>
          <a:bodyPr>
            <a:normAutofit/>
          </a:bodyPr>
          <a:lstStyle/>
          <a:p>
            <a:r>
              <a:rPr lang="en-US" altLang="zh-CN" sz="5600" dirty="0"/>
              <a:t>Code</a:t>
            </a:r>
            <a:r>
              <a:rPr lang="zh-CN" altLang="en-US" sz="5600" dirty="0"/>
              <a:t> </a:t>
            </a:r>
            <a:r>
              <a:rPr lang="en-US" altLang="zh-CN" sz="5600" dirty="0"/>
              <a:t>Select</a:t>
            </a:r>
            <a:r>
              <a:rPr lang="zh-CN" altLang="en-US" sz="5600" dirty="0"/>
              <a:t> </a:t>
            </a:r>
            <a:r>
              <a:rPr lang="en-US" altLang="zh-CN" sz="5600" dirty="0"/>
              <a:t>+</a:t>
            </a:r>
            <a:r>
              <a:rPr lang="zh-CN" altLang="en-US" sz="5600" dirty="0"/>
              <a:t> </a:t>
            </a:r>
            <a:r>
              <a:rPr lang="en-US" altLang="zh-CN" sz="5600" dirty="0"/>
              <a:t>Register</a:t>
            </a:r>
            <a:r>
              <a:rPr lang="zh-CN" altLang="en-US" sz="5600" dirty="0"/>
              <a:t> </a:t>
            </a:r>
            <a:r>
              <a:rPr lang="en-US" altLang="zh-CN" sz="5600" dirty="0"/>
              <a:t>Allocation</a:t>
            </a:r>
            <a:endParaRPr lang="en-CN" sz="5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4B9C0-C70E-B652-8619-6312BB112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57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3552B4-B0EF-C153-AA8E-A038753A4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46" y="2807729"/>
            <a:ext cx="6349736" cy="37081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6C6A4E-284D-FFB4-32F9-4DC32869C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100" y="1889919"/>
            <a:ext cx="4597400" cy="444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A95EF3-FBCA-FC89-4D4F-CF86A8847314}"/>
              </a:ext>
            </a:extLst>
          </p:cNvPr>
          <p:cNvSpPr txBox="1"/>
          <p:nvPr/>
        </p:nvSpPr>
        <p:spPr>
          <a:xfrm>
            <a:off x="893548" y="1945311"/>
            <a:ext cx="53687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llc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main.ll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–o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main.s</a:t>
            </a:r>
            <a:endParaRPr lang="en-CN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6693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88FBDA0-501F-6BAF-56FD-EA143CA6586D}"/>
              </a:ext>
            </a:extLst>
          </p:cNvPr>
          <p:cNvSpPr/>
          <p:nvPr/>
        </p:nvSpPr>
        <p:spPr>
          <a:xfrm>
            <a:off x="10934700" y="5910469"/>
            <a:ext cx="1111526" cy="66721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1B9469-EECE-09B6-0877-859A890C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5630"/>
            <a:ext cx="10515600" cy="1325563"/>
          </a:xfrm>
        </p:spPr>
        <p:txBody>
          <a:bodyPr>
            <a:normAutofit/>
          </a:bodyPr>
          <a:lstStyle/>
          <a:p>
            <a:r>
              <a:rPr lang="en-CN" sz="5400" dirty="0"/>
              <a:t>Still, it is far from executable yet…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39848-ED23-0364-23B2-90F0C37CF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737113"/>
            <a:ext cx="11353800" cy="1915274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Assembler</a:t>
            </a:r>
            <a:r>
              <a:rPr lang="zh-CN" altLang="en-US" sz="4000" dirty="0"/>
              <a:t> </a:t>
            </a:r>
            <a:r>
              <a:rPr lang="en-US" altLang="zh-CN" sz="4000" dirty="0"/>
              <a:t>and</a:t>
            </a:r>
            <a:r>
              <a:rPr lang="zh-CN" altLang="en-US" sz="4000" dirty="0"/>
              <a:t> </a:t>
            </a:r>
            <a:r>
              <a:rPr lang="en-US" altLang="zh-CN" sz="4000" dirty="0"/>
              <a:t>linkers</a:t>
            </a:r>
            <a:r>
              <a:rPr lang="zh-CN" altLang="en-US" sz="4000" dirty="0"/>
              <a:t> </a:t>
            </a:r>
            <a:r>
              <a:rPr lang="en-US" altLang="zh-CN" sz="4000" dirty="0"/>
              <a:t>are</a:t>
            </a:r>
            <a:r>
              <a:rPr lang="zh-CN" altLang="en-US" sz="4000" dirty="0"/>
              <a:t> </a:t>
            </a:r>
            <a:r>
              <a:rPr lang="en-US" altLang="zh-CN" sz="4000" dirty="0"/>
              <a:t>missing</a:t>
            </a:r>
          </a:p>
          <a:p>
            <a:pPr lvl="1"/>
            <a:r>
              <a:rPr lang="en-US" altLang="zh-CN" sz="3600" dirty="0"/>
              <a:t>Assembler:</a:t>
            </a:r>
            <a:r>
              <a:rPr lang="zh-CN" altLang="en-US" sz="3600" dirty="0"/>
              <a:t> </a:t>
            </a:r>
            <a:r>
              <a:rPr lang="en-US" altLang="zh-CN" sz="3600" dirty="0"/>
              <a:t>Encode</a:t>
            </a:r>
            <a:r>
              <a:rPr lang="zh-CN" altLang="en-US" sz="3600" dirty="0"/>
              <a:t> </a:t>
            </a:r>
            <a:r>
              <a:rPr lang="en-US" altLang="zh-CN" sz="3600" dirty="0"/>
              <a:t>instruction</a:t>
            </a:r>
            <a:r>
              <a:rPr lang="zh-CN" altLang="en-US" sz="3600" dirty="0"/>
              <a:t> </a:t>
            </a:r>
            <a:r>
              <a:rPr lang="en-US" altLang="zh-CN" sz="3600" dirty="0"/>
              <a:t>text</a:t>
            </a:r>
            <a:r>
              <a:rPr lang="zh-CN" altLang="en-US" sz="3600" dirty="0"/>
              <a:t> </a:t>
            </a:r>
            <a:r>
              <a:rPr lang="en-US" altLang="zh-CN" sz="3600" dirty="0"/>
              <a:t>format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altLang="zh-CN" sz="3600" dirty="0"/>
              <a:t>binaries</a:t>
            </a:r>
          </a:p>
          <a:p>
            <a:pPr lvl="1"/>
            <a:r>
              <a:rPr lang="en-US" altLang="zh-CN" sz="3600" dirty="0"/>
              <a:t>Linker:</a:t>
            </a:r>
            <a:r>
              <a:rPr lang="zh-CN" altLang="en-US" sz="3600" dirty="0"/>
              <a:t> </a:t>
            </a:r>
            <a:r>
              <a:rPr lang="en-US" altLang="zh-CN" sz="3600" dirty="0"/>
              <a:t>Link</a:t>
            </a:r>
            <a:r>
              <a:rPr lang="zh-CN" altLang="en-US" sz="3600" dirty="0"/>
              <a:t> </a:t>
            </a:r>
            <a:r>
              <a:rPr lang="en-US" altLang="zh-CN" sz="3600" dirty="0"/>
              <a:t>runtime</a:t>
            </a:r>
            <a:r>
              <a:rPr lang="zh-CN" altLang="en-US" sz="3600" dirty="0"/>
              <a:t> </a:t>
            </a:r>
            <a:r>
              <a:rPr lang="en-US" altLang="zh-CN" sz="3600" dirty="0"/>
              <a:t>(?)</a:t>
            </a:r>
            <a:r>
              <a:rPr lang="zh-CN" altLang="en-US" sz="3600" dirty="0"/>
              <a:t> </a:t>
            </a:r>
            <a:r>
              <a:rPr lang="en-US" altLang="zh-CN" sz="3600" dirty="0"/>
              <a:t>libraries</a:t>
            </a:r>
            <a:endParaRPr lang="en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D0BA9-C9E4-C98D-A5A6-1BCECE75A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58</a:t>
            </a:fld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B3B498-806E-F0CC-E4A3-3D7E7E22B620}"/>
              </a:ext>
            </a:extLst>
          </p:cNvPr>
          <p:cNvSpPr/>
          <p:nvPr/>
        </p:nvSpPr>
        <p:spPr>
          <a:xfrm>
            <a:off x="113059" y="5987143"/>
            <a:ext cx="480500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PP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85D582-8AF0-1D0A-9C94-740122319DA1}"/>
              </a:ext>
            </a:extLst>
          </p:cNvPr>
          <p:cNvSpPr/>
          <p:nvPr/>
        </p:nvSpPr>
        <p:spPr>
          <a:xfrm>
            <a:off x="785197" y="5987142"/>
            <a:ext cx="1110342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Tokenizer</a:t>
            </a:r>
            <a:endParaRPr lang="en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F99212-95B4-DD0E-55B7-ECF4D2303FFF}"/>
              </a:ext>
            </a:extLst>
          </p:cNvPr>
          <p:cNvSpPr/>
          <p:nvPr/>
        </p:nvSpPr>
        <p:spPr>
          <a:xfrm>
            <a:off x="1997013" y="5987142"/>
            <a:ext cx="1028977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Parser</a:t>
            </a:r>
            <a:endParaRPr lang="en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22F861-F1F3-5875-E47F-1ED80B876B3A}"/>
              </a:ext>
            </a:extLst>
          </p:cNvPr>
          <p:cNvSpPr/>
          <p:nvPr/>
        </p:nvSpPr>
        <p:spPr>
          <a:xfrm>
            <a:off x="3134846" y="5987142"/>
            <a:ext cx="1140907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IR</a:t>
            </a:r>
            <a:r>
              <a:rPr lang="zh-CN" altLang="en-US" dirty="0"/>
              <a:t> </a:t>
            </a:r>
            <a:r>
              <a:rPr lang="en-US" altLang="zh-CN" dirty="0" err="1"/>
              <a:t>CodeGen</a:t>
            </a:r>
            <a:endParaRPr lang="en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DCCDC5-64F2-7DE9-81B6-49B5D8CAA931}"/>
              </a:ext>
            </a:extLst>
          </p:cNvPr>
          <p:cNvSpPr/>
          <p:nvPr/>
        </p:nvSpPr>
        <p:spPr>
          <a:xfrm>
            <a:off x="4379840" y="5987142"/>
            <a:ext cx="1215571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Optimizer</a:t>
            </a:r>
            <a:endParaRPr lang="en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AE32AD-3E60-E2A6-6E73-7DB193912DCD}"/>
              </a:ext>
            </a:extLst>
          </p:cNvPr>
          <p:cNvSpPr/>
          <p:nvPr/>
        </p:nvSpPr>
        <p:spPr>
          <a:xfrm>
            <a:off x="5821279" y="5987142"/>
            <a:ext cx="895110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Inst</a:t>
            </a:r>
            <a:r>
              <a:rPr lang="zh-CN" altLang="en-US" dirty="0"/>
              <a:t> </a:t>
            </a:r>
            <a:r>
              <a:rPr lang="en-US" altLang="zh-CN" dirty="0"/>
              <a:t>Select</a:t>
            </a:r>
            <a:endParaRPr lang="en-C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15B1DC-0250-AB98-DD8B-161BEA360432}"/>
              </a:ext>
            </a:extLst>
          </p:cNvPr>
          <p:cNvCxnSpPr/>
          <p:nvPr/>
        </p:nvCxnSpPr>
        <p:spPr>
          <a:xfrm>
            <a:off x="5712327" y="5646057"/>
            <a:ext cx="0" cy="12119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188FA13-7F1E-0493-4322-49FE4165C13A}"/>
              </a:ext>
            </a:extLst>
          </p:cNvPr>
          <p:cNvSpPr txBox="1"/>
          <p:nvPr/>
        </p:nvSpPr>
        <p:spPr>
          <a:xfrm>
            <a:off x="1873317" y="6492874"/>
            <a:ext cx="1084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Frontend</a:t>
            </a:r>
            <a:endParaRPr lang="en-C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1863DC-A30D-92B3-6B4D-CA232327B153}"/>
              </a:ext>
            </a:extLst>
          </p:cNvPr>
          <p:cNvSpPr txBox="1"/>
          <p:nvPr/>
        </p:nvSpPr>
        <p:spPr>
          <a:xfrm>
            <a:off x="7132765" y="6537924"/>
            <a:ext cx="1054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Backend</a:t>
            </a:r>
            <a:endParaRPr lang="en-CN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01C355E-E11A-0BD7-EF96-8ABB93CF9DC3}"/>
              </a:ext>
            </a:extLst>
          </p:cNvPr>
          <p:cNvCxnSpPr/>
          <p:nvPr/>
        </p:nvCxnSpPr>
        <p:spPr>
          <a:xfrm>
            <a:off x="683722" y="5646057"/>
            <a:ext cx="0" cy="12119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90ED97D-BF1E-31EE-E90A-3E007CF79B24}"/>
              </a:ext>
            </a:extLst>
          </p:cNvPr>
          <p:cNvSpPr/>
          <p:nvPr/>
        </p:nvSpPr>
        <p:spPr>
          <a:xfrm>
            <a:off x="6831887" y="5987142"/>
            <a:ext cx="1215571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Register</a:t>
            </a:r>
            <a:r>
              <a:rPr lang="zh-CN" altLang="en-US" dirty="0"/>
              <a:t> </a:t>
            </a:r>
            <a:r>
              <a:rPr lang="en-US" altLang="zh-CN" dirty="0"/>
              <a:t>Allocation</a:t>
            </a:r>
            <a:endParaRPr lang="en-C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604BEF-E3CC-99F7-1284-8F3DDA1D231E}"/>
              </a:ext>
            </a:extLst>
          </p:cNvPr>
          <p:cNvSpPr/>
          <p:nvPr/>
        </p:nvSpPr>
        <p:spPr>
          <a:xfrm>
            <a:off x="8162956" y="5987142"/>
            <a:ext cx="1215571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Machine</a:t>
            </a:r>
            <a:r>
              <a:rPr lang="zh-CN" altLang="en-US" dirty="0"/>
              <a:t> </a:t>
            </a:r>
            <a:r>
              <a:rPr lang="en-US" altLang="zh-CN" dirty="0"/>
              <a:t>Rel.</a:t>
            </a:r>
            <a:r>
              <a:rPr lang="zh-CN" altLang="en-US" dirty="0"/>
              <a:t> </a:t>
            </a:r>
            <a:r>
              <a:rPr lang="en-US" altLang="zh-CN" dirty="0"/>
              <a:t>Opt.</a:t>
            </a:r>
            <a:endParaRPr lang="en-C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5491A4A-40EE-E91F-28F3-3376865D4B63}"/>
              </a:ext>
            </a:extLst>
          </p:cNvPr>
          <p:cNvCxnSpPr/>
          <p:nvPr/>
        </p:nvCxnSpPr>
        <p:spPr>
          <a:xfrm>
            <a:off x="9500939" y="5646057"/>
            <a:ext cx="0" cy="12119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3BB1A71-6602-97B1-1BA2-571E308E44E1}"/>
              </a:ext>
            </a:extLst>
          </p:cNvPr>
          <p:cNvSpPr/>
          <p:nvPr/>
        </p:nvSpPr>
        <p:spPr>
          <a:xfrm>
            <a:off x="9603788" y="5987142"/>
            <a:ext cx="1282212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Assembler</a:t>
            </a:r>
            <a:endParaRPr lang="en-C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3E5C16-CB9F-7595-3744-BC04FF77280C}"/>
              </a:ext>
            </a:extLst>
          </p:cNvPr>
          <p:cNvSpPr/>
          <p:nvPr/>
        </p:nvSpPr>
        <p:spPr>
          <a:xfrm>
            <a:off x="11008411" y="5987142"/>
            <a:ext cx="935601" cy="50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Link</a:t>
            </a:r>
            <a:r>
              <a:rPr lang="zh-CN" altLang="en-US" dirty="0"/>
              <a:t> </a:t>
            </a:r>
            <a:r>
              <a:rPr lang="en-US" altLang="zh-CN" dirty="0"/>
              <a:t>Lib</a:t>
            </a:r>
            <a:endParaRPr lang="en-C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950FCF-EDE7-BF39-5E19-555543D5F0E1}"/>
              </a:ext>
            </a:extLst>
          </p:cNvPr>
          <p:cNvSpPr txBox="1"/>
          <p:nvPr/>
        </p:nvSpPr>
        <p:spPr>
          <a:xfrm>
            <a:off x="419100" y="1442924"/>
            <a:ext cx="363605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gcc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main.s</a:t>
            </a:r>
            <a:endParaRPr lang="en-US" altLang="zh-CN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</a:p>
          <a:p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a.out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a.out</a:t>
            </a:r>
            <a:endParaRPr lang="en-CN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7909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D5109-EB22-55B9-4D65-D165E3452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OK.</a:t>
            </a:r>
            <a:r>
              <a:rPr lang="zh-CN" altLang="en-US" sz="5400" dirty="0"/>
              <a:t> </a:t>
            </a:r>
            <a:r>
              <a:rPr lang="en-US" altLang="zh-CN" sz="5400" dirty="0"/>
              <a:t>A</a:t>
            </a:r>
            <a:r>
              <a:rPr lang="zh-CN" altLang="en-US" sz="5400" dirty="0"/>
              <a:t> </a:t>
            </a:r>
            <a:r>
              <a:rPr lang="en-US" altLang="zh-CN" sz="5400" dirty="0"/>
              <a:t>non-sense</a:t>
            </a:r>
            <a:r>
              <a:rPr lang="zh-CN" altLang="en-US" sz="5400" dirty="0"/>
              <a:t> </a:t>
            </a:r>
            <a:r>
              <a:rPr lang="en-US" altLang="zh-CN" sz="5400" dirty="0"/>
              <a:t>question.</a:t>
            </a:r>
            <a:endParaRPr lang="en-C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2E76D-F565-31A9-EFF7-04F797D67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is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“entrance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program”?</a:t>
            </a:r>
          </a:p>
          <a:p>
            <a:pPr lvl="1"/>
            <a:r>
              <a:rPr lang="en-US" altLang="zh-CN" sz="3200" strike="sngStrike" dirty="0"/>
              <a:t>main</a:t>
            </a:r>
            <a:r>
              <a:rPr lang="zh-CN" altLang="en-US" sz="3200" dirty="0"/>
              <a:t> </a:t>
            </a:r>
            <a:r>
              <a:rPr lang="en-US" altLang="zh-CN" sz="3200" dirty="0"/>
              <a:t>function</a:t>
            </a:r>
            <a:r>
              <a:rPr lang="zh-CN" altLang="en-US" sz="3200" dirty="0"/>
              <a:t> </a:t>
            </a:r>
            <a:r>
              <a:rPr lang="en-US" altLang="zh-CN" sz="3200" dirty="0"/>
              <a:t>is</a:t>
            </a:r>
            <a:r>
              <a:rPr lang="zh-CN" altLang="en-US" sz="3200" dirty="0"/>
              <a:t> </a:t>
            </a:r>
            <a:r>
              <a:rPr lang="en-US" altLang="zh-CN" sz="3200" dirty="0"/>
              <a:t>NOT</a:t>
            </a:r>
            <a:r>
              <a:rPr lang="zh-CN" altLang="en-US" sz="3200" dirty="0"/>
              <a:t> </a:t>
            </a: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correct</a:t>
            </a:r>
            <a:r>
              <a:rPr lang="zh-CN" altLang="en-US" sz="3200" dirty="0"/>
              <a:t> </a:t>
            </a:r>
            <a:r>
              <a:rPr lang="en-US" altLang="zh-CN" sz="3200" dirty="0"/>
              <a:t>answer</a:t>
            </a:r>
            <a:endParaRPr lang="en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783E9-C172-A95F-23AE-6AC73D8E1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0957-62BF-4542-96BE-69EFFC00C212}" type="slidenum">
              <a:rPr lang="en-CN" smtClean="0"/>
              <a:t>59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150688-7EA4-4111-868E-A72C9B9B19EE}"/>
              </a:ext>
            </a:extLst>
          </p:cNvPr>
          <p:cNvSpPr txBox="1"/>
          <p:nvPr/>
        </p:nvSpPr>
        <p:spPr>
          <a:xfrm>
            <a:off x="1116496" y="3136612"/>
            <a:ext cx="4628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objdump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–d</a:t>
            </a:r>
            <a:r>
              <a:rPr lang="zh-CN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a.out</a:t>
            </a:r>
            <a:endParaRPr lang="en-CN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362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16103</TotalTime>
  <Words>2400</Words>
  <Application>Microsoft Macintosh PowerPoint</Application>
  <PresentationFormat>Widescreen</PresentationFormat>
  <Paragraphs>545</Paragraphs>
  <Slides>59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5" baseType="lpstr">
      <vt:lpstr>Aptos</vt:lpstr>
      <vt:lpstr>Aptos Display</vt:lpstr>
      <vt:lpstr>Arial</vt:lpstr>
      <vt:lpstr>Courier New</vt:lpstr>
      <vt:lpstr>Wingdings</vt:lpstr>
      <vt:lpstr>Office Theme</vt:lpstr>
      <vt:lpstr>An Intro to Computer System</vt:lpstr>
      <vt:lpstr>Resources</vt:lpstr>
      <vt:lpstr>Roadmap</vt:lpstr>
      <vt:lpstr>Characterizing a Programming Lang.</vt:lpstr>
      <vt:lpstr>Programming Language: Programmability</vt:lpstr>
      <vt:lpstr>Performance: Managed &amp; Unmanaged</vt:lpstr>
      <vt:lpstr>Tradeoff: Performance &amp; Flexibility</vt:lpstr>
      <vt:lpstr>Performance &amp; Flexibility: Heavier Runtime</vt:lpstr>
      <vt:lpstr>Managed Runtime (CONT’D)</vt:lpstr>
      <vt:lpstr>Unmanaged Runtime: Demystified</vt:lpstr>
      <vt:lpstr>Unmanaged Runtime</vt:lpstr>
      <vt:lpstr>Unmanaged Runtime: Conclusion</vt:lpstr>
      <vt:lpstr>Syntactical Sugar: Oh! Sweet!</vt:lpstr>
      <vt:lpstr>Syntactical Salt: Do (not) get addicted!</vt:lpstr>
      <vt:lpstr>Syntactical Salt (CONT’D)</vt:lpstr>
      <vt:lpstr>Dynamic/Static Type &amp; Weak/Strong Type are orthogonal!</vt:lpstr>
      <vt:lpstr>Structs</vt:lpstr>
      <vt:lpstr>Summary</vt:lpstr>
      <vt:lpstr>Summary: Compiler</vt:lpstr>
      <vt:lpstr>Roadmap</vt:lpstr>
      <vt:lpstr>LLVM: Compiler Infrastructure</vt:lpstr>
      <vt:lpstr>LLVM: Compiler Infrastructure</vt:lpstr>
      <vt:lpstr>Compiler Pipeline</vt:lpstr>
      <vt:lpstr>Preprocessor</vt:lpstr>
      <vt:lpstr>Tokenizer: Split the program in "words"</vt:lpstr>
      <vt:lpstr>Tokenizer: Regex</vt:lpstr>
      <vt:lpstr>Parser: Organize the tokens</vt:lpstr>
      <vt:lpstr>Tokenizer &amp; Parser: A Demonstration</vt:lpstr>
      <vt:lpstr>Tokenizer &amp; Parser: Implementation</vt:lpstr>
      <vt:lpstr>Why?</vt:lpstr>
      <vt:lpstr>Ad: Rust Variant is a good fit!</vt:lpstr>
      <vt:lpstr>Even worse! My vision is not that far </vt:lpstr>
      <vt:lpstr>A bad “likely”</vt:lpstr>
      <vt:lpstr>Parsers are simpler in modern languages</vt:lpstr>
      <vt:lpstr>Another Historical Legacy: One-pass Compilation</vt:lpstr>
      <vt:lpstr>Compromise: I should scan it multiple times conditionally in C++ era.</vt:lpstr>
      <vt:lpstr>Semantics Check</vt:lpstr>
      <vt:lpstr>Semantics Check (Symbol Table)</vt:lpstr>
      <vt:lpstr>Implementation</vt:lpstr>
      <vt:lpstr>Implementation</vt:lpstr>
      <vt:lpstr>Virtual Function: An invasive solution</vt:lpstr>
      <vt:lpstr>Visitor Pattern is a Visitor</vt:lpstr>
      <vt:lpstr>Visitor Pattern: Passive Voice</vt:lpstr>
      <vt:lpstr>Visitor Pattern: A Low-invasion Alternative</vt:lpstr>
      <vt:lpstr>IR CodeGen</vt:lpstr>
      <vt:lpstr>IR CodeGen</vt:lpstr>
      <vt:lpstr>Intermediate Representation</vt:lpstr>
      <vt:lpstr>Intermediate Representation</vt:lpstr>
      <vt:lpstr>Machine-independent Optimizations</vt:lpstr>
      <vt:lpstr>Analyze first! Modify later.</vt:lpstr>
      <vt:lpstr>Analyze first! Modify later! (CONT’D)</vt:lpstr>
      <vt:lpstr>Machine-independent Optimizations (CONT’D)</vt:lpstr>
      <vt:lpstr>Backend: Target to a specific ISA</vt:lpstr>
      <vt:lpstr>Code Selection (CONT’D)</vt:lpstr>
      <vt:lpstr>Code Selection (CONT’D)</vt:lpstr>
      <vt:lpstr>Wait… What is the key differences b/t IR and ASM?</vt:lpstr>
      <vt:lpstr>Code Select + Register Allocation</vt:lpstr>
      <vt:lpstr>Still, it is far from executable yet…</vt:lpstr>
      <vt:lpstr>OK. A non-sense question.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 Weng</dc:creator>
  <cp:lastModifiedBy>Jian Weng</cp:lastModifiedBy>
  <cp:revision>4</cp:revision>
  <dcterms:created xsi:type="dcterms:W3CDTF">2025-07-02T14:01:02Z</dcterms:created>
  <dcterms:modified xsi:type="dcterms:W3CDTF">2026-02-02T13:46:13Z</dcterms:modified>
</cp:coreProperties>
</file>